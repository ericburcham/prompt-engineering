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73" r:id="rId2"/>
    <p:sldId id="302" r:id="rId3"/>
    <p:sldId id="274" r:id="rId4"/>
    <p:sldId id="260" r:id="rId5"/>
    <p:sldId id="309" r:id="rId6"/>
    <p:sldId id="268" r:id="rId7"/>
    <p:sldId id="270" r:id="rId8"/>
    <p:sldId id="287" r:id="rId9"/>
    <p:sldId id="290" r:id="rId10"/>
    <p:sldId id="289" r:id="rId11"/>
    <p:sldId id="291" r:id="rId12"/>
    <p:sldId id="271" r:id="rId13"/>
    <p:sldId id="310" r:id="rId14"/>
    <p:sldId id="292" r:id="rId15"/>
    <p:sldId id="293" r:id="rId16"/>
    <p:sldId id="300" r:id="rId17"/>
    <p:sldId id="297" r:id="rId18"/>
    <p:sldId id="305" r:id="rId19"/>
    <p:sldId id="2147483490" r:id="rId20"/>
    <p:sldId id="304" r:id="rId21"/>
    <p:sldId id="306" r:id="rId22"/>
    <p:sldId id="307"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79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Name</a:t>
          </a:r>
          <a:r>
            <a:rPr lang="en-US" sz="38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1610903"/>
            <a:satOff val="-4623"/>
            <a:lumOff val="-7402"/>
            <a:alphaOff val="0"/>
          </a:schemeClr>
        </a:solidFill>
        <a:ln w="19050" cap="flat" cmpd="sng" algn="ctr">
          <a:solidFill>
            <a:schemeClr val="accent2">
              <a:hueOff val="1610903"/>
              <a:satOff val="-4623"/>
              <a:lumOff val="-74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Title</a:t>
          </a:r>
          <a:r>
            <a:rPr lang="en-US" sz="38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3221807"/>
            <a:satOff val="-9246"/>
            <a:lumOff val="-14805"/>
            <a:alphaOff val="0"/>
          </a:schemeClr>
        </a:solidFill>
        <a:ln w="19050" cap="flat" cmpd="sng" algn="ctr">
          <a:solidFill>
            <a:schemeClr val="accent2">
              <a:hueOff val="3221807"/>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Email</a:t>
          </a:r>
          <a:r>
            <a:rPr lang="en-US" sz="3800" kern="1200"/>
            <a:t>: </a:t>
          </a:r>
          <a:r>
            <a:rPr lang="en-US" sz="3800" kern="1200">
              <a:hlinkClick xmlns:r="http://schemas.openxmlformats.org/officeDocument/2006/relationships" r:id="rId1"/>
            </a:rPr>
            <a:t>eburcham@eprod.com</a:t>
          </a:r>
          <a:endParaRPr lang="en-US" sz="38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4832710"/>
            <a:satOff val="-13870"/>
            <a:lumOff val="-22207"/>
            <a:alphaOff val="0"/>
          </a:schemeClr>
        </a:solidFill>
        <a:ln w="19050" cap="flat" cmpd="sng" algn="ctr">
          <a:solidFill>
            <a:schemeClr val="accent2">
              <a:hueOff val="4832710"/>
              <a:satOff val="-13870"/>
              <a:lumOff val="-2220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Extension</a:t>
          </a:r>
          <a:r>
            <a:rPr lang="en-US" sz="38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Working Group</a:t>
          </a:r>
          <a:r>
            <a:rPr lang="en-US" sz="38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3B632C-9CA2-4097-8A70-437A65F5C938}" type="datetimeFigureOut">
              <a:rPr lang="en-US" smtClean="0"/>
              <a:t>7/2/2025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661AEF-EE47-41DD-A7DF-1B5AF9AC9E16}" type="slidenum">
              <a:rPr lang="en-US" smtClean="0"/>
              <a:t>‹#›</a:t>
            </a:fld>
            <a:endParaRPr lang="en-US"/>
          </a:p>
        </p:txBody>
      </p:sp>
    </p:spTree>
    <p:extLst>
      <p:ext uri="{BB962C8B-B14F-4D97-AF65-F5344CB8AC3E}">
        <p14:creationId xmlns:p14="http://schemas.microsoft.com/office/powerpoint/2010/main" val="3884777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3</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4</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Acceptable Use Policy</a:t>
            </a:r>
            <a:r>
              <a:rPr lang="en-US" dirty="0"/>
              <a:t> applies to use of Copilot and other GenAI</a:t>
            </a:r>
          </a:p>
          <a:p>
            <a:endParaRPr lang="en-US" b="0" dirty="0"/>
          </a:p>
          <a:p>
            <a:r>
              <a:rPr lang="en-US" b="1" dirty="0"/>
              <a:t>Copilot for web</a:t>
            </a:r>
            <a:r>
              <a:rPr lang="en-US" dirty="0"/>
              <a:t> has been authorized for company use</a:t>
            </a:r>
          </a:p>
          <a:p>
            <a:endParaRPr lang="en-US" b="0" dirty="0"/>
          </a:p>
          <a:p>
            <a:r>
              <a:rPr lang="en-US" b="1" dirty="0"/>
              <a:t>Copilot for Office</a:t>
            </a:r>
            <a:r>
              <a:rPr lang="en-US" dirty="0"/>
              <a:t> is currently being evaluated and use of proofs-of-concept, including for specific Mission: Reliable use cases.</a:t>
            </a:r>
          </a:p>
          <a:p>
            <a:endParaRPr lang="en-US" b="0" dirty="0"/>
          </a:p>
          <a:p>
            <a:r>
              <a:rPr lang="en-US" b="1" dirty="0"/>
              <a:t>Confidential company information</a:t>
            </a:r>
            <a:r>
              <a:rPr lang="en-US" dirty="0"/>
              <a:t> normally should not be uploaded to Copilot.  However, for Mission: Reliable, an exception has been granted to the Mission: Reliable team if the information is not highly sensitive (PII, commercial contracts, credentials, etc.).</a:t>
            </a:r>
          </a:p>
          <a:p>
            <a:endParaRPr lang="en-US" b="0" dirty="0"/>
          </a:p>
          <a:p>
            <a:r>
              <a:rPr lang="en-US" b="1" dirty="0"/>
              <a:t>If you have an additional use case</a:t>
            </a:r>
            <a:r>
              <a:rPr lang="en-US" dirty="0"/>
              <a:t> for Copilot that extends outside of the exception that has been granted or have a need for Copilot for Office (e.g., to use it against a larger set of documents) contact Lavina Fernandes.</a:t>
            </a:r>
          </a:p>
          <a:p>
            <a:endParaRPr lang="en-US" b="0" dirty="0"/>
          </a:p>
          <a:p>
            <a:r>
              <a:rPr lang="en-US" b="1" dirty="0"/>
              <a:t>Use of other cloud-based AI tools</a:t>
            </a:r>
            <a:r>
              <a:rPr lang="en-US" dirty="0"/>
              <a:t> that have not been specifically authorized by IT are not allowed.  You may request use through IT Compliance with a business case that cannot effectively be met with currently authorized cloud tools or other tools in our data center.</a:t>
            </a:r>
          </a:p>
          <a:p>
            <a:endParaRPr lang="en-US" dirty="0"/>
          </a:p>
        </p:txBody>
      </p:sp>
      <p:sp>
        <p:nvSpPr>
          <p:cNvPr id="4" name="Slide Number Placeholder 3"/>
          <p:cNvSpPr>
            <a:spLocks noGrp="1"/>
          </p:cNvSpPr>
          <p:nvPr>
            <p:ph type="sldNum" sz="quarter" idx="5"/>
          </p:nvPr>
        </p:nvSpPr>
        <p:spPr/>
        <p:txBody>
          <a:bodyPr/>
          <a:lstStyle/>
          <a:p>
            <a:fld id="{F6B02985-020E-47D3-B181-4DD5FDED4A56}" type="slidenum">
              <a:rPr lang="en-US" smtClean="0"/>
              <a:t>5</a:t>
            </a:fld>
            <a:endParaRPr lang="en-US" dirty="0"/>
          </a:p>
        </p:txBody>
      </p:sp>
    </p:spTree>
    <p:extLst>
      <p:ext uri="{BB962C8B-B14F-4D97-AF65-F5344CB8AC3E}">
        <p14:creationId xmlns:p14="http://schemas.microsoft.com/office/powerpoint/2010/main" val="15815538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0"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0"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0"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0"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0"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0" dirty="0"/>
          </a:p>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0"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0"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14</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16</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22</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69214-5A14-B772-14B7-63F08B96D64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FB39C95-CB1E-D820-4D51-0549536D424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40B200-7A40-52AE-335B-F23263FD96D9}"/>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518D2384-6C23-7ED6-C60D-BFA8752BE4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3C4531-78D6-1D83-D4AD-7E850C566C49}"/>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075198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C2C7A-014F-8A52-611F-19BDAA17F1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A54973-D461-45FA-CC50-3398F907BA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6C1398-2A4C-21A5-51CB-570ADB45E6F2}"/>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E92F7462-C4B8-F8DF-53B7-B92D679879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1349E-CADA-2B11-EC20-46775964F82F}"/>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3823914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88223-17F7-785E-9D6B-5082FC7DB30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C188503-CE5E-ACEA-8394-100A18190EC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285009B-5D20-979D-22D9-656191D7EF29}"/>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94D99C94-AADF-49F4-725C-858CBF7355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97BF4C-C4F8-F4CF-2115-90FE0E41A69C}"/>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077103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2CC2A-EE91-15C3-DF14-1DF4ABDA657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D4DF0B-1A76-D252-616B-73C449365AA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BC25DD-DFC0-364B-80E8-CC1DB0BF8B9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1D8E63-2717-FC94-6A7F-FF90B4E40D05}"/>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6" name="Footer Placeholder 5">
            <a:extLst>
              <a:ext uri="{FF2B5EF4-FFF2-40B4-BE49-F238E27FC236}">
                <a16:creationId xmlns:a16="http://schemas.microsoft.com/office/drawing/2014/main" id="{D2CD2440-2372-73C2-2D5C-C4A0DDFD2C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31AA38-7A1E-F396-DB72-CBB867857D7B}"/>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2272545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47998-AFC6-4E81-B1B2-4551C6B5FD8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A4AD5B4-5ECB-6486-5EDD-CC05E3CF7E1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B2BFB5-EC89-1C5C-99AC-B60D10178B4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45A8F6E-CAFF-7C97-3A22-660960DB839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44E422A-3F0C-BB82-3935-E22EACBD7C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AF5C5EE-9928-AD5B-05A3-61977E2F5089}"/>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8" name="Footer Placeholder 7">
            <a:extLst>
              <a:ext uri="{FF2B5EF4-FFF2-40B4-BE49-F238E27FC236}">
                <a16:creationId xmlns:a16="http://schemas.microsoft.com/office/drawing/2014/main" id="{B3F72A3A-D6BF-F97E-78EB-3D23B8E2E63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8A8BE97-72CC-A291-FDFD-42B4E232019F}"/>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0287504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F36B7-8131-C6AB-0A95-08DE3C0A888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B5C5F23-E0DF-3A41-638A-99AB3C70634D}"/>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4" name="Footer Placeholder 3">
            <a:extLst>
              <a:ext uri="{FF2B5EF4-FFF2-40B4-BE49-F238E27FC236}">
                <a16:creationId xmlns:a16="http://schemas.microsoft.com/office/drawing/2014/main" id="{4E15D676-9815-5361-67A4-28933C888A2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6C54C1B-D5B7-F0C8-5CCB-0F15A0D9E63F}"/>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894923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F976D2-D871-42F3-6527-93F6077BFAB9}"/>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3" name="Footer Placeholder 2">
            <a:extLst>
              <a:ext uri="{FF2B5EF4-FFF2-40B4-BE49-F238E27FC236}">
                <a16:creationId xmlns:a16="http://schemas.microsoft.com/office/drawing/2014/main" id="{AB04768E-890A-EA39-CC62-93B567031A6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82B3F54-BECC-6482-2024-209B6E6D0589}"/>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2782463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3AA76-B813-8634-116F-A548AD9C174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D90988D-3F62-0908-ADD1-1462532DB4E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964281-BC1E-6DCC-E856-FB1104CC99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40E637-BE29-FCE0-5287-1F303A33DD52}"/>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6" name="Footer Placeholder 5">
            <a:extLst>
              <a:ext uri="{FF2B5EF4-FFF2-40B4-BE49-F238E27FC236}">
                <a16:creationId xmlns:a16="http://schemas.microsoft.com/office/drawing/2014/main" id="{107C0F0A-630D-A63C-C179-955A43BF32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5C3499-E836-3A22-D8B2-02FD8B1B0724}"/>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42524622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250598-950C-E457-84B5-F477666218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E18E9B-7D50-8255-55EB-66C839C151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155349A-CF2F-AC19-82E7-EB164072AA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F858A5-671D-AE96-4455-464EB247BDF4}"/>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6" name="Footer Placeholder 5">
            <a:extLst>
              <a:ext uri="{FF2B5EF4-FFF2-40B4-BE49-F238E27FC236}">
                <a16:creationId xmlns:a16="http://schemas.microsoft.com/office/drawing/2014/main" id="{41A5CD33-8CD1-4F21-973E-4A251E6A7B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D6D473-A289-A351-8E5C-3E3F91DB3E71}"/>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38566339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0D507-2601-5FB6-A5A1-0B5A2CD6DC9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8F8120-FD2C-E232-AC15-68F7E3FCDA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E1A849-32E9-B08D-9126-833FF58E511A}"/>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6EBEC7A8-E7B3-F1DE-7D64-89BA160C88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28E3EB-7C00-AE9C-3F70-F3B1A4B330B9}"/>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3051776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7260D3-4510-45FA-9B13-335693F4DED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FDCBFE2-15E9-6123-9E32-BA36EBCC66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F80677-41C1-894A-7F5A-6790E911538C}"/>
              </a:ext>
            </a:extLst>
          </p:cNvPr>
          <p:cNvSpPr>
            <a:spLocks noGrp="1"/>
          </p:cNvSpPr>
          <p:nvPr>
            <p:ph type="dt" sz="half" idx="10"/>
          </p:nvPr>
        </p:nvSpPr>
        <p:spPr/>
        <p:txBody>
          <a:body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F8E5A144-847E-F052-2A0B-80922C0E2D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B2ED34-7E0C-002C-9F41-64BD9944B915}"/>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7194839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0DA205C-76FB-485B-F0EF-E258A15AAE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7C8FB1B-62A9-51C1-70A3-987B50B819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B971CC-CA2C-88E9-789B-68303E8537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3BF2F5C-75FC-479C-95E6-9FAA359EBE91}" type="datetimeFigureOut">
              <a:rPr lang="en-US" smtClean="0"/>
              <a:t>7/2/2025</a:t>
            </a:fld>
            <a:endParaRPr lang="en-US"/>
          </a:p>
        </p:txBody>
      </p:sp>
      <p:sp>
        <p:nvSpPr>
          <p:cNvPr id="5" name="Footer Placeholder 4">
            <a:extLst>
              <a:ext uri="{FF2B5EF4-FFF2-40B4-BE49-F238E27FC236}">
                <a16:creationId xmlns:a16="http://schemas.microsoft.com/office/drawing/2014/main" id="{79EBF58A-E226-F6C5-88F0-D4F4DECE47D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323329-1860-3255-57D9-2DA70B8851E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927A0E5-4629-40B1-9E2E-31DCA95BD159}" type="slidenum">
              <a:rPr lang="en-US" smtClean="0"/>
              <a:t>‹#›</a:t>
            </a:fld>
            <a:endParaRPr lang="en-US"/>
          </a:p>
        </p:txBody>
      </p:sp>
    </p:spTree>
    <p:extLst>
      <p:ext uri="{BB962C8B-B14F-4D97-AF65-F5344CB8AC3E}">
        <p14:creationId xmlns:p14="http://schemas.microsoft.com/office/powerpoint/2010/main" val="3307299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22.xml.rels><?xml version="1.0" encoding="UTF-8" standalone="yes"?>
<Relationships xmlns="http://schemas.openxmlformats.org/package/2006/relationships"><Relationship Id="rId3" Type="http://schemas.openxmlformats.org/officeDocument/2006/relationships/hyperlink" Target="https://www.coursera.org/specializations/ai-essentials-google"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innopreneur.io/wp-content/uploads/2025/04/22365_3_Prompt-Engineering_v7-1.pdf" TargetMode="External"/><Relationship Id="rId4" Type="http://schemas.openxmlformats.org/officeDocument/2006/relationships/hyperlink" Target="https://www.coursera.org/specializations/prompting-essentials-googl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a:bodyPr>
          <a:lstStyle/>
          <a:p>
            <a:r>
              <a:rPr lang="en-US" dirty="0"/>
              <a:t>Acceptable Use Policy</a:t>
            </a:r>
          </a:p>
          <a:p>
            <a:r>
              <a:rPr lang="en-US" dirty="0"/>
              <a:t>Copilot for web</a:t>
            </a:r>
          </a:p>
          <a:p>
            <a:r>
              <a:rPr lang="en-US" dirty="0"/>
              <a:t>Copilot for Office</a:t>
            </a:r>
          </a:p>
          <a:p>
            <a:r>
              <a:rPr lang="en-US" dirty="0"/>
              <a:t>Confidential company information</a:t>
            </a:r>
          </a:p>
          <a:p>
            <a:r>
              <a:rPr lang="en-US" dirty="0"/>
              <a:t>If you have an additional use case</a:t>
            </a:r>
          </a:p>
          <a:p>
            <a:r>
              <a:rPr lang="en-US" dirty="0"/>
              <a:t>Use of other cloud-based AI tools</a:t>
            </a:r>
          </a:p>
        </p:txBody>
      </p:sp>
    </p:spTree>
    <p:extLst>
      <p:ext uri="{BB962C8B-B14F-4D97-AF65-F5344CB8AC3E}">
        <p14:creationId xmlns:p14="http://schemas.microsoft.com/office/powerpoint/2010/main" val="659222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dirty="0"/>
              <a:t>Copilot Chat (Protected)</a:t>
            </a:r>
          </a:p>
          <a:p>
            <a:pPr marL="0" indent="0">
              <a:buNone/>
            </a:pPr>
            <a:br>
              <a:rPr lang="en-US" sz="2000" i="1" dirty="0"/>
            </a:br>
            <a:r>
              <a:rPr lang="en-US" sz="2000" i="1" dirty="0">
                <a:solidFill>
                  <a:srgbClr val="FF0000"/>
                </a:solidFill>
              </a:rPr>
              <a:t>Summarize the presentation</a:t>
            </a:r>
            <a:r>
              <a:rPr lang="en-US" sz="2000" i="1" dirty="0"/>
              <a:t> about how </a:t>
            </a:r>
            <a:r>
              <a:rPr lang="en-US" sz="2000" b="1" i="1" dirty="0"/>
              <a:t>our new Houston to Redmond pipeline has a bajillion barrel per day capacity</a:t>
            </a:r>
            <a:r>
              <a:rPr lang="en-US" sz="2000" i="1" dirty="0"/>
              <a:t>.</a:t>
            </a:r>
            <a:endParaRPr lang="en-US" sz="2000" b="1" i="1" dirty="0"/>
          </a:p>
          <a:p>
            <a:pPr marL="0" indent="0">
              <a:buNone/>
            </a:pPr>
            <a:endParaRPr lang="en-US" sz="2000" dirty="0"/>
          </a:p>
          <a:p>
            <a:pPr marL="0" indent="0">
              <a:buNone/>
            </a:pPr>
            <a:r>
              <a:rPr lang="en-US" sz="2000" dirty="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dirty="0"/>
              <a:t>Copilot Search (NOT Protected)</a:t>
            </a:r>
          </a:p>
          <a:p>
            <a:pPr marL="0" indent="0">
              <a:buNone/>
            </a:pPr>
            <a:endParaRPr lang="en-US" sz="2000" i="1" dirty="0"/>
          </a:p>
          <a:p>
            <a:pPr marL="0" indent="0">
              <a:buNone/>
            </a:pPr>
            <a:r>
              <a:rPr lang="en-US" sz="2000" i="1" dirty="0">
                <a:solidFill>
                  <a:srgbClr val="FF0000"/>
                </a:solidFill>
              </a:rPr>
              <a:t>Search online</a:t>
            </a:r>
            <a:r>
              <a:rPr lang="en-US" sz="2000" i="1" dirty="0"/>
              <a:t> regulatory requirements for pipelines with capacities like </a:t>
            </a:r>
            <a:r>
              <a:rPr lang="en-US" sz="2000" b="1" i="1" dirty="0"/>
              <a:t>our new Houston to Redmond line, which will handle a bajillion barrels per day.</a:t>
            </a:r>
          </a:p>
          <a:p>
            <a:pPr marL="0" indent="0">
              <a:buNone/>
            </a:pPr>
            <a:endParaRPr lang="en-US" sz="2000" dirty="0"/>
          </a:p>
          <a:p>
            <a:pPr marL="0" indent="0">
              <a:buNone/>
            </a:pPr>
            <a:r>
              <a:rPr lang="en-US" sz="2000" dirty="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historically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a:t>Illusion of Reasoning</a:t>
            </a:r>
          </a:p>
          <a:p>
            <a:pPr marL="0" lvl="1" indent="0">
              <a:buNone/>
            </a:pPr>
            <a:r>
              <a:rPr lang="en-US" sz="1300"/>
              <a:t>LLMs generate responses that seem intelligent but do not reflect true understanding.</a:t>
            </a:r>
          </a:p>
          <a:p>
            <a:pPr marL="0" indent="0">
              <a:spcBef>
                <a:spcPts val="2500"/>
              </a:spcBef>
              <a:buNone/>
            </a:pPr>
            <a:r>
              <a:rPr lang="en-US" sz="1300" b="1"/>
              <a:t>Hallucination with Authority</a:t>
            </a:r>
          </a:p>
          <a:p>
            <a:pPr marL="0" lvl="1" indent="0">
              <a:buNone/>
            </a:pPr>
            <a:r>
              <a:rPr lang="en-US" sz="1300"/>
              <a:t>LLMs can and do present invented facts, citations, and data with confidence.  They do not internally distinguish between accurate and fabricated information.</a:t>
            </a:r>
          </a:p>
          <a:p>
            <a:pPr marL="0" indent="0">
              <a:spcBef>
                <a:spcPts val="2500"/>
              </a:spcBef>
              <a:buNone/>
            </a:pPr>
            <a:r>
              <a:rPr lang="en-US" sz="1300" b="1"/>
              <a:t>Contextual Amnesia</a:t>
            </a:r>
          </a:p>
          <a:p>
            <a:pPr marL="0" lvl="1" indent="0">
              <a:buNone/>
            </a:pPr>
            <a:r>
              <a:rPr lang="en-US" sz="1300"/>
              <a:t>LLMs, with some exceptions, cannot learn from previous conversations.  Limited context windows create “forgetting” mid-conversation.</a:t>
            </a:r>
          </a:p>
          <a:p>
            <a:pPr marL="0" indent="0">
              <a:spcBef>
                <a:spcPts val="2500"/>
              </a:spcBef>
              <a:buNone/>
            </a:pPr>
            <a:r>
              <a:rPr lang="en-US" sz="1300" b="1"/>
              <a:t>Inconsistent Expertise</a:t>
            </a:r>
          </a:p>
          <a:p>
            <a:pPr marL="0" lvl="1" indent="0">
              <a:buNone/>
            </a:pPr>
            <a:r>
              <a:rPr lang="en-US" sz="1300"/>
              <a:t>LLMs sometimes excel at complex tasks while failing hilariously at simple ones.  They also provide different responses to identical questions asked differently.</a:t>
            </a:r>
          </a:p>
          <a:p>
            <a:pPr marL="0" indent="0">
              <a:spcBef>
                <a:spcPts val="2500"/>
              </a:spcBef>
              <a:buNone/>
            </a:pPr>
            <a:r>
              <a:rPr lang="en-US" sz="1300" b="1"/>
              <a:t>The Anthropomorphism Trap</a:t>
            </a:r>
          </a:p>
          <a:p>
            <a:pPr marL="0" lvl="1" indent="0">
              <a:buNone/>
            </a:pPr>
            <a:r>
              <a:rPr lang="en-US" sz="1300"/>
              <a:t>Human-like conversations can trigger emotional attribution.  Users assume intent, feelings, or preferences that don’t exist.</a:t>
            </a:r>
          </a:p>
          <a:p>
            <a:pPr marL="0" indent="0">
              <a:spcBef>
                <a:spcPts val="2500"/>
              </a:spcBef>
              <a:buNone/>
            </a:pPr>
            <a:r>
              <a:rPr lang="en-US" sz="1300" b="1"/>
              <a:t>Probabilistic vs. Deterministic Thinking</a:t>
            </a:r>
          </a:p>
          <a:p>
            <a:pPr marL="0" lvl="1" indent="0">
              <a:buNone/>
            </a:pPr>
            <a:r>
              <a:rPr lang="en-US" sz="130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dirty="0"/>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b="1" dirty="0">
                <a:solidFill>
                  <a:schemeClr val="bg1"/>
                </a:solidFill>
              </a:rPr>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77228-F958-85C3-C787-ECD00C5BED04}"/>
              </a:ext>
            </a:extLst>
          </p:cNvPr>
          <p:cNvSpPr>
            <a:spLocks noGrp="1"/>
          </p:cNvSpPr>
          <p:nvPr>
            <p:ph type="sldNum" sz="quarter" idx="12"/>
          </p:nvPr>
        </p:nvSpPr>
        <p:spPr/>
        <p:txBody>
          <a:bodyPr/>
          <a:lstStyle/>
          <a:p>
            <a:fld id="{B5B66294-3844-4161-BC8D-0F705A389710}" type="slidenum">
              <a:rPr lang="en-US" smtClean="0"/>
              <a:t>19</a:t>
            </a:fld>
            <a:endParaRPr lang="en-US"/>
          </a:p>
        </p:txBody>
      </p:sp>
      <p:pic>
        <p:nvPicPr>
          <p:cNvPr id="2050" name="Picture 2">
            <a:extLst>
              <a:ext uri="{FF2B5EF4-FFF2-40B4-BE49-F238E27FC236}">
                <a16:creationId xmlns:a16="http://schemas.microsoft.com/office/drawing/2014/main" id="{FEB69EE1-F25C-E72C-DC64-A0DB409B9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195" y="-1875"/>
            <a:ext cx="10697610" cy="6861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761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normAutofit fontScale="92500"/>
          </a:bodyPr>
          <a:lstStyle/>
          <a:p>
            <a:pPr marL="0" indent="0">
              <a:buNone/>
            </a:pPr>
            <a:r>
              <a:rPr lang="en-US" b="1" dirty="0"/>
              <a:t>Google AI Essentials</a:t>
            </a:r>
          </a:p>
          <a:p>
            <a:pPr marL="0" indent="0">
              <a:buNone/>
            </a:pPr>
            <a:r>
              <a:rPr lang="en-US" dirty="0">
                <a:hlinkClick r:id="rId3"/>
              </a:rPr>
              <a:t>https://www.coursera.org/specializations/ai-essentials-google</a:t>
            </a:r>
            <a:endParaRPr lang="en-US" dirty="0"/>
          </a:p>
          <a:p>
            <a:pPr marL="0" indent="0">
              <a:buNone/>
            </a:pPr>
            <a:endParaRPr lang="en-US" dirty="0"/>
          </a:p>
          <a:p>
            <a:pPr marL="0" indent="0">
              <a:buNone/>
            </a:pPr>
            <a:r>
              <a:rPr lang="en-US" b="1" dirty="0"/>
              <a:t>Google Prompting Essentials</a:t>
            </a:r>
          </a:p>
          <a:p>
            <a:pPr marL="0" indent="0">
              <a:buNone/>
            </a:pPr>
            <a:r>
              <a:rPr lang="en-US" dirty="0">
                <a:hlinkClick r:id="rId4"/>
              </a:rPr>
              <a:t>https://www.coursera.org/specializations/prompting-essentials-google</a:t>
            </a:r>
            <a:endParaRPr lang="en-US" dirty="0"/>
          </a:p>
          <a:p>
            <a:pPr marL="0" indent="0">
              <a:buNone/>
            </a:pPr>
            <a:endParaRPr lang="en-US" dirty="0"/>
          </a:p>
          <a:p>
            <a:pPr marL="0" indent="0">
              <a:buNone/>
            </a:pPr>
            <a:r>
              <a:rPr lang="en-US" b="1" dirty="0"/>
              <a:t>Prompt Engineering by Lee </a:t>
            </a:r>
            <a:r>
              <a:rPr lang="en-US" b="1" dirty="0" err="1"/>
              <a:t>Boonstra</a:t>
            </a:r>
            <a:endParaRPr lang="en-US" dirty="0"/>
          </a:p>
          <a:p>
            <a:pPr marL="0" indent="0">
              <a:buNone/>
            </a:pPr>
            <a:r>
              <a:rPr lang="en-US" u="sng" dirty="0">
                <a:hlinkClick r:id="rId5"/>
              </a:rPr>
              <a:t>https://www.innopreneur.io/wp-content/uploads/2025/04/22365_3_Prompt-Engineering_v7-1.pdf</a:t>
            </a:r>
            <a:endParaRPr lang="en-US" dirty="0"/>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3048</Words>
  <Application>Microsoft Office PowerPoint</Application>
  <PresentationFormat>Widescreen</PresentationFormat>
  <Paragraphs>403</Paragraphs>
  <Slides>22</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Aptos</vt:lpstr>
      <vt:lpstr>Aptos Display</vt:lpstr>
      <vt:lpstr>Arial</vt:lpstr>
      <vt:lpstr>Office Theme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PowerPoint Presentation</vt:lpstr>
      <vt:lpstr>Advanced Gen AI Prompting Techniques</vt:lpstr>
      <vt:lpstr>Creating Copilot Agents</vt:lpstr>
      <vt:lpstr>Resources</vt:lpstr>
    </vt:vector>
  </TitlesOfParts>
  <Company>Enterprise Products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Burcham, Eric</dc:creator>
  <cp:lastModifiedBy>Burcham, Eric</cp:lastModifiedBy>
  <cp:revision>3</cp:revision>
  <dcterms:created xsi:type="dcterms:W3CDTF">2025-07-02T14:02:29Z</dcterms:created>
  <dcterms:modified xsi:type="dcterms:W3CDTF">2025-07-02T14:13:41Z</dcterms:modified>
</cp:coreProperties>
</file>