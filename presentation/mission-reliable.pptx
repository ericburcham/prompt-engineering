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mp3" ContentType="audio/m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4"/>
  </p:notesMasterIdLst>
  <p:handoutMasterIdLst>
    <p:handoutMasterId r:id="rId35"/>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2147483490" r:id="rId28"/>
    <p:sldId id="304" r:id="rId29"/>
    <p:sldId id="306" r:id="rId30"/>
    <p:sldId id="308" r:id="rId31"/>
    <p:sldId id="307" r:id="rId32"/>
    <p:sldId id="2147480815" r:id="rId33"/>
  </p:sldIdLst>
  <p:sldSz cx="12192000" cy="6858000"/>
  <p:notesSz cx="7010400" cy="9296400"/>
  <p:custDataLst>
    <p:tags r:id="rId3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09" autoAdjust="0"/>
    <p:restoredTop sz="86258" autoAdjust="0"/>
  </p:normalViewPr>
  <p:slideViewPr>
    <p:cSldViewPr snapToGrid="0">
      <p:cViewPr varScale="1">
        <p:scale>
          <a:sx n="109" d="100"/>
          <a:sy n="109" d="100"/>
        </p:scale>
        <p:origin x="78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heme" Target="theme/theme1.xml"/><Relationship Id="rId21" Type="http://schemas.openxmlformats.org/officeDocument/2006/relationships/slide" Target="slides/slide15.xml"/><Relationship Id="rId34" Type="http://schemas.openxmlformats.org/officeDocument/2006/relationships/notesMaster" Target="notesMasters/notesMaster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tags" Target="tags/tag1.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handoutMaster" Target="handoutMasters/handoutMaster1.xml"/><Relationship Id="rId8" Type="http://schemas.openxmlformats.org/officeDocument/2006/relationships/slide" Target="slides/slide2.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viewProps" Target="viewProps.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dirty="0"/>
            <a:t>R</a:t>
          </a:r>
          <a:r>
            <a:rPr lang="en-US" dirty="0"/>
            <a:t>epair </a:t>
          </a:r>
          <a:r>
            <a:rPr lang="en-US" b="1" i="1" dirty="0"/>
            <a:t>S</a:t>
          </a:r>
          <a:r>
            <a:rPr lang="en-US" dirty="0"/>
            <a:t>omething </a:t>
          </a:r>
          <a:r>
            <a:rPr lang="en-US" b="1" i="1" dirty="0"/>
            <a:t>T</a:t>
          </a:r>
          <a:r>
            <a:rPr lang="en-US" dirty="0"/>
            <a:t>hrough </a:t>
          </a:r>
          <a:r>
            <a:rPr lang="en-US" b="1" i="1" dirty="0"/>
            <a:t>I</a:t>
          </a:r>
          <a:r>
            <a:rPr lang="en-US" dirty="0"/>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dirty="0"/>
            <a:t>R</a:t>
          </a:r>
          <a:r>
            <a:rPr lang="en-US" sz="2000" kern="1200" dirty="0"/>
            <a:t>epair </a:t>
          </a:r>
          <a:r>
            <a:rPr lang="en-US" sz="2000" b="1" i="1" kern="1200" dirty="0"/>
            <a:t>S</a:t>
          </a:r>
          <a:r>
            <a:rPr lang="en-US" sz="2000" kern="1200" dirty="0"/>
            <a:t>omething </a:t>
          </a:r>
          <a:r>
            <a:rPr lang="en-US" sz="2000" b="1" i="1" kern="1200" dirty="0"/>
            <a:t>T</a:t>
          </a:r>
          <a:r>
            <a:rPr lang="en-US" sz="2000" kern="1200" dirty="0"/>
            <a:t>hrough </a:t>
          </a:r>
          <a:r>
            <a:rPr lang="en-US" sz="2000" b="1" i="1" kern="1200" dirty="0"/>
            <a:t>I</a:t>
          </a:r>
          <a:r>
            <a:rPr lang="en-US" sz="2000" kern="1200" dirty="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8</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0"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0"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0"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0"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0"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0" dirty="0"/>
          </a:p>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0"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0"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i="1" dirty="0"/>
          </a:p>
          <a:p>
            <a:r>
              <a:rPr lang="en-US" b="1" i="1" dirty="0"/>
              <a:t>Mnemonic: RSTI</a:t>
            </a:r>
            <a:endParaRPr lang="en-US" i="1" dirty="0"/>
          </a:p>
          <a:p>
            <a:pPr marL="171450" indent="-171450">
              <a:buFont typeface="Arial" panose="020B0604020202020204" pitchFamily="34" charset="0"/>
              <a:buChar char="•"/>
            </a:pPr>
            <a:r>
              <a:rPr lang="en-US" i="1" dirty="0"/>
              <a:t>Memory device for iteration process</a:t>
            </a:r>
          </a:p>
          <a:p>
            <a:pPr marL="171450" indent="-171450">
              <a:buFont typeface="Arial" panose="020B0604020202020204" pitchFamily="34" charset="0"/>
              <a:buChar char="•"/>
            </a:pPr>
            <a:r>
              <a:rPr lang="en-US" i="1" dirty="0"/>
              <a:t>Emphasize: iteration = normal part of prompting</a:t>
            </a:r>
          </a:p>
          <a:p>
            <a:pPr marL="171450" indent="-171450">
              <a:buFont typeface="Arial" panose="020B0604020202020204" pitchFamily="34" charset="0"/>
              <a:buChar char="•"/>
            </a:pPr>
            <a:r>
              <a:rPr lang="en-US" i="1"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24</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26</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16.png"/><Relationship Id="rId4" Type="http://schemas.openxmlformats.org/officeDocument/2006/relationships/image" Target="../media/image15.png"/></Relationships>
</file>

<file path=ppt/slides/_rels/slide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28.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3" Type="http://schemas.openxmlformats.org/officeDocument/2006/relationships/hyperlink" Target="https://www.coursera.org/specializations/ai-essentials-google"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 Id="rId5" Type="http://schemas.openxmlformats.org/officeDocument/2006/relationships/hyperlink" Target="https://www.innopreneur.io/wp-content/uploads/2025/04/22365_3_Prompt-Engineering_v7-1.pdf" TargetMode="External"/><Relationship Id="rId4" Type="http://schemas.openxmlformats.org/officeDocument/2006/relationships/hyperlink" Target="https://www.coursera.org/specializations/prompting-essentials-google"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pic>
        <p:nvPicPr>
          <p:cNvPr id="2" name="mission-impossible-theme">
            <a:hlinkClick r:id="" action="ppaction://media"/>
            <a:extLst>
              <a:ext uri="{FF2B5EF4-FFF2-40B4-BE49-F238E27FC236}">
                <a16:creationId xmlns:a16="http://schemas.microsoft.com/office/drawing/2014/main" id="{C87E1EAF-645D-84BA-C3CE-6E5D15139140}"/>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5791200" y="3124200"/>
            <a:ext cx="609600" cy="609600"/>
          </a:xfrm>
          <a:prstGeom prst="rect">
            <a:avLst/>
          </a:prstGeom>
        </p:spPr>
      </p:pic>
    </p:spTree>
    <p:extLst>
      <p:ext uri="{BB962C8B-B14F-4D97-AF65-F5344CB8AC3E}">
        <p14:creationId xmlns:p14="http://schemas.microsoft.com/office/powerpoint/2010/main" val="2330209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07864"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2"/>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Summer is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p>
          <a:p>
            <a:pPr marL="0" indent="0">
              <a:buNone/>
            </a:pP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dirty="0"/>
              <a:t>Copilot Chat (Protected)</a:t>
            </a:r>
          </a:p>
          <a:p>
            <a:pPr marL="0" indent="0">
              <a:buNone/>
            </a:pPr>
            <a:br>
              <a:rPr lang="en-US" sz="2000" i="1" dirty="0"/>
            </a:br>
            <a:r>
              <a:rPr lang="en-US" sz="2000" i="1" dirty="0">
                <a:solidFill>
                  <a:srgbClr val="FF0000"/>
                </a:solidFill>
              </a:rPr>
              <a:t>Summarize the presentation</a:t>
            </a:r>
            <a:r>
              <a:rPr lang="en-US" sz="2000" i="1" dirty="0"/>
              <a:t> about how </a:t>
            </a:r>
            <a:r>
              <a:rPr lang="en-US" sz="2000" b="1" i="1" dirty="0"/>
              <a:t>our new Houston to Redmond pipeline has a bajillion barrel per day capacity</a:t>
            </a:r>
            <a:r>
              <a:rPr lang="en-US" sz="2000" i="1" dirty="0"/>
              <a:t>.</a:t>
            </a:r>
            <a:endParaRPr lang="en-US" sz="2000" b="1" i="1" dirty="0"/>
          </a:p>
          <a:p>
            <a:pPr marL="0" indent="0">
              <a:buNone/>
            </a:pPr>
            <a:endParaRPr lang="en-US" sz="2000" dirty="0"/>
          </a:p>
          <a:p>
            <a:pPr marL="0" indent="0">
              <a:buNone/>
            </a:pPr>
            <a:r>
              <a:rPr lang="en-US" sz="2000" dirty="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dirty="0"/>
              <a:t>Copilot Search (NOT Protected)</a:t>
            </a:r>
          </a:p>
          <a:p>
            <a:pPr marL="0" indent="0">
              <a:buNone/>
            </a:pPr>
            <a:endParaRPr lang="en-US" sz="2000" i="1" dirty="0"/>
          </a:p>
          <a:p>
            <a:pPr marL="0" indent="0">
              <a:buNone/>
            </a:pPr>
            <a:r>
              <a:rPr lang="en-US" sz="2000" i="1" dirty="0">
                <a:solidFill>
                  <a:srgbClr val="FF0000"/>
                </a:solidFill>
              </a:rPr>
              <a:t>Search online</a:t>
            </a:r>
            <a:r>
              <a:rPr lang="en-US" sz="2000" i="1" dirty="0"/>
              <a:t> regulatory requirements for pipelines with capacities like </a:t>
            </a:r>
            <a:r>
              <a:rPr lang="en-US" sz="2000" b="1" i="1" dirty="0"/>
              <a:t>our new Houston to Redmond line, which will handle a bajillion barrels per day.</a:t>
            </a:r>
          </a:p>
          <a:p>
            <a:pPr marL="0" indent="0">
              <a:buNone/>
            </a:pPr>
            <a:endParaRPr lang="en-US" sz="2000" dirty="0"/>
          </a:p>
          <a:p>
            <a:pPr marL="0" indent="0">
              <a:buNone/>
            </a:pPr>
            <a:r>
              <a:rPr lang="en-US" sz="2000" dirty="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historically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dirty="0"/>
              <a:t>Illusion of Reasoning</a:t>
            </a:r>
          </a:p>
          <a:p>
            <a:pPr marL="0" lvl="1" indent="0">
              <a:buNone/>
            </a:pPr>
            <a:r>
              <a:rPr lang="en-US" sz="1300" dirty="0"/>
              <a:t>LLMs generate responses that seem intelligent but do not reflect true understanding.</a:t>
            </a:r>
          </a:p>
          <a:p>
            <a:pPr marL="0" indent="0">
              <a:spcBef>
                <a:spcPts val="2500"/>
              </a:spcBef>
              <a:buNone/>
            </a:pPr>
            <a:r>
              <a:rPr lang="en-US" sz="1300" b="1" dirty="0"/>
              <a:t>Hallucination with Authority</a:t>
            </a:r>
          </a:p>
          <a:p>
            <a:pPr marL="0" lvl="1" indent="0">
              <a:buNone/>
            </a:pPr>
            <a:r>
              <a:rPr lang="en-US" sz="1300" dirty="0"/>
              <a:t>LLMs can and do present invented facts, citations, and data with confidence.  They do not internally distinguish between accurate and fabricated information.</a:t>
            </a:r>
          </a:p>
          <a:p>
            <a:pPr marL="0" indent="0">
              <a:spcBef>
                <a:spcPts val="2500"/>
              </a:spcBef>
              <a:buNone/>
            </a:pPr>
            <a:r>
              <a:rPr lang="en-US" sz="1300" b="1" dirty="0"/>
              <a:t>Contextual Amnesia</a:t>
            </a:r>
          </a:p>
          <a:p>
            <a:pPr marL="0" lvl="1" indent="0">
              <a:buNone/>
            </a:pPr>
            <a:r>
              <a:rPr lang="en-US" sz="1300" dirty="0"/>
              <a:t>LLMs, with some exceptions, cannot learn from previous conversations.  Limited context windows create “forgetting” mid-conversation.</a:t>
            </a:r>
          </a:p>
          <a:p>
            <a:pPr marL="0" indent="0">
              <a:spcBef>
                <a:spcPts val="2500"/>
              </a:spcBef>
              <a:buNone/>
            </a:pPr>
            <a:r>
              <a:rPr lang="en-US" sz="1300" b="1" dirty="0"/>
              <a:t>Inconsistent Expertise</a:t>
            </a:r>
          </a:p>
          <a:p>
            <a:pPr marL="0" lvl="1" indent="0">
              <a:buNone/>
            </a:pPr>
            <a:r>
              <a:rPr lang="en-US" sz="1300" dirty="0"/>
              <a:t>LLMs sometimes excel at complex tasks while failing hilariously at simple ones.  They also provide different responses to identical questions asked differently.</a:t>
            </a:r>
          </a:p>
          <a:p>
            <a:pPr marL="0" indent="0">
              <a:spcBef>
                <a:spcPts val="2500"/>
              </a:spcBef>
              <a:buNone/>
            </a:pPr>
            <a:r>
              <a:rPr lang="en-US" sz="1300" b="1" dirty="0"/>
              <a:t>The Anthropomorphism Trap</a:t>
            </a:r>
          </a:p>
          <a:p>
            <a:pPr marL="0" lvl="1" indent="0">
              <a:buNone/>
            </a:pPr>
            <a:r>
              <a:rPr lang="en-US" sz="1300" dirty="0"/>
              <a:t>Human-like conversations can trigger emotional attribution.  Users assume intent, feelings, or preferences that don’t exist.</a:t>
            </a:r>
          </a:p>
          <a:p>
            <a:pPr marL="0" indent="0">
              <a:spcBef>
                <a:spcPts val="2500"/>
              </a:spcBef>
              <a:buNone/>
            </a:pPr>
            <a:r>
              <a:rPr lang="en-US" sz="1300" b="1" dirty="0"/>
              <a:t>Probabilistic vs. Deterministic Thinking</a:t>
            </a:r>
          </a:p>
          <a:p>
            <a:pPr marL="0" lvl="1" indent="0">
              <a:buNone/>
            </a:pPr>
            <a:r>
              <a:rPr lang="en-US" sz="1300" dirty="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dirty="0"/>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b="1" dirty="0">
                <a:solidFill>
                  <a:schemeClr val="bg1"/>
                </a:solidFill>
              </a:rPr>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FD77228-F958-85C3-C787-ECD00C5BED04}"/>
              </a:ext>
            </a:extLst>
          </p:cNvPr>
          <p:cNvSpPr>
            <a:spLocks noGrp="1"/>
          </p:cNvSpPr>
          <p:nvPr>
            <p:ph type="sldNum" sz="quarter" idx="12"/>
          </p:nvPr>
        </p:nvSpPr>
        <p:spPr/>
        <p:txBody>
          <a:bodyPr/>
          <a:lstStyle/>
          <a:p>
            <a:fld id="{B5B66294-3844-4161-BC8D-0F705A389710}" type="slidenum">
              <a:rPr lang="en-US" smtClean="0"/>
              <a:t>22</a:t>
            </a:fld>
            <a:endParaRPr lang="en-US"/>
          </a:p>
        </p:txBody>
      </p:sp>
      <p:pic>
        <p:nvPicPr>
          <p:cNvPr id="2050" name="Picture 2">
            <a:extLst>
              <a:ext uri="{FF2B5EF4-FFF2-40B4-BE49-F238E27FC236}">
                <a16:creationId xmlns:a16="http://schemas.microsoft.com/office/drawing/2014/main" id="{FEB69EE1-F25C-E72C-DC64-A0DB409B9BE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7195" y="-1875"/>
            <a:ext cx="10697610" cy="6861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577617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From Cloud-Aware to Cloud-Smart</a:t>
            </a:r>
          </a:p>
          <a:p>
            <a:pPr marL="0" indent="0">
              <a:buNone/>
            </a:pPr>
            <a:r>
              <a:rPr lang="en-US" dirty="0">
                <a:latin typeface="Cambria" panose="02040503050406030204" pitchFamily="18" charset="0"/>
                <a:ea typeface="Cambria" panose="02040503050406030204" pitchFamily="18" charset="0"/>
              </a:rPr>
              <a:t>~200 applications in the cloud</a:t>
            </a:r>
            <a:endParaRPr lang="en-US" sz="2800" dirty="0">
              <a:latin typeface="Cambria" panose="02040503050406030204" pitchFamily="18" charset="0"/>
              <a:ea typeface="Cambria" panose="02040503050406030204" pitchFamily="18" charset="0"/>
            </a:endParaRPr>
          </a:p>
          <a:p>
            <a:pPr marL="0" indent="0">
              <a:buNone/>
            </a:pPr>
            <a:endParaRPr lang="en-US" sz="2800" b="1" u="sng" dirty="0">
              <a:latin typeface="Cambria" panose="02040503050406030204" pitchFamily="18" charset="0"/>
              <a:ea typeface="Cambria" panose="02040503050406030204" pitchFamily="18" charset="0"/>
            </a:endParaRPr>
          </a:p>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normAutofit lnSpcReduction="10000"/>
          </a:bodyPr>
          <a:lstStyle/>
          <a:p>
            <a:pPr marL="0" indent="0">
              <a:buNone/>
            </a:pPr>
            <a:r>
              <a:rPr lang="en-US" b="1" dirty="0"/>
              <a:t>Google AI Essentials</a:t>
            </a:r>
          </a:p>
          <a:p>
            <a:pPr marL="0" indent="0">
              <a:buNone/>
            </a:pPr>
            <a:r>
              <a:rPr lang="en-US" dirty="0">
                <a:hlinkClick r:id="rId3"/>
              </a:rPr>
              <a:t>https://www.coursera.org/specializations/ai-essentials-google</a:t>
            </a:r>
            <a:endParaRPr lang="en-US" dirty="0"/>
          </a:p>
          <a:p>
            <a:pPr marL="0" indent="0">
              <a:buNone/>
            </a:pPr>
            <a:endParaRPr lang="en-US" dirty="0"/>
          </a:p>
          <a:p>
            <a:pPr marL="0" indent="0">
              <a:buNone/>
            </a:pPr>
            <a:r>
              <a:rPr lang="en-US" b="1" dirty="0"/>
              <a:t>Google Prompting Essentials</a:t>
            </a:r>
          </a:p>
          <a:p>
            <a:pPr marL="0" indent="0">
              <a:buNone/>
            </a:pPr>
            <a:r>
              <a:rPr lang="en-US" dirty="0">
                <a:hlinkClick r:id="rId4"/>
              </a:rPr>
              <a:t>https://www.coursera.org/specializations/prompting-essentials-google</a:t>
            </a:r>
            <a:endParaRPr lang="en-US" dirty="0"/>
          </a:p>
          <a:p>
            <a:pPr marL="0" indent="0">
              <a:buNone/>
            </a:pPr>
            <a:endParaRPr lang="en-US" dirty="0"/>
          </a:p>
          <a:p>
            <a:pPr marL="0" indent="0">
              <a:buNone/>
            </a:pPr>
            <a:r>
              <a:rPr lang="en-US" b="1" dirty="0"/>
              <a:t>Prompt Engineering by Lee </a:t>
            </a:r>
            <a:r>
              <a:rPr lang="en-US" b="1" dirty="0" err="1"/>
              <a:t>Boonstra</a:t>
            </a:r>
            <a:endParaRPr lang="en-US" dirty="0"/>
          </a:p>
          <a:p>
            <a:pPr marL="0" indent="0">
              <a:buNone/>
            </a:pPr>
            <a:r>
              <a:rPr lang="en-US" u="sng" dirty="0">
                <a:hlinkClick r:id="rId5"/>
              </a:rPr>
              <a:t>https://www.innopreneur.io/wp-content/uploads/2025/04/22365_3_Prompt-Engineering_v7-1.pdf</a:t>
            </a:r>
            <a:endParaRPr lang="en-US" dirty="0"/>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fade">
                                      <p:cBhvr>
                                        <p:cTn id="17" dur="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4" end="4"/>
                                            </p:txEl>
                                          </p:spTgt>
                                        </p:tgtEl>
                                        <p:attrNameLst>
                                          <p:attrName>style.visibility</p:attrName>
                                        </p:attrNameLst>
                                      </p:cBhvr>
                                      <p:to>
                                        <p:strVal val="visible"/>
                                      </p:to>
                                    </p:set>
                                    <p:animEffect transition="in" filter="fade">
                                      <p:cBhvr>
                                        <p:cTn id="22" dur="500"/>
                                        <p:tgtEl>
                                          <p:spTgt spid="3">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7" end="7"/>
                                            </p:txEl>
                                          </p:spTgt>
                                        </p:tgtEl>
                                        <p:attrNameLst>
                                          <p:attrName>style.visibility</p:attrName>
                                        </p:attrNameLst>
                                      </p:cBhvr>
                                      <p:to>
                                        <p:strVal val="visible"/>
                                      </p:to>
                                    </p:set>
                                    <p:animEffect transition="in" filter="fade">
                                      <p:cBhvr>
                                        <p:cTn id="3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27</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3.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4.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2054177-35F8-49F6-A133-7A650152C0D3}">
  <ds:schemaRefs>
    <ds:schemaRef ds:uri="http://schemas.microsoft.com/sharepoint/v3/contenttype/forms"/>
  </ds:schemaRefs>
</ds:datastoreItem>
</file>

<file path=customXml/itemProps2.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3.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4.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4009</TotalTime>
  <Words>3500</Words>
  <Application>Microsoft Office PowerPoint</Application>
  <PresentationFormat>Widescreen</PresentationFormat>
  <Paragraphs>443</Paragraphs>
  <Slides>27</Slides>
  <Notes>18</Notes>
  <HiddenSlides>0</HiddenSlides>
  <MMClips>1</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27</vt:i4>
      </vt:variant>
    </vt:vector>
  </HeadingPairs>
  <TitlesOfParts>
    <vt:vector size="37"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PowerPoint Presentation</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133</cp:revision>
  <cp:lastPrinted>2025-06-24T22:19:16Z</cp:lastPrinted>
  <dcterms:created xsi:type="dcterms:W3CDTF">2024-11-11T22:38:41Z</dcterms:created>
  <dcterms:modified xsi:type="dcterms:W3CDTF">2025-07-02T18:03:29Z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