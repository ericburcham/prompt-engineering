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5"/>
    <p:sldMasterId id="2147483725" r:id="rId6"/>
  </p:sldMasterIdLst>
  <p:notesMasterIdLst>
    <p:notesMasterId r:id="rId33"/>
  </p:notesMasterIdLst>
  <p:handoutMasterIdLst>
    <p:handoutMasterId r:id="rId34"/>
  </p:handoutMasterIdLst>
  <p:sldIdLst>
    <p:sldId id="2147483489" r:id="rId7"/>
    <p:sldId id="261" r:id="rId8"/>
    <p:sldId id="257" r:id="rId9"/>
    <p:sldId id="273" r:id="rId10"/>
    <p:sldId id="302" r:id="rId11"/>
    <p:sldId id="274" r:id="rId12"/>
    <p:sldId id="260" r:id="rId13"/>
    <p:sldId id="309" r:id="rId14"/>
    <p:sldId id="268" r:id="rId15"/>
    <p:sldId id="270" r:id="rId16"/>
    <p:sldId id="287" r:id="rId17"/>
    <p:sldId id="290" r:id="rId18"/>
    <p:sldId id="289" r:id="rId19"/>
    <p:sldId id="291" r:id="rId20"/>
    <p:sldId id="271" r:id="rId21"/>
    <p:sldId id="310" r:id="rId22"/>
    <p:sldId id="292" r:id="rId23"/>
    <p:sldId id="293" r:id="rId24"/>
    <p:sldId id="300" r:id="rId25"/>
    <p:sldId id="297" r:id="rId26"/>
    <p:sldId id="305" r:id="rId27"/>
    <p:sldId id="304" r:id="rId28"/>
    <p:sldId id="306" r:id="rId29"/>
    <p:sldId id="308" r:id="rId30"/>
    <p:sldId id="307" r:id="rId31"/>
    <p:sldId id="2147480815" r:id="rId32"/>
  </p:sldIdLst>
  <p:sldSz cx="12192000" cy="6858000"/>
  <p:notesSz cx="7010400" cy="92964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95EFD30-9097-580B-0BB6-C1A2237F5433}" name="Madhu Rajappa (US)" initials="M(" userId="S::madhu.rajappa@pwc.com::4a645107-34b4-4157-bb33-9513e3b905da" providerId="AD"/>
  <p188:author id="{74A1513E-4B6F-2635-13CF-EA46CA9C4BEA}" name="Prabhushankar Rajagopal (US)" initials="P(" userId="S::prabhushankar.rajagopal@pwc.com::5fe7e793-2cf7-4fe5-be76-e06d1260dded" providerId="AD"/>
  <p188:author id="{0FEF3F63-E787-6DA4-E52D-7816B6496A54}" name="Vinodh Ramireddy (US)" initials="" userId="S::vinodh.ramireddy@pwc.com::19156202-8e36-45e6-af74-2e1d31951f04" providerId="AD"/>
  <p188:author id="{9FBEB888-21B3-F529-93DA-0D51E43426EB}" name="Naiser, Clay" initials="CN" userId="S::CHNaiser@eprod.com::ac03346f-2906-4ca6-bbe1-d4bc0a1cb3bb" providerId="AD"/>
  <p188:author id="{D118C08D-4A61-C9B6-DCC1-A18953FF6640}" name="Alexander Thornton (US)" initials="" userId="S::alexander.v.thornton@pwc.com::3ac64bd3-72b4-4647-98ae-e3dad1853fca" providerId="AD"/>
  <p188:author id="{C7CE73DD-0325-AD0C-F525-61CE02FC87FB}" name="Ashwini M (AC India)" initials="AM" userId="S::ashwini.b.m@pwc.com::3696432a-f7d7-4a0d-a956-10917c4c160e" providerId="AD"/>
  <p188:author id="{C0AE01FA-0CD7-9A56-3A88-F2286295BB8A}" name="Eugene Grib (US)" initials="E(" userId="S::eugene.grib@pwc.com::13aaedb3-c9a5-47a4-82d8-71d479914f7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FB8F"/>
    <a:srgbClr val="ACFCAA"/>
    <a:srgbClr val="FF7C80"/>
    <a:srgbClr val="12517C"/>
    <a:srgbClr val="F2DC99"/>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1668" autoAdjust="0"/>
  </p:normalViewPr>
  <p:slideViewPr>
    <p:cSldViewPr snapToGrid="0">
      <p:cViewPr varScale="1">
        <p:scale>
          <a:sx n="183" d="100"/>
          <a:sy n="183" d="100"/>
        </p:scale>
        <p:origin x="2796"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bleStyles" Target="tableStyles.xml"/><Relationship Id="rId21" Type="http://schemas.openxmlformats.org/officeDocument/2006/relationships/slide" Target="slides/slide15.xml"/><Relationship Id="rId34" Type="http://schemas.openxmlformats.org/officeDocument/2006/relationships/handoutMaster" Target="handoutMasters/handout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Master" Target="slideMasters/slideMaster1.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ags" Target="tags/tag1.xml"/><Relationship Id="rId8" Type="http://schemas.openxmlformats.org/officeDocument/2006/relationships/slide" Target="slides/slide2.xml"/><Relationship Id="rId3" Type="http://schemas.openxmlformats.org/officeDocument/2006/relationships/customXml" Target="../customXml/item3.xml"/></Relationships>
</file>

<file path=ppt/diagrams/_rels/data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9E6D38-7BA6-4B5A-9197-8138A40BD2D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317AA8-1A5F-463F-ADE6-4BD6DCD2E4C1}">
      <dgm:prSet/>
      <dgm:spPr/>
      <dgm:t>
        <a:bodyPr/>
        <a:lstStyle/>
        <a:p>
          <a:r>
            <a:rPr lang="en-US" b="1"/>
            <a:t>Name</a:t>
          </a:r>
          <a:r>
            <a:rPr lang="en-US"/>
            <a:t>: Eric Burcham</a:t>
          </a:r>
        </a:p>
      </dgm:t>
    </dgm:pt>
    <dgm:pt modelId="{7E8B430E-A1B5-4B7F-9148-C53BEF2E31BD}" type="parTrans" cxnId="{FD81E39D-43C0-48CC-8E3D-54549917C76F}">
      <dgm:prSet/>
      <dgm:spPr/>
      <dgm:t>
        <a:bodyPr/>
        <a:lstStyle/>
        <a:p>
          <a:endParaRPr lang="en-US"/>
        </a:p>
      </dgm:t>
    </dgm:pt>
    <dgm:pt modelId="{7EE69C58-4990-467A-B33B-B16922B8F141}" type="sibTrans" cxnId="{FD81E39D-43C0-48CC-8E3D-54549917C76F}">
      <dgm:prSet/>
      <dgm:spPr/>
      <dgm:t>
        <a:bodyPr/>
        <a:lstStyle/>
        <a:p>
          <a:endParaRPr lang="en-US"/>
        </a:p>
      </dgm:t>
    </dgm:pt>
    <dgm:pt modelId="{8BA0E2F6-E4FF-4BEC-BE3B-A9F49CC5C02C}">
      <dgm:prSet/>
      <dgm:spPr/>
      <dgm:t>
        <a:bodyPr/>
        <a:lstStyle/>
        <a:p>
          <a:r>
            <a:rPr lang="en-US" b="1"/>
            <a:t>Title</a:t>
          </a:r>
          <a:r>
            <a:rPr lang="en-US"/>
            <a:t>: Enterprise Architect</a:t>
          </a:r>
        </a:p>
      </dgm:t>
    </dgm:pt>
    <dgm:pt modelId="{48B5637E-074F-407C-BDFD-960DA47C83FC}" type="parTrans" cxnId="{46E6670B-CC70-4DC7-9960-0AA9BEBE7866}">
      <dgm:prSet/>
      <dgm:spPr/>
      <dgm:t>
        <a:bodyPr/>
        <a:lstStyle/>
        <a:p>
          <a:endParaRPr lang="en-US"/>
        </a:p>
      </dgm:t>
    </dgm:pt>
    <dgm:pt modelId="{4D8FCE94-7763-46E0-911A-045A3A8E4E7A}" type="sibTrans" cxnId="{46E6670B-CC70-4DC7-9960-0AA9BEBE7866}">
      <dgm:prSet/>
      <dgm:spPr/>
      <dgm:t>
        <a:bodyPr/>
        <a:lstStyle/>
        <a:p>
          <a:endParaRPr lang="en-US"/>
        </a:p>
      </dgm:t>
    </dgm:pt>
    <dgm:pt modelId="{CDF7D8E5-6F6F-489F-B24F-382F9839602A}">
      <dgm:prSet/>
      <dgm:spPr/>
      <dgm:t>
        <a:bodyPr/>
        <a:lstStyle/>
        <a:p>
          <a:r>
            <a:rPr lang="en-US" b="1"/>
            <a:t>Email</a:t>
          </a:r>
          <a:r>
            <a:rPr lang="en-US"/>
            <a:t>: </a:t>
          </a:r>
          <a:r>
            <a:rPr lang="en-US">
              <a:hlinkClick xmlns:r="http://schemas.openxmlformats.org/officeDocument/2006/relationships" r:id="rId1"/>
            </a:rPr>
            <a:t>eburcham@eprod.com</a:t>
          </a:r>
          <a:endParaRPr lang="en-US"/>
        </a:p>
      </dgm:t>
    </dgm:pt>
    <dgm:pt modelId="{CCA9522E-0650-47AC-995A-1B80CAF4205C}" type="parTrans" cxnId="{F207A5DD-381A-4FAC-AD17-31901BC7E4A4}">
      <dgm:prSet/>
      <dgm:spPr/>
      <dgm:t>
        <a:bodyPr/>
        <a:lstStyle/>
        <a:p>
          <a:endParaRPr lang="en-US"/>
        </a:p>
      </dgm:t>
    </dgm:pt>
    <dgm:pt modelId="{7C50FB9A-D893-4DDA-91FC-6A0BB74FBC61}" type="sibTrans" cxnId="{F207A5DD-381A-4FAC-AD17-31901BC7E4A4}">
      <dgm:prSet/>
      <dgm:spPr/>
      <dgm:t>
        <a:bodyPr/>
        <a:lstStyle/>
        <a:p>
          <a:endParaRPr lang="en-US"/>
        </a:p>
      </dgm:t>
    </dgm:pt>
    <dgm:pt modelId="{A0DCC79E-779C-48E0-96D4-CAA503785EB3}">
      <dgm:prSet/>
      <dgm:spPr/>
      <dgm:t>
        <a:bodyPr/>
        <a:lstStyle/>
        <a:p>
          <a:r>
            <a:rPr lang="en-US" b="1"/>
            <a:t>Extension</a:t>
          </a:r>
          <a:r>
            <a:rPr lang="en-US"/>
            <a:t>: 4103</a:t>
          </a:r>
        </a:p>
      </dgm:t>
    </dgm:pt>
    <dgm:pt modelId="{62841B61-D9AA-42D4-8211-2605061AC6EB}" type="parTrans" cxnId="{BE2232FF-B64D-4E9A-947B-EC326BC3BEAC}">
      <dgm:prSet/>
      <dgm:spPr/>
      <dgm:t>
        <a:bodyPr/>
        <a:lstStyle/>
        <a:p>
          <a:endParaRPr lang="en-US"/>
        </a:p>
      </dgm:t>
    </dgm:pt>
    <dgm:pt modelId="{A6EDF936-BE4E-4FF0-8E05-7DEDF97E07E1}" type="sibTrans" cxnId="{BE2232FF-B64D-4E9A-947B-EC326BC3BEAC}">
      <dgm:prSet/>
      <dgm:spPr/>
      <dgm:t>
        <a:bodyPr/>
        <a:lstStyle/>
        <a:p>
          <a:endParaRPr lang="en-US"/>
        </a:p>
      </dgm:t>
    </dgm:pt>
    <dgm:pt modelId="{32A2495E-FB62-4A52-9754-FDC058965CCC}">
      <dgm:prSet/>
      <dgm:spPr/>
      <dgm:t>
        <a:bodyPr/>
        <a:lstStyle/>
        <a:p>
          <a:r>
            <a:rPr lang="en-US" b="1"/>
            <a:t>Working Group</a:t>
          </a:r>
          <a:r>
            <a:rPr lang="en-US"/>
            <a:t>: IT Applications</a:t>
          </a:r>
        </a:p>
      </dgm:t>
    </dgm:pt>
    <dgm:pt modelId="{E3A66AF8-B9BA-4E32-90BC-24EDD4C2E8EE}" type="parTrans" cxnId="{018944F1-94D7-4FCF-B6BE-1ABB126DCF9B}">
      <dgm:prSet/>
      <dgm:spPr/>
      <dgm:t>
        <a:bodyPr/>
        <a:lstStyle/>
        <a:p>
          <a:endParaRPr lang="en-US"/>
        </a:p>
      </dgm:t>
    </dgm:pt>
    <dgm:pt modelId="{11181DB9-EE24-4040-A021-E82D7297184A}" type="sibTrans" cxnId="{018944F1-94D7-4FCF-B6BE-1ABB126DCF9B}">
      <dgm:prSet/>
      <dgm:spPr/>
      <dgm:t>
        <a:bodyPr/>
        <a:lstStyle/>
        <a:p>
          <a:endParaRPr lang="en-US"/>
        </a:p>
      </dgm:t>
    </dgm:pt>
    <dgm:pt modelId="{15850B28-2EEA-480B-BA4B-339271143A0A}" type="pres">
      <dgm:prSet presAssocID="{079E6D38-7BA6-4B5A-9197-8138A40BD2D3}" presName="vert0" presStyleCnt="0">
        <dgm:presLayoutVars>
          <dgm:dir/>
          <dgm:animOne val="branch"/>
          <dgm:animLvl val="lvl"/>
        </dgm:presLayoutVars>
      </dgm:prSet>
      <dgm:spPr/>
    </dgm:pt>
    <dgm:pt modelId="{55489709-0EAB-4AC6-99A1-3F3F57087438}" type="pres">
      <dgm:prSet presAssocID="{52317AA8-1A5F-463F-ADE6-4BD6DCD2E4C1}" presName="thickLine" presStyleLbl="alignNode1" presStyleIdx="0" presStyleCnt="5"/>
      <dgm:spPr/>
    </dgm:pt>
    <dgm:pt modelId="{6F746DBA-0194-4B13-B52C-FAB3CE52FE9C}" type="pres">
      <dgm:prSet presAssocID="{52317AA8-1A5F-463F-ADE6-4BD6DCD2E4C1}" presName="horz1" presStyleCnt="0"/>
      <dgm:spPr/>
    </dgm:pt>
    <dgm:pt modelId="{C5EEE18B-7CB3-47A3-8FB4-6C076DE651A9}" type="pres">
      <dgm:prSet presAssocID="{52317AA8-1A5F-463F-ADE6-4BD6DCD2E4C1}" presName="tx1" presStyleLbl="revTx" presStyleIdx="0" presStyleCnt="5"/>
      <dgm:spPr/>
    </dgm:pt>
    <dgm:pt modelId="{9CFC93DE-4A4E-4D49-9B9C-B5356C17DAEF}" type="pres">
      <dgm:prSet presAssocID="{52317AA8-1A5F-463F-ADE6-4BD6DCD2E4C1}" presName="vert1" presStyleCnt="0"/>
      <dgm:spPr/>
    </dgm:pt>
    <dgm:pt modelId="{2DD5F8FE-0BE2-400B-B95D-0E015D6A6802}" type="pres">
      <dgm:prSet presAssocID="{8BA0E2F6-E4FF-4BEC-BE3B-A9F49CC5C02C}" presName="thickLine" presStyleLbl="alignNode1" presStyleIdx="1" presStyleCnt="5"/>
      <dgm:spPr/>
    </dgm:pt>
    <dgm:pt modelId="{345457E0-E467-4F0C-AAEE-682A81B9B5A3}" type="pres">
      <dgm:prSet presAssocID="{8BA0E2F6-E4FF-4BEC-BE3B-A9F49CC5C02C}" presName="horz1" presStyleCnt="0"/>
      <dgm:spPr/>
    </dgm:pt>
    <dgm:pt modelId="{73575711-B787-4D7B-AC4A-C6AFBB631158}" type="pres">
      <dgm:prSet presAssocID="{8BA0E2F6-E4FF-4BEC-BE3B-A9F49CC5C02C}" presName="tx1" presStyleLbl="revTx" presStyleIdx="1" presStyleCnt="5"/>
      <dgm:spPr/>
    </dgm:pt>
    <dgm:pt modelId="{4745CD20-CD26-4973-9F61-DF95261384B3}" type="pres">
      <dgm:prSet presAssocID="{8BA0E2F6-E4FF-4BEC-BE3B-A9F49CC5C02C}" presName="vert1" presStyleCnt="0"/>
      <dgm:spPr/>
    </dgm:pt>
    <dgm:pt modelId="{CE454F7F-BD44-4B02-9FBE-C9C19D99B9BF}" type="pres">
      <dgm:prSet presAssocID="{CDF7D8E5-6F6F-489F-B24F-382F9839602A}" presName="thickLine" presStyleLbl="alignNode1" presStyleIdx="2" presStyleCnt="5"/>
      <dgm:spPr/>
    </dgm:pt>
    <dgm:pt modelId="{DC373BAA-F12F-48F2-98AA-92FA29B21EFC}" type="pres">
      <dgm:prSet presAssocID="{CDF7D8E5-6F6F-489F-B24F-382F9839602A}" presName="horz1" presStyleCnt="0"/>
      <dgm:spPr/>
    </dgm:pt>
    <dgm:pt modelId="{A6098627-26DF-4AE7-9C73-A56038C72457}" type="pres">
      <dgm:prSet presAssocID="{CDF7D8E5-6F6F-489F-B24F-382F9839602A}" presName="tx1" presStyleLbl="revTx" presStyleIdx="2" presStyleCnt="5"/>
      <dgm:spPr/>
    </dgm:pt>
    <dgm:pt modelId="{C5118A01-76A5-470E-967B-0AD54B243AAF}" type="pres">
      <dgm:prSet presAssocID="{CDF7D8E5-6F6F-489F-B24F-382F9839602A}" presName="vert1" presStyleCnt="0"/>
      <dgm:spPr/>
    </dgm:pt>
    <dgm:pt modelId="{A9224547-667A-4F63-9935-A901F8C8D205}" type="pres">
      <dgm:prSet presAssocID="{A0DCC79E-779C-48E0-96D4-CAA503785EB3}" presName="thickLine" presStyleLbl="alignNode1" presStyleIdx="3" presStyleCnt="5"/>
      <dgm:spPr/>
    </dgm:pt>
    <dgm:pt modelId="{9C9C6043-81D0-4857-BA9C-D2352F6F3476}" type="pres">
      <dgm:prSet presAssocID="{A0DCC79E-779C-48E0-96D4-CAA503785EB3}" presName="horz1" presStyleCnt="0"/>
      <dgm:spPr/>
    </dgm:pt>
    <dgm:pt modelId="{C84E550C-EEFD-4232-B27B-3E5CC6280267}" type="pres">
      <dgm:prSet presAssocID="{A0DCC79E-779C-48E0-96D4-CAA503785EB3}" presName="tx1" presStyleLbl="revTx" presStyleIdx="3" presStyleCnt="5"/>
      <dgm:spPr/>
    </dgm:pt>
    <dgm:pt modelId="{0249FFC5-657D-42EE-9FD3-DEA301A8F881}" type="pres">
      <dgm:prSet presAssocID="{A0DCC79E-779C-48E0-96D4-CAA503785EB3}" presName="vert1" presStyleCnt="0"/>
      <dgm:spPr/>
    </dgm:pt>
    <dgm:pt modelId="{3F21D0B2-1E69-464E-ADF1-CD40D9ADE1ED}" type="pres">
      <dgm:prSet presAssocID="{32A2495E-FB62-4A52-9754-FDC058965CCC}" presName="thickLine" presStyleLbl="alignNode1" presStyleIdx="4" presStyleCnt="5"/>
      <dgm:spPr/>
    </dgm:pt>
    <dgm:pt modelId="{F51EBBF3-3844-4034-A1D0-4674D2B5AAB6}" type="pres">
      <dgm:prSet presAssocID="{32A2495E-FB62-4A52-9754-FDC058965CCC}" presName="horz1" presStyleCnt="0"/>
      <dgm:spPr/>
    </dgm:pt>
    <dgm:pt modelId="{8BA56787-B8ED-44B1-836A-DACCF3ABEC3F}" type="pres">
      <dgm:prSet presAssocID="{32A2495E-FB62-4A52-9754-FDC058965CCC}" presName="tx1" presStyleLbl="revTx" presStyleIdx="4" presStyleCnt="5"/>
      <dgm:spPr/>
    </dgm:pt>
    <dgm:pt modelId="{E689D730-1761-4C90-8712-899C9449F4F7}" type="pres">
      <dgm:prSet presAssocID="{32A2495E-FB62-4A52-9754-FDC058965CCC}" presName="vert1" presStyleCnt="0"/>
      <dgm:spPr/>
    </dgm:pt>
  </dgm:ptLst>
  <dgm:cxnLst>
    <dgm:cxn modelId="{46E6670B-CC70-4DC7-9960-0AA9BEBE7866}" srcId="{079E6D38-7BA6-4B5A-9197-8138A40BD2D3}" destId="{8BA0E2F6-E4FF-4BEC-BE3B-A9F49CC5C02C}" srcOrd="1" destOrd="0" parTransId="{48B5637E-074F-407C-BDFD-960DA47C83FC}" sibTransId="{4D8FCE94-7763-46E0-911A-045A3A8E4E7A}"/>
    <dgm:cxn modelId="{9D45A868-4027-400C-B068-F29CC2C309AB}" type="presOf" srcId="{52317AA8-1A5F-463F-ADE6-4BD6DCD2E4C1}" destId="{C5EEE18B-7CB3-47A3-8FB4-6C076DE651A9}" srcOrd="0" destOrd="0" presId="urn:microsoft.com/office/officeart/2008/layout/LinedList"/>
    <dgm:cxn modelId="{A64AE599-BED0-48C0-A7D1-A6A6D8F4CAF5}" type="presOf" srcId="{079E6D38-7BA6-4B5A-9197-8138A40BD2D3}" destId="{15850B28-2EEA-480B-BA4B-339271143A0A}" srcOrd="0" destOrd="0" presId="urn:microsoft.com/office/officeart/2008/layout/LinedList"/>
    <dgm:cxn modelId="{FD81E39D-43C0-48CC-8E3D-54549917C76F}" srcId="{079E6D38-7BA6-4B5A-9197-8138A40BD2D3}" destId="{52317AA8-1A5F-463F-ADE6-4BD6DCD2E4C1}" srcOrd="0" destOrd="0" parTransId="{7E8B430E-A1B5-4B7F-9148-C53BEF2E31BD}" sibTransId="{7EE69C58-4990-467A-B33B-B16922B8F141}"/>
    <dgm:cxn modelId="{49ED6EA2-1DD5-416E-BF46-CE11E75A9EB1}" type="presOf" srcId="{CDF7D8E5-6F6F-489F-B24F-382F9839602A}" destId="{A6098627-26DF-4AE7-9C73-A56038C72457}" srcOrd="0" destOrd="0" presId="urn:microsoft.com/office/officeart/2008/layout/LinedList"/>
    <dgm:cxn modelId="{D494B8BA-FD5A-4820-A106-0BCBD3BC3196}" type="presOf" srcId="{32A2495E-FB62-4A52-9754-FDC058965CCC}" destId="{8BA56787-B8ED-44B1-836A-DACCF3ABEC3F}" srcOrd="0" destOrd="0" presId="urn:microsoft.com/office/officeart/2008/layout/LinedList"/>
    <dgm:cxn modelId="{161577BD-5B45-4D33-AD3D-B61FCF4A0985}" type="presOf" srcId="{8BA0E2F6-E4FF-4BEC-BE3B-A9F49CC5C02C}" destId="{73575711-B787-4D7B-AC4A-C6AFBB631158}" srcOrd="0" destOrd="0" presId="urn:microsoft.com/office/officeart/2008/layout/LinedList"/>
    <dgm:cxn modelId="{F207A5DD-381A-4FAC-AD17-31901BC7E4A4}" srcId="{079E6D38-7BA6-4B5A-9197-8138A40BD2D3}" destId="{CDF7D8E5-6F6F-489F-B24F-382F9839602A}" srcOrd="2" destOrd="0" parTransId="{CCA9522E-0650-47AC-995A-1B80CAF4205C}" sibTransId="{7C50FB9A-D893-4DDA-91FC-6A0BB74FBC61}"/>
    <dgm:cxn modelId="{A04F48DE-AACA-4764-8409-AB96B546998F}" type="presOf" srcId="{A0DCC79E-779C-48E0-96D4-CAA503785EB3}" destId="{C84E550C-EEFD-4232-B27B-3E5CC6280267}" srcOrd="0" destOrd="0" presId="urn:microsoft.com/office/officeart/2008/layout/LinedList"/>
    <dgm:cxn modelId="{018944F1-94D7-4FCF-B6BE-1ABB126DCF9B}" srcId="{079E6D38-7BA6-4B5A-9197-8138A40BD2D3}" destId="{32A2495E-FB62-4A52-9754-FDC058965CCC}" srcOrd="4" destOrd="0" parTransId="{E3A66AF8-B9BA-4E32-90BC-24EDD4C2E8EE}" sibTransId="{11181DB9-EE24-4040-A021-E82D7297184A}"/>
    <dgm:cxn modelId="{BE2232FF-B64D-4E9A-947B-EC326BC3BEAC}" srcId="{079E6D38-7BA6-4B5A-9197-8138A40BD2D3}" destId="{A0DCC79E-779C-48E0-96D4-CAA503785EB3}" srcOrd="3" destOrd="0" parTransId="{62841B61-D9AA-42D4-8211-2605061AC6EB}" sibTransId="{A6EDF936-BE4E-4FF0-8E05-7DEDF97E07E1}"/>
    <dgm:cxn modelId="{D9C6753A-CBEA-464E-9CA8-46C48E534911}" type="presParOf" srcId="{15850B28-2EEA-480B-BA4B-339271143A0A}" destId="{55489709-0EAB-4AC6-99A1-3F3F57087438}" srcOrd="0" destOrd="0" presId="urn:microsoft.com/office/officeart/2008/layout/LinedList"/>
    <dgm:cxn modelId="{51A04044-25A8-493B-9F15-2D1B683A4928}" type="presParOf" srcId="{15850B28-2EEA-480B-BA4B-339271143A0A}" destId="{6F746DBA-0194-4B13-B52C-FAB3CE52FE9C}" srcOrd="1" destOrd="0" presId="urn:microsoft.com/office/officeart/2008/layout/LinedList"/>
    <dgm:cxn modelId="{90981D09-CF52-4F14-B553-62FFF1E83907}" type="presParOf" srcId="{6F746DBA-0194-4B13-B52C-FAB3CE52FE9C}" destId="{C5EEE18B-7CB3-47A3-8FB4-6C076DE651A9}" srcOrd="0" destOrd="0" presId="urn:microsoft.com/office/officeart/2008/layout/LinedList"/>
    <dgm:cxn modelId="{C14B8E99-F0FC-4C2E-8FC5-CF9FE6A7978A}" type="presParOf" srcId="{6F746DBA-0194-4B13-B52C-FAB3CE52FE9C}" destId="{9CFC93DE-4A4E-4D49-9B9C-B5356C17DAEF}" srcOrd="1" destOrd="0" presId="urn:microsoft.com/office/officeart/2008/layout/LinedList"/>
    <dgm:cxn modelId="{E6652509-CB91-47FA-81CB-AD4C067F0BE1}" type="presParOf" srcId="{15850B28-2EEA-480B-BA4B-339271143A0A}" destId="{2DD5F8FE-0BE2-400B-B95D-0E015D6A6802}" srcOrd="2" destOrd="0" presId="urn:microsoft.com/office/officeart/2008/layout/LinedList"/>
    <dgm:cxn modelId="{12C1BAC0-43F1-4CF3-85A7-2B602419BB15}" type="presParOf" srcId="{15850B28-2EEA-480B-BA4B-339271143A0A}" destId="{345457E0-E467-4F0C-AAEE-682A81B9B5A3}" srcOrd="3" destOrd="0" presId="urn:microsoft.com/office/officeart/2008/layout/LinedList"/>
    <dgm:cxn modelId="{3159C107-B3FB-465D-B520-1835477A0E6A}" type="presParOf" srcId="{345457E0-E467-4F0C-AAEE-682A81B9B5A3}" destId="{73575711-B787-4D7B-AC4A-C6AFBB631158}" srcOrd="0" destOrd="0" presId="urn:microsoft.com/office/officeart/2008/layout/LinedList"/>
    <dgm:cxn modelId="{92FBC7F9-9B80-4D91-9D46-781BA24F92FC}" type="presParOf" srcId="{345457E0-E467-4F0C-AAEE-682A81B9B5A3}" destId="{4745CD20-CD26-4973-9F61-DF95261384B3}" srcOrd="1" destOrd="0" presId="urn:microsoft.com/office/officeart/2008/layout/LinedList"/>
    <dgm:cxn modelId="{F2846607-CF29-4F29-A62F-1C5D87589302}" type="presParOf" srcId="{15850B28-2EEA-480B-BA4B-339271143A0A}" destId="{CE454F7F-BD44-4B02-9FBE-C9C19D99B9BF}" srcOrd="4" destOrd="0" presId="urn:microsoft.com/office/officeart/2008/layout/LinedList"/>
    <dgm:cxn modelId="{C7C8864D-2335-4EFE-A5B6-62B7A5DC8063}" type="presParOf" srcId="{15850B28-2EEA-480B-BA4B-339271143A0A}" destId="{DC373BAA-F12F-48F2-98AA-92FA29B21EFC}" srcOrd="5" destOrd="0" presId="urn:microsoft.com/office/officeart/2008/layout/LinedList"/>
    <dgm:cxn modelId="{EA7D111D-9BBA-4738-BC9B-74FCEDFCDCBB}" type="presParOf" srcId="{DC373BAA-F12F-48F2-98AA-92FA29B21EFC}" destId="{A6098627-26DF-4AE7-9C73-A56038C72457}" srcOrd="0" destOrd="0" presId="urn:microsoft.com/office/officeart/2008/layout/LinedList"/>
    <dgm:cxn modelId="{96BD984E-D26D-4EF6-8855-3AD8B3918E8C}" type="presParOf" srcId="{DC373BAA-F12F-48F2-98AA-92FA29B21EFC}" destId="{C5118A01-76A5-470E-967B-0AD54B243AAF}" srcOrd="1" destOrd="0" presId="urn:microsoft.com/office/officeart/2008/layout/LinedList"/>
    <dgm:cxn modelId="{1E64C8C1-D8C1-4DB5-A4BF-E9FBFE4815B5}" type="presParOf" srcId="{15850B28-2EEA-480B-BA4B-339271143A0A}" destId="{A9224547-667A-4F63-9935-A901F8C8D205}" srcOrd="6" destOrd="0" presId="urn:microsoft.com/office/officeart/2008/layout/LinedList"/>
    <dgm:cxn modelId="{18F18178-D11C-4C47-8EF7-9923B66F7BD4}" type="presParOf" srcId="{15850B28-2EEA-480B-BA4B-339271143A0A}" destId="{9C9C6043-81D0-4857-BA9C-D2352F6F3476}" srcOrd="7" destOrd="0" presId="urn:microsoft.com/office/officeart/2008/layout/LinedList"/>
    <dgm:cxn modelId="{CC9F847C-D770-468F-AD74-21E8B0D1D74F}" type="presParOf" srcId="{9C9C6043-81D0-4857-BA9C-D2352F6F3476}" destId="{C84E550C-EEFD-4232-B27B-3E5CC6280267}" srcOrd="0" destOrd="0" presId="urn:microsoft.com/office/officeart/2008/layout/LinedList"/>
    <dgm:cxn modelId="{F4F2AD14-256C-4AFE-9E65-FCFD73EF5F1E}" type="presParOf" srcId="{9C9C6043-81D0-4857-BA9C-D2352F6F3476}" destId="{0249FFC5-657D-42EE-9FD3-DEA301A8F881}" srcOrd="1" destOrd="0" presId="urn:microsoft.com/office/officeart/2008/layout/LinedList"/>
    <dgm:cxn modelId="{86A6071A-237D-4F68-91BE-1FA238CDE217}" type="presParOf" srcId="{15850B28-2EEA-480B-BA4B-339271143A0A}" destId="{3F21D0B2-1E69-464E-ADF1-CD40D9ADE1ED}" srcOrd="8" destOrd="0" presId="urn:microsoft.com/office/officeart/2008/layout/LinedList"/>
    <dgm:cxn modelId="{931B57CF-0A82-4848-A8F2-BF2A2F3E8CE3}" type="presParOf" srcId="{15850B28-2EEA-480B-BA4B-339271143A0A}" destId="{F51EBBF3-3844-4034-A1D0-4674D2B5AAB6}" srcOrd="9" destOrd="0" presId="urn:microsoft.com/office/officeart/2008/layout/LinedList"/>
    <dgm:cxn modelId="{A0E17965-0C5A-492D-A963-76EFD107DAD9}" type="presParOf" srcId="{F51EBBF3-3844-4034-A1D0-4674D2B5AAB6}" destId="{8BA56787-B8ED-44B1-836A-DACCF3ABEC3F}" srcOrd="0" destOrd="0" presId="urn:microsoft.com/office/officeart/2008/layout/LinedList"/>
    <dgm:cxn modelId="{B50A6603-C1CD-4DE9-BE20-645E23E5EEE5}" type="presParOf" srcId="{F51EBBF3-3844-4034-A1D0-4674D2B5AAB6}" destId="{E689D730-1761-4C90-8712-899C9449F4F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B2A87D-2F13-451A-8C7B-23487C3A2129}"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1F8C008E-E506-4250-83A5-1F996D3A7278}">
      <dgm:prSet/>
      <dgm:spPr/>
      <dgm:t>
        <a:bodyPr/>
        <a:lstStyle/>
        <a:p>
          <a:r>
            <a:rPr lang="en-US"/>
            <a:t>Revisit the prompting framework</a:t>
          </a:r>
        </a:p>
      </dgm:t>
    </dgm:pt>
    <dgm:pt modelId="{837BAFBD-188E-4088-8875-0C7B045DF724}" type="parTrans" cxnId="{CCBDA909-BC75-4CB6-B77F-565C2DC485B0}">
      <dgm:prSet/>
      <dgm:spPr/>
      <dgm:t>
        <a:bodyPr/>
        <a:lstStyle/>
        <a:p>
          <a:endParaRPr lang="en-US"/>
        </a:p>
      </dgm:t>
    </dgm:pt>
    <dgm:pt modelId="{09624E4D-F7C6-44E0-AF43-3E56EAC405BA}" type="sibTrans" cxnId="{CCBDA909-BC75-4CB6-B77F-565C2DC485B0}">
      <dgm:prSet phldrT="01" phldr="0"/>
      <dgm:spPr/>
      <dgm:t>
        <a:bodyPr/>
        <a:lstStyle/>
        <a:p>
          <a:r>
            <a:rPr lang="en-US" dirty="0"/>
            <a:t>01</a:t>
          </a:r>
        </a:p>
      </dgm:t>
    </dgm:pt>
    <dgm:pt modelId="{C1A359E3-9B30-47D0-8477-BF90AFD5304A}">
      <dgm:prSet/>
      <dgm:spPr/>
      <dgm:t>
        <a:bodyPr/>
        <a:lstStyle/>
        <a:p>
          <a:r>
            <a:rPr lang="en-US"/>
            <a:t>Separate prompts into shorter sentences</a:t>
          </a:r>
        </a:p>
      </dgm:t>
    </dgm:pt>
    <dgm:pt modelId="{51CDE716-02EB-4EED-8C0A-91DE6056E99E}" type="parTrans" cxnId="{1CD7A750-3035-4A89-B3A1-374EE2526B46}">
      <dgm:prSet/>
      <dgm:spPr/>
      <dgm:t>
        <a:bodyPr/>
        <a:lstStyle/>
        <a:p>
          <a:endParaRPr lang="en-US"/>
        </a:p>
      </dgm:t>
    </dgm:pt>
    <dgm:pt modelId="{D68553D2-247D-4735-B59E-9015C6236E72}" type="sibTrans" cxnId="{1CD7A750-3035-4A89-B3A1-374EE2526B46}">
      <dgm:prSet phldrT="02" phldr="0"/>
      <dgm:spPr/>
      <dgm:t>
        <a:bodyPr/>
        <a:lstStyle/>
        <a:p>
          <a:r>
            <a:rPr lang="en-US"/>
            <a:t>02</a:t>
          </a:r>
        </a:p>
      </dgm:t>
    </dgm:pt>
    <dgm:pt modelId="{C0397F11-A5D5-4105-A15D-B1FAB31D869D}">
      <dgm:prSet/>
      <dgm:spPr/>
      <dgm:t>
        <a:bodyPr/>
        <a:lstStyle/>
        <a:p>
          <a:r>
            <a:rPr lang="en-US"/>
            <a:t>Try rephrasing or switching to an alternate task</a:t>
          </a:r>
        </a:p>
      </dgm:t>
    </dgm:pt>
    <dgm:pt modelId="{28557D92-99A1-424D-92EE-160A6D3B77EA}" type="parTrans" cxnId="{BE197576-BE12-4B46-A586-749787FAC313}">
      <dgm:prSet/>
      <dgm:spPr/>
      <dgm:t>
        <a:bodyPr/>
        <a:lstStyle/>
        <a:p>
          <a:endParaRPr lang="en-US"/>
        </a:p>
      </dgm:t>
    </dgm:pt>
    <dgm:pt modelId="{05126756-4A1A-4408-9E4F-15AD4F835E42}" type="sibTrans" cxnId="{BE197576-BE12-4B46-A586-749787FAC313}">
      <dgm:prSet phldrT="03" phldr="0"/>
      <dgm:spPr/>
      <dgm:t>
        <a:bodyPr/>
        <a:lstStyle/>
        <a:p>
          <a:r>
            <a:rPr lang="en-US"/>
            <a:t>03</a:t>
          </a:r>
        </a:p>
      </dgm:t>
    </dgm:pt>
    <dgm:pt modelId="{D8D17A69-4468-4E35-99E3-C5621252495D}">
      <dgm:prSet/>
      <dgm:spPr/>
      <dgm:t>
        <a:bodyPr/>
        <a:lstStyle/>
        <a:p>
          <a:r>
            <a:rPr lang="en-US"/>
            <a:t>Introduce constraints</a:t>
          </a:r>
        </a:p>
      </dgm:t>
    </dgm:pt>
    <dgm:pt modelId="{A648C1AE-260A-4E45-BF29-49FF75E834D1}" type="parTrans" cxnId="{62F71AEB-8E81-433B-86ED-602AA09B82D3}">
      <dgm:prSet/>
      <dgm:spPr/>
      <dgm:t>
        <a:bodyPr/>
        <a:lstStyle/>
        <a:p>
          <a:endParaRPr lang="en-US"/>
        </a:p>
      </dgm:t>
    </dgm:pt>
    <dgm:pt modelId="{54BAFE78-794D-4C31-A2A6-9426766E7A2B}" type="sibTrans" cxnId="{62F71AEB-8E81-433B-86ED-602AA09B82D3}">
      <dgm:prSet phldrT="04" phldr="0"/>
      <dgm:spPr/>
      <dgm:t>
        <a:bodyPr/>
        <a:lstStyle/>
        <a:p>
          <a:r>
            <a:rPr lang="en-US"/>
            <a:t>04</a:t>
          </a:r>
        </a:p>
      </dgm:t>
    </dgm:pt>
    <dgm:pt modelId="{13EEF62F-A75D-425C-9985-7EB365AA9981}">
      <dgm:prSet/>
      <dgm:spPr/>
      <dgm:t>
        <a:bodyPr/>
        <a:lstStyle/>
        <a:p>
          <a:r>
            <a:rPr lang="en-US" b="1" i="1"/>
            <a:t>R</a:t>
          </a:r>
          <a:r>
            <a:rPr lang="en-US"/>
            <a:t>epair </a:t>
          </a:r>
          <a:r>
            <a:rPr lang="en-US" b="1" i="1"/>
            <a:t>S</a:t>
          </a:r>
          <a:r>
            <a:rPr lang="en-US"/>
            <a:t>omething </a:t>
          </a:r>
          <a:r>
            <a:rPr lang="en-US" b="1" i="1"/>
            <a:t>T</a:t>
          </a:r>
          <a:r>
            <a:rPr lang="en-US"/>
            <a:t>hrough </a:t>
          </a:r>
          <a:r>
            <a:rPr lang="en-US" b="1" i="1"/>
            <a:t>I</a:t>
          </a:r>
          <a:r>
            <a:rPr lang="en-US"/>
            <a:t>teration</a:t>
          </a:r>
        </a:p>
      </dgm:t>
    </dgm:pt>
    <dgm:pt modelId="{35C79E58-9241-48CF-9E21-4E1A2A210943}" type="parTrans" cxnId="{A68A812A-0648-4933-80A1-A512A10FD0AA}">
      <dgm:prSet/>
      <dgm:spPr/>
      <dgm:t>
        <a:bodyPr/>
        <a:lstStyle/>
        <a:p>
          <a:endParaRPr lang="en-US"/>
        </a:p>
      </dgm:t>
    </dgm:pt>
    <dgm:pt modelId="{547E225F-60CE-475B-A901-C913C5EEA3A6}" type="sibTrans" cxnId="{A68A812A-0648-4933-80A1-A512A10FD0AA}">
      <dgm:prSet phldrT="05" phldr="0"/>
      <dgm:spPr/>
      <dgm:t>
        <a:bodyPr/>
        <a:lstStyle/>
        <a:p>
          <a:r>
            <a:rPr lang="en-US"/>
            <a:t>05</a:t>
          </a:r>
        </a:p>
      </dgm:t>
    </dgm:pt>
    <dgm:pt modelId="{A9A94265-25C6-4B83-B46F-BC37A5F31D9D}" type="pres">
      <dgm:prSet presAssocID="{D1B2A87D-2F13-451A-8C7B-23487C3A2129}" presName="Name0" presStyleCnt="0">
        <dgm:presLayoutVars>
          <dgm:animLvl val="lvl"/>
          <dgm:resizeHandles val="exact"/>
        </dgm:presLayoutVars>
      </dgm:prSet>
      <dgm:spPr/>
    </dgm:pt>
    <dgm:pt modelId="{1A869FB8-E1E8-4651-84A7-9AE97688BE85}" type="pres">
      <dgm:prSet presAssocID="{1F8C008E-E506-4250-83A5-1F996D3A7278}" presName="compositeNode" presStyleCnt="0">
        <dgm:presLayoutVars>
          <dgm:bulletEnabled val="1"/>
        </dgm:presLayoutVars>
      </dgm:prSet>
      <dgm:spPr/>
    </dgm:pt>
    <dgm:pt modelId="{88B9E288-748F-4A45-9C44-ED6D6D1942D9}" type="pres">
      <dgm:prSet presAssocID="{1F8C008E-E506-4250-83A5-1F996D3A7278}" presName="bgRect" presStyleLbl="alignNode1" presStyleIdx="0" presStyleCnt="5"/>
      <dgm:spPr/>
    </dgm:pt>
    <dgm:pt modelId="{A3F42375-5BDA-45F4-A917-F208451319A5}" type="pres">
      <dgm:prSet presAssocID="{09624E4D-F7C6-44E0-AF43-3E56EAC405BA}" presName="sibTransNodeRect" presStyleLbl="alignNode1" presStyleIdx="0" presStyleCnt="5">
        <dgm:presLayoutVars>
          <dgm:chMax val="0"/>
          <dgm:bulletEnabled val="1"/>
        </dgm:presLayoutVars>
      </dgm:prSet>
      <dgm:spPr/>
    </dgm:pt>
    <dgm:pt modelId="{CE4A6823-4FB9-46FF-8E80-9B4DC05F526D}" type="pres">
      <dgm:prSet presAssocID="{1F8C008E-E506-4250-83A5-1F996D3A7278}" presName="nodeRect" presStyleLbl="alignNode1" presStyleIdx="0" presStyleCnt="5">
        <dgm:presLayoutVars>
          <dgm:bulletEnabled val="1"/>
        </dgm:presLayoutVars>
      </dgm:prSet>
      <dgm:spPr/>
    </dgm:pt>
    <dgm:pt modelId="{B9810344-1F2D-47CB-9F72-147A57CD4053}" type="pres">
      <dgm:prSet presAssocID="{09624E4D-F7C6-44E0-AF43-3E56EAC405BA}" presName="sibTrans" presStyleCnt="0"/>
      <dgm:spPr/>
    </dgm:pt>
    <dgm:pt modelId="{38A5FCEA-7E42-477F-A56C-CCD8FF042A1F}" type="pres">
      <dgm:prSet presAssocID="{C1A359E3-9B30-47D0-8477-BF90AFD5304A}" presName="compositeNode" presStyleCnt="0">
        <dgm:presLayoutVars>
          <dgm:bulletEnabled val="1"/>
        </dgm:presLayoutVars>
      </dgm:prSet>
      <dgm:spPr/>
    </dgm:pt>
    <dgm:pt modelId="{AC52FAE2-8E18-4243-883A-899D128DA71E}" type="pres">
      <dgm:prSet presAssocID="{C1A359E3-9B30-47D0-8477-BF90AFD5304A}" presName="bgRect" presStyleLbl="alignNode1" presStyleIdx="1" presStyleCnt="5"/>
      <dgm:spPr/>
    </dgm:pt>
    <dgm:pt modelId="{4B340F8A-A40D-4E6A-A767-A5850F5FEA84}" type="pres">
      <dgm:prSet presAssocID="{D68553D2-247D-4735-B59E-9015C6236E72}" presName="sibTransNodeRect" presStyleLbl="alignNode1" presStyleIdx="1" presStyleCnt="5">
        <dgm:presLayoutVars>
          <dgm:chMax val="0"/>
          <dgm:bulletEnabled val="1"/>
        </dgm:presLayoutVars>
      </dgm:prSet>
      <dgm:spPr/>
    </dgm:pt>
    <dgm:pt modelId="{6DA8250E-E551-47E3-BCCA-F93A2E94EF2C}" type="pres">
      <dgm:prSet presAssocID="{C1A359E3-9B30-47D0-8477-BF90AFD5304A}" presName="nodeRect" presStyleLbl="alignNode1" presStyleIdx="1" presStyleCnt="5">
        <dgm:presLayoutVars>
          <dgm:bulletEnabled val="1"/>
        </dgm:presLayoutVars>
      </dgm:prSet>
      <dgm:spPr/>
    </dgm:pt>
    <dgm:pt modelId="{298558E6-BCB9-4838-9F64-E0BC0AAC18FC}" type="pres">
      <dgm:prSet presAssocID="{D68553D2-247D-4735-B59E-9015C6236E72}" presName="sibTrans" presStyleCnt="0"/>
      <dgm:spPr/>
    </dgm:pt>
    <dgm:pt modelId="{F29B885B-2FC1-4A9D-B27F-C7CAA53E9249}" type="pres">
      <dgm:prSet presAssocID="{C0397F11-A5D5-4105-A15D-B1FAB31D869D}" presName="compositeNode" presStyleCnt="0">
        <dgm:presLayoutVars>
          <dgm:bulletEnabled val="1"/>
        </dgm:presLayoutVars>
      </dgm:prSet>
      <dgm:spPr/>
    </dgm:pt>
    <dgm:pt modelId="{5CE31F5E-3D4F-42A7-86EA-E5406EBDFEB8}" type="pres">
      <dgm:prSet presAssocID="{C0397F11-A5D5-4105-A15D-B1FAB31D869D}" presName="bgRect" presStyleLbl="alignNode1" presStyleIdx="2" presStyleCnt="5"/>
      <dgm:spPr/>
    </dgm:pt>
    <dgm:pt modelId="{FA13722A-C8F8-4DF5-8383-C7F54D1189E0}" type="pres">
      <dgm:prSet presAssocID="{05126756-4A1A-4408-9E4F-15AD4F835E42}" presName="sibTransNodeRect" presStyleLbl="alignNode1" presStyleIdx="2" presStyleCnt="5">
        <dgm:presLayoutVars>
          <dgm:chMax val="0"/>
          <dgm:bulletEnabled val="1"/>
        </dgm:presLayoutVars>
      </dgm:prSet>
      <dgm:spPr/>
    </dgm:pt>
    <dgm:pt modelId="{2DD17FF2-E658-4F52-A096-4A48913EE1D0}" type="pres">
      <dgm:prSet presAssocID="{C0397F11-A5D5-4105-A15D-B1FAB31D869D}" presName="nodeRect" presStyleLbl="alignNode1" presStyleIdx="2" presStyleCnt="5">
        <dgm:presLayoutVars>
          <dgm:bulletEnabled val="1"/>
        </dgm:presLayoutVars>
      </dgm:prSet>
      <dgm:spPr/>
    </dgm:pt>
    <dgm:pt modelId="{819239EB-8FC2-4F2D-8AB7-09E1B35738E5}" type="pres">
      <dgm:prSet presAssocID="{05126756-4A1A-4408-9E4F-15AD4F835E42}" presName="sibTrans" presStyleCnt="0"/>
      <dgm:spPr/>
    </dgm:pt>
    <dgm:pt modelId="{411F30F9-94DC-4FDF-BC2E-3C3594A7EAFA}" type="pres">
      <dgm:prSet presAssocID="{D8D17A69-4468-4E35-99E3-C5621252495D}" presName="compositeNode" presStyleCnt="0">
        <dgm:presLayoutVars>
          <dgm:bulletEnabled val="1"/>
        </dgm:presLayoutVars>
      </dgm:prSet>
      <dgm:spPr/>
    </dgm:pt>
    <dgm:pt modelId="{B403B543-DD11-4409-B2C2-FC62AA351536}" type="pres">
      <dgm:prSet presAssocID="{D8D17A69-4468-4E35-99E3-C5621252495D}" presName="bgRect" presStyleLbl="alignNode1" presStyleIdx="3" presStyleCnt="5"/>
      <dgm:spPr/>
    </dgm:pt>
    <dgm:pt modelId="{38736566-E015-47BE-8DA2-616FA0E8EDC1}" type="pres">
      <dgm:prSet presAssocID="{54BAFE78-794D-4C31-A2A6-9426766E7A2B}" presName="sibTransNodeRect" presStyleLbl="alignNode1" presStyleIdx="3" presStyleCnt="5">
        <dgm:presLayoutVars>
          <dgm:chMax val="0"/>
          <dgm:bulletEnabled val="1"/>
        </dgm:presLayoutVars>
      </dgm:prSet>
      <dgm:spPr/>
    </dgm:pt>
    <dgm:pt modelId="{E8066619-1888-432A-A1C7-63B142626CE1}" type="pres">
      <dgm:prSet presAssocID="{D8D17A69-4468-4E35-99E3-C5621252495D}" presName="nodeRect" presStyleLbl="alignNode1" presStyleIdx="3" presStyleCnt="5">
        <dgm:presLayoutVars>
          <dgm:bulletEnabled val="1"/>
        </dgm:presLayoutVars>
      </dgm:prSet>
      <dgm:spPr/>
    </dgm:pt>
    <dgm:pt modelId="{D3027E4E-EE2B-4C86-B84F-BE5117A57470}" type="pres">
      <dgm:prSet presAssocID="{54BAFE78-794D-4C31-A2A6-9426766E7A2B}" presName="sibTrans" presStyleCnt="0"/>
      <dgm:spPr/>
    </dgm:pt>
    <dgm:pt modelId="{7493B1E8-43BB-4AA9-A199-CD2C59F661EC}" type="pres">
      <dgm:prSet presAssocID="{13EEF62F-A75D-425C-9985-7EB365AA9981}" presName="compositeNode" presStyleCnt="0">
        <dgm:presLayoutVars>
          <dgm:bulletEnabled val="1"/>
        </dgm:presLayoutVars>
      </dgm:prSet>
      <dgm:spPr/>
    </dgm:pt>
    <dgm:pt modelId="{D7F93A76-54BE-4FB1-9961-A82A815E1B85}" type="pres">
      <dgm:prSet presAssocID="{13EEF62F-A75D-425C-9985-7EB365AA9981}" presName="bgRect" presStyleLbl="alignNode1" presStyleIdx="4" presStyleCnt="5"/>
      <dgm:spPr/>
    </dgm:pt>
    <dgm:pt modelId="{9BA9C313-D1E1-4D90-B8FB-F26998016E8F}" type="pres">
      <dgm:prSet presAssocID="{547E225F-60CE-475B-A901-C913C5EEA3A6}" presName="sibTransNodeRect" presStyleLbl="alignNode1" presStyleIdx="4" presStyleCnt="5">
        <dgm:presLayoutVars>
          <dgm:chMax val="0"/>
          <dgm:bulletEnabled val="1"/>
        </dgm:presLayoutVars>
      </dgm:prSet>
      <dgm:spPr/>
    </dgm:pt>
    <dgm:pt modelId="{531B013F-5773-4683-803F-B22CFDAF9D6E}" type="pres">
      <dgm:prSet presAssocID="{13EEF62F-A75D-425C-9985-7EB365AA9981}" presName="nodeRect" presStyleLbl="alignNode1" presStyleIdx="4" presStyleCnt="5">
        <dgm:presLayoutVars>
          <dgm:bulletEnabled val="1"/>
        </dgm:presLayoutVars>
      </dgm:prSet>
      <dgm:spPr/>
    </dgm:pt>
  </dgm:ptLst>
  <dgm:cxnLst>
    <dgm:cxn modelId="{69EEF308-17EA-4437-96F0-F864A6364EC8}" type="presOf" srcId="{1F8C008E-E506-4250-83A5-1F996D3A7278}" destId="{CE4A6823-4FB9-46FF-8E80-9B4DC05F526D}" srcOrd="1" destOrd="0" presId="urn:microsoft.com/office/officeart/2016/7/layout/LinearBlockProcessNumbered"/>
    <dgm:cxn modelId="{CCBDA909-BC75-4CB6-B77F-565C2DC485B0}" srcId="{D1B2A87D-2F13-451A-8C7B-23487C3A2129}" destId="{1F8C008E-E506-4250-83A5-1F996D3A7278}" srcOrd="0" destOrd="0" parTransId="{837BAFBD-188E-4088-8875-0C7B045DF724}" sibTransId="{09624E4D-F7C6-44E0-AF43-3E56EAC405BA}"/>
    <dgm:cxn modelId="{885F4114-DA16-4CC5-B556-4788A948A5F7}" type="presOf" srcId="{1F8C008E-E506-4250-83A5-1F996D3A7278}" destId="{88B9E288-748F-4A45-9C44-ED6D6D1942D9}" srcOrd="0" destOrd="0" presId="urn:microsoft.com/office/officeart/2016/7/layout/LinearBlockProcessNumbered"/>
    <dgm:cxn modelId="{A68A812A-0648-4933-80A1-A512A10FD0AA}" srcId="{D1B2A87D-2F13-451A-8C7B-23487C3A2129}" destId="{13EEF62F-A75D-425C-9985-7EB365AA9981}" srcOrd="4" destOrd="0" parTransId="{35C79E58-9241-48CF-9E21-4E1A2A210943}" sibTransId="{547E225F-60CE-475B-A901-C913C5EEA3A6}"/>
    <dgm:cxn modelId="{EA61082C-C48F-4803-8D45-51720E69C85C}" type="presOf" srcId="{13EEF62F-A75D-425C-9985-7EB365AA9981}" destId="{D7F93A76-54BE-4FB1-9961-A82A815E1B85}" srcOrd="0" destOrd="0" presId="urn:microsoft.com/office/officeart/2016/7/layout/LinearBlockProcessNumbered"/>
    <dgm:cxn modelId="{237C3F3C-8E8F-4F32-8C28-F980AD3818CD}" type="presOf" srcId="{D68553D2-247D-4735-B59E-9015C6236E72}" destId="{4B340F8A-A40D-4E6A-A767-A5850F5FEA84}" srcOrd="0" destOrd="0" presId="urn:microsoft.com/office/officeart/2016/7/layout/LinearBlockProcessNumbered"/>
    <dgm:cxn modelId="{B0FE184C-8DFF-46A6-B2A0-4EDED01358A4}" type="presOf" srcId="{C0397F11-A5D5-4105-A15D-B1FAB31D869D}" destId="{5CE31F5E-3D4F-42A7-86EA-E5406EBDFEB8}" srcOrd="0" destOrd="0" presId="urn:microsoft.com/office/officeart/2016/7/layout/LinearBlockProcessNumbered"/>
    <dgm:cxn modelId="{C3BED36C-2915-4737-8682-369476DB18C8}" type="presOf" srcId="{547E225F-60CE-475B-A901-C913C5EEA3A6}" destId="{9BA9C313-D1E1-4D90-B8FB-F26998016E8F}" srcOrd="0" destOrd="0" presId="urn:microsoft.com/office/officeart/2016/7/layout/LinearBlockProcessNumbered"/>
    <dgm:cxn modelId="{1CD7A750-3035-4A89-B3A1-374EE2526B46}" srcId="{D1B2A87D-2F13-451A-8C7B-23487C3A2129}" destId="{C1A359E3-9B30-47D0-8477-BF90AFD5304A}" srcOrd="1" destOrd="0" parTransId="{51CDE716-02EB-4EED-8C0A-91DE6056E99E}" sibTransId="{D68553D2-247D-4735-B59E-9015C6236E72}"/>
    <dgm:cxn modelId="{BE197576-BE12-4B46-A586-749787FAC313}" srcId="{D1B2A87D-2F13-451A-8C7B-23487C3A2129}" destId="{C0397F11-A5D5-4105-A15D-B1FAB31D869D}" srcOrd="2" destOrd="0" parTransId="{28557D92-99A1-424D-92EE-160A6D3B77EA}" sibTransId="{05126756-4A1A-4408-9E4F-15AD4F835E42}"/>
    <dgm:cxn modelId="{DCF44181-0CA9-48A4-9D87-07589CF0BFD6}" type="presOf" srcId="{54BAFE78-794D-4C31-A2A6-9426766E7A2B}" destId="{38736566-E015-47BE-8DA2-616FA0E8EDC1}" srcOrd="0" destOrd="0" presId="urn:microsoft.com/office/officeart/2016/7/layout/LinearBlockProcessNumbered"/>
    <dgm:cxn modelId="{81989C92-8812-4E8B-A8B8-60F41541F725}" type="presOf" srcId="{D8D17A69-4468-4E35-99E3-C5621252495D}" destId="{E8066619-1888-432A-A1C7-63B142626CE1}" srcOrd="1" destOrd="0" presId="urn:microsoft.com/office/officeart/2016/7/layout/LinearBlockProcessNumbered"/>
    <dgm:cxn modelId="{BA7FA79C-9F6E-483F-9056-610890FC2203}" type="presOf" srcId="{C1A359E3-9B30-47D0-8477-BF90AFD5304A}" destId="{AC52FAE2-8E18-4243-883A-899D128DA71E}" srcOrd="0" destOrd="0" presId="urn:microsoft.com/office/officeart/2016/7/layout/LinearBlockProcessNumbered"/>
    <dgm:cxn modelId="{05BFCAAA-5FFE-4488-94F8-F527146B169B}" type="presOf" srcId="{09624E4D-F7C6-44E0-AF43-3E56EAC405BA}" destId="{A3F42375-5BDA-45F4-A917-F208451319A5}" srcOrd="0" destOrd="0" presId="urn:microsoft.com/office/officeart/2016/7/layout/LinearBlockProcessNumbered"/>
    <dgm:cxn modelId="{1A616BB3-5DE5-4131-8893-DCCDC6E64DED}" type="presOf" srcId="{13EEF62F-A75D-425C-9985-7EB365AA9981}" destId="{531B013F-5773-4683-803F-B22CFDAF9D6E}" srcOrd="1" destOrd="0" presId="urn:microsoft.com/office/officeart/2016/7/layout/LinearBlockProcessNumbered"/>
    <dgm:cxn modelId="{22857BB4-4175-4385-A31D-2E16E9ADAD40}" type="presOf" srcId="{C0397F11-A5D5-4105-A15D-B1FAB31D869D}" destId="{2DD17FF2-E658-4F52-A096-4A48913EE1D0}" srcOrd="1" destOrd="0" presId="urn:microsoft.com/office/officeart/2016/7/layout/LinearBlockProcessNumbered"/>
    <dgm:cxn modelId="{4BC854BB-302C-40AC-AAB6-8E380516FCA2}" type="presOf" srcId="{05126756-4A1A-4408-9E4F-15AD4F835E42}" destId="{FA13722A-C8F8-4DF5-8383-C7F54D1189E0}" srcOrd="0" destOrd="0" presId="urn:microsoft.com/office/officeart/2016/7/layout/LinearBlockProcessNumbered"/>
    <dgm:cxn modelId="{E4EB77BE-633C-4B08-A95C-2642F2375FFB}" type="presOf" srcId="{D8D17A69-4468-4E35-99E3-C5621252495D}" destId="{B403B543-DD11-4409-B2C2-FC62AA351536}" srcOrd="0" destOrd="0" presId="urn:microsoft.com/office/officeart/2016/7/layout/LinearBlockProcessNumbered"/>
    <dgm:cxn modelId="{0496F9CF-8E21-4ED6-A0CA-CC530AAD745D}" type="presOf" srcId="{C1A359E3-9B30-47D0-8477-BF90AFD5304A}" destId="{6DA8250E-E551-47E3-BCCA-F93A2E94EF2C}" srcOrd="1" destOrd="0" presId="urn:microsoft.com/office/officeart/2016/7/layout/LinearBlockProcessNumbered"/>
    <dgm:cxn modelId="{BEC1E1E4-B527-4A42-B1E0-CA99B10ED6C0}" type="presOf" srcId="{D1B2A87D-2F13-451A-8C7B-23487C3A2129}" destId="{A9A94265-25C6-4B83-B46F-BC37A5F31D9D}" srcOrd="0" destOrd="0" presId="urn:microsoft.com/office/officeart/2016/7/layout/LinearBlockProcessNumbered"/>
    <dgm:cxn modelId="{62F71AEB-8E81-433B-86ED-602AA09B82D3}" srcId="{D1B2A87D-2F13-451A-8C7B-23487C3A2129}" destId="{D8D17A69-4468-4E35-99E3-C5621252495D}" srcOrd="3" destOrd="0" parTransId="{A648C1AE-260A-4E45-BF29-49FF75E834D1}" sibTransId="{54BAFE78-794D-4C31-A2A6-9426766E7A2B}"/>
    <dgm:cxn modelId="{D0144CF8-45C1-41C7-929C-AD09163DBAFB}" type="presParOf" srcId="{A9A94265-25C6-4B83-B46F-BC37A5F31D9D}" destId="{1A869FB8-E1E8-4651-84A7-9AE97688BE85}" srcOrd="0" destOrd="0" presId="urn:microsoft.com/office/officeart/2016/7/layout/LinearBlockProcessNumbered"/>
    <dgm:cxn modelId="{C6414A32-D06E-430B-8A78-EDBB68B4CB59}" type="presParOf" srcId="{1A869FB8-E1E8-4651-84A7-9AE97688BE85}" destId="{88B9E288-748F-4A45-9C44-ED6D6D1942D9}" srcOrd="0" destOrd="0" presId="urn:microsoft.com/office/officeart/2016/7/layout/LinearBlockProcessNumbered"/>
    <dgm:cxn modelId="{43710AAA-3202-4BFE-A5C3-461EF0A53717}" type="presParOf" srcId="{1A869FB8-E1E8-4651-84A7-9AE97688BE85}" destId="{A3F42375-5BDA-45F4-A917-F208451319A5}" srcOrd="1" destOrd="0" presId="urn:microsoft.com/office/officeart/2016/7/layout/LinearBlockProcessNumbered"/>
    <dgm:cxn modelId="{B3718A7E-17CB-4872-8762-66CE29FDF0C0}" type="presParOf" srcId="{1A869FB8-E1E8-4651-84A7-9AE97688BE85}" destId="{CE4A6823-4FB9-46FF-8E80-9B4DC05F526D}" srcOrd="2" destOrd="0" presId="urn:microsoft.com/office/officeart/2016/7/layout/LinearBlockProcessNumbered"/>
    <dgm:cxn modelId="{F2D52369-C8D0-47CA-B2E9-02BCD68B8B7A}" type="presParOf" srcId="{A9A94265-25C6-4B83-B46F-BC37A5F31D9D}" destId="{B9810344-1F2D-47CB-9F72-147A57CD4053}" srcOrd="1" destOrd="0" presId="urn:microsoft.com/office/officeart/2016/7/layout/LinearBlockProcessNumbered"/>
    <dgm:cxn modelId="{A7F00B63-280D-45A2-B0F6-0AA360458BF9}" type="presParOf" srcId="{A9A94265-25C6-4B83-B46F-BC37A5F31D9D}" destId="{38A5FCEA-7E42-477F-A56C-CCD8FF042A1F}" srcOrd="2" destOrd="0" presId="urn:microsoft.com/office/officeart/2016/7/layout/LinearBlockProcessNumbered"/>
    <dgm:cxn modelId="{81154529-975F-4D1F-B983-E1B1E2CC4025}" type="presParOf" srcId="{38A5FCEA-7E42-477F-A56C-CCD8FF042A1F}" destId="{AC52FAE2-8E18-4243-883A-899D128DA71E}" srcOrd="0" destOrd="0" presId="urn:microsoft.com/office/officeart/2016/7/layout/LinearBlockProcessNumbered"/>
    <dgm:cxn modelId="{890AF389-4B3F-47FE-BD33-DE84A197D88A}" type="presParOf" srcId="{38A5FCEA-7E42-477F-A56C-CCD8FF042A1F}" destId="{4B340F8A-A40D-4E6A-A767-A5850F5FEA84}" srcOrd="1" destOrd="0" presId="urn:microsoft.com/office/officeart/2016/7/layout/LinearBlockProcessNumbered"/>
    <dgm:cxn modelId="{9D2D6310-7024-46B3-BE36-F7737227B88E}" type="presParOf" srcId="{38A5FCEA-7E42-477F-A56C-CCD8FF042A1F}" destId="{6DA8250E-E551-47E3-BCCA-F93A2E94EF2C}" srcOrd="2" destOrd="0" presId="urn:microsoft.com/office/officeart/2016/7/layout/LinearBlockProcessNumbered"/>
    <dgm:cxn modelId="{149343F1-1BD0-4500-A178-D34D49B11757}" type="presParOf" srcId="{A9A94265-25C6-4B83-B46F-BC37A5F31D9D}" destId="{298558E6-BCB9-4838-9F64-E0BC0AAC18FC}" srcOrd="3" destOrd="0" presId="urn:microsoft.com/office/officeart/2016/7/layout/LinearBlockProcessNumbered"/>
    <dgm:cxn modelId="{E7A913EC-AD58-4C29-B0FC-87E246CB80BA}" type="presParOf" srcId="{A9A94265-25C6-4B83-B46F-BC37A5F31D9D}" destId="{F29B885B-2FC1-4A9D-B27F-C7CAA53E9249}" srcOrd="4" destOrd="0" presId="urn:microsoft.com/office/officeart/2016/7/layout/LinearBlockProcessNumbered"/>
    <dgm:cxn modelId="{FA0FB819-4289-4344-9482-7BEEC5806EF6}" type="presParOf" srcId="{F29B885B-2FC1-4A9D-B27F-C7CAA53E9249}" destId="{5CE31F5E-3D4F-42A7-86EA-E5406EBDFEB8}" srcOrd="0" destOrd="0" presId="urn:microsoft.com/office/officeart/2016/7/layout/LinearBlockProcessNumbered"/>
    <dgm:cxn modelId="{0E017613-37F5-49FB-88EA-20C4AD7EDEB8}" type="presParOf" srcId="{F29B885B-2FC1-4A9D-B27F-C7CAA53E9249}" destId="{FA13722A-C8F8-4DF5-8383-C7F54D1189E0}" srcOrd="1" destOrd="0" presId="urn:microsoft.com/office/officeart/2016/7/layout/LinearBlockProcessNumbered"/>
    <dgm:cxn modelId="{E19612B1-AF66-45F0-AD3A-68AB099CBA17}" type="presParOf" srcId="{F29B885B-2FC1-4A9D-B27F-C7CAA53E9249}" destId="{2DD17FF2-E658-4F52-A096-4A48913EE1D0}" srcOrd="2" destOrd="0" presId="urn:microsoft.com/office/officeart/2016/7/layout/LinearBlockProcessNumbered"/>
    <dgm:cxn modelId="{707F225C-DA65-448B-A5AB-730CF35FE7B4}" type="presParOf" srcId="{A9A94265-25C6-4B83-B46F-BC37A5F31D9D}" destId="{819239EB-8FC2-4F2D-8AB7-09E1B35738E5}" srcOrd="5" destOrd="0" presId="urn:microsoft.com/office/officeart/2016/7/layout/LinearBlockProcessNumbered"/>
    <dgm:cxn modelId="{37C4D4BA-C30C-4B0A-B32D-708063DC4677}" type="presParOf" srcId="{A9A94265-25C6-4B83-B46F-BC37A5F31D9D}" destId="{411F30F9-94DC-4FDF-BC2E-3C3594A7EAFA}" srcOrd="6" destOrd="0" presId="urn:microsoft.com/office/officeart/2016/7/layout/LinearBlockProcessNumbered"/>
    <dgm:cxn modelId="{30BA3037-1C2A-4951-A6A6-5EBCAA814C38}" type="presParOf" srcId="{411F30F9-94DC-4FDF-BC2E-3C3594A7EAFA}" destId="{B403B543-DD11-4409-B2C2-FC62AA351536}" srcOrd="0" destOrd="0" presId="urn:microsoft.com/office/officeart/2016/7/layout/LinearBlockProcessNumbered"/>
    <dgm:cxn modelId="{05E48820-9CF3-4643-A59D-7035E0618B7B}" type="presParOf" srcId="{411F30F9-94DC-4FDF-BC2E-3C3594A7EAFA}" destId="{38736566-E015-47BE-8DA2-616FA0E8EDC1}" srcOrd="1" destOrd="0" presId="urn:microsoft.com/office/officeart/2016/7/layout/LinearBlockProcessNumbered"/>
    <dgm:cxn modelId="{9EBEAB5E-23AB-4CE5-BF5A-2788BC8288C1}" type="presParOf" srcId="{411F30F9-94DC-4FDF-BC2E-3C3594A7EAFA}" destId="{E8066619-1888-432A-A1C7-63B142626CE1}" srcOrd="2" destOrd="0" presId="urn:microsoft.com/office/officeart/2016/7/layout/LinearBlockProcessNumbered"/>
    <dgm:cxn modelId="{7684F319-919B-47DF-BA85-1F7B4DE85B52}" type="presParOf" srcId="{A9A94265-25C6-4B83-B46F-BC37A5F31D9D}" destId="{D3027E4E-EE2B-4C86-B84F-BE5117A57470}" srcOrd="7" destOrd="0" presId="urn:microsoft.com/office/officeart/2016/7/layout/LinearBlockProcessNumbered"/>
    <dgm:cxn modelId="{3EC1EF03-2C80-4E87-8A83-1E5CC033B4BF}" type="presParOf" srcId="{A9A94265-25C6-4B83-B46F-BC37A5F31D9D}" destId="{7493B1E8-43BB-4AA9-A199-CD2C59F661EC}" srcOrd="8" destOrd="0" presId="urn:microsoft.com/office/officeart/2016/7/layout/LinearBlockProcessNumbered"/>
    <dgm:cxn modelId="{3ADA5078-BDAB-4C7C-A9CB-2B654BF0C944}" type="presParOf" srcId="{7493B1E8-43BB-4AA9-A199-CD2C59F661EC}" destId="{D7F93A76-54BE-4FB1-9961-A82A815E1B85}" srcOrd="0" destOrd="0" presId="urn:microsoft.com/office/officeart/2016/7/layout/LinearBlockProcessNumbered"/>
    <dgm:cxn modelId="{9D74889C-E89C-47F5-BB3F-899464647AB4}" type="presParOf" srcId="{7493B1E8-43BB-4AA9-A199-CD2C59F661EC}" destId="{9BA9C313-D1E1-4D90-B8FB-F26998016E8F}" srcOrd="1" destOrd="0" presId="urn:microsoft.com/office/officeart/2016/7/layout/LinearBlockProcessNumbered"/>
    <dgm:cxn modelId="{A750E7F3-BF13-461C-9924-F272D22D3AC0}" type="presParOf" srcId="{7493B1E8-43BB-4AA9-A199-CD2C59F661EC}" destId="{531B013F-5773-4683-803F-B22CFDAF9D6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89709-0EAB-4AC6-99A1-3F3F57087438}">
      <dsp:nvSpPr>
        <dsp:cNvPr id="0" name=""/>
        <dsp:cNvSpPr/>
      </dsp:nvSpPr>
      <dsp:spPr>
        <a:xfrm>
          <a:off x="0" y="706"/>
          <a:ext cx="694944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EEE18B-7CB3-47A3-8FB4-6C076DE651A9}">
      <dsp:nvSpPr>
        <dsp:cNvPr id="0" name=""/>
        <dsp:cNvSpPr/>
      </dsp:nvSpPr>
      <dsp:spPr>
        <a:xfrm>
          <a:off x="0" y="70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Name</a:t>
          </a:r>
          <a:r>
            <a:rPr lang="en-US" sz="4200" kern="1200"/>
            <a:t>: Eric Burcham</a:t>
          </a:r>
        </a:p>
      </dsp:txBody>
      <dsp:txXfrm>
        <a:off x="0" y="706"/>
        <a:ext cx="6949440" cy="1157044"/>
      </dsp:txXfrm>
    </dsp:sp>
    <dsp:sp modelId="{2DD5F8FE-0BE2-400B-B95D-0E015D6A6802}">
      <dsp:nvSpPr>
        <dsp:cNvPr id="0" name=""/>
        <dsp:cNvSpPr/>
      </dsp:nvSpPr>
      <dsp:spPr>
        <a:xfrm>
          <a:off x="0" y="1157751"/>
          <a:ext cx="6949440" cy="0"/>
        </a:xfrm>
        <a:prstGeom prst="line">
          <a:avLst/>
        </a:prstGeom>
        <a:solidFill>
          <a:schemeClr val="accent2">
            <a:hueOff val="-63113"/>
            <a:satOff val="5183"/>
            <a:lumOff val="-4314"/>
            <a:alphaOff val="0"/>
          </a:schemeClr>
        </a:solidFill>
        <a:ln w="12700" cap="flat" cmpd="sng" algn="ctr">
          <a:solidFill>
            <a:schemeClr val="accent2">
              <a:hueOff val="-63113"/>
              <a:satOff val="5183"/>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575711-B787-4D7B-AC4A-C6AFBB631158}">
      <dsp:nvSpPr>
        <dsp:cNvPr id="0" name=""/>
        <dsp:cNvSpPr/>
      </dsp:nvSpPr>
      <dsp:spPr>
        <a:xfrm>
          <a:off x="0" y="1157751"/>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Title</a:t>
          </a:r>
          <a:r>
            <a:rPr lang="en-US" sz="4200" kern="1200"/>
            <a:t>: Enterprise Architect</a:t>
          </a:r>
        </a:p>
      </dsp:txBody>
      <dsp:txXfrm>
        <a:off x="0" y="1157751"/>
        <a:ext cx="6949440" cy="1157044"/>
      </dsp:txXfrm>
    </dsp:sp>
    <dsp:sp modelId="{CE454F7F-BD44-4B02-9FBE-C9C19D99B9BF}">
      <dsp:nvSpPr>
        <dsp:cNvPr id="0" name=""/>
        <dsp:cNvSpPr/>
      </dsp:nvSpPr>
      <dsp:spPr>
        <a:xfrm>
          <a:off x="0" y="2314796"/>
          <a:ext cx="6949440" cy="0"/>
        </a:xfrm>
        <a:prstGeom prst="line">
          <a:avLst/>
        </a:prstGeom>
        <a:solidFill>
          <a:schemeClr val="accent2">
            <a:hueOff val="-126227"/>
            <a:satOff val="10366"/>
            <a:lumOff val="-8627"/>
            <a:alphaOff val="0"/>
          </a:schemeClr>
        </a:solidFill>
        <a:ln w="12700" cap="flat" cmpd="sng" algn="ctr">
          <a:solidFill>
            <a:schemeClr val="accent2">
              <a:hueOff val="-126227"/>
              <a:satOff val="10366"/>
              <a:lumOff val="-86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98627-26DF-4AE7-9C73-A56038C72457}">
      <dsp:nvSpPr>
        <dsp:cNvPr id="0" name=""/>
        <dsp:cNvSpPr/>
      </dsp:nvSpPr>
      <dsp:spPr>
        <a:xfrm>
          <a:off x="0" y="231479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Email</a:t>
          </a:r>
          <a:r>
            <a:rPr lang="en-US" sz="4200" kern="1200"/>
            <a:t>: </a:t>
          </a:r>
          <a:r>
            <a:rPr lang="en-US" sz="4200" kern="1200">
              <a:hlinkClick xmlns:r="http://schemas.openxmlformats.org/officeDocument/2006/relationships" r:id="rId1"/>
            </a:rPr>
            <a:t>eburcham@eprod.com</a:t>
          </a:r>
          <a:endParaRPr lang="en-US" sz="4200" kern="1200"/>
        </a:p>
      </dsp:txBody>
      <dsp:txXfrm>
        <a:off x="0" y="2314796"/>
        <a:ext cx="6949440" cy="1157044"/>
      </dsp:txXfrm>
    </dsp:sp>
    <dsp:sp modelId="{A9224547-667A-4F63-9935-A901F8C8D205}">
      <dsp:nvSpPr>
        <dsp:cNvPr id="0" name=""/>
        <dsp:cNvSpPr/>
      </dsp:nvSpPr>
      <dsp:spPr>
        <a:xfrm>
          <a:off x="0" y="3471840"/>
          <a:ext cx="6949440" cy="0"/>
        </a:xfrm>
        <a:prstGeom prst="line">
          <a:avLst/>
        </a:prstGeom>
        <a:solidFill>
          <a:schemeClr val="accent2">
            <a:hueOff val="-189340"/>
            <a:satOff val="15548"/>
            <a:lumOff val="-12941"/>
            <a:alphaOff val="0"/>
          </a:schemeClr>
        </a:solidFill>
        <a:ln w="12700" cap="flat" cmpd="sng" algn="ctr">
          <a:solidFill>
            <a:schemeClr val="accent2">
              <a:hueOff val="-189340"/>
              <a:satOff val="15548"/>
              <a:lumOff val="-1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4E550C-EEFD-4232-B27B-3E5CC6280267}">
      <dsp:nvSpPr>
        <dsp:cNvPr id="0" name=""/>
        <dsp:cNvSpPr/>
      </dsp:nvSpPr>
      <dsp:spPr>
        <a:xfrm>
          <a:off x="0" y="3471840"/>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Extension</a:t>
          </a:r>
          <a:r>
            <a:rPr lang="en-US" sz="4200" kern="1200"/>
            <a:t>: 4103</a:t>
          </a:r>
        </a:p>
      </dsp:txBody>
      <dsp:txXfrm>
        <a:off x="0" y="3471840"/>
        <a:ext cx="6949440" cy="1157044"/>
      </dsp:txXfrm>
    </dsp:sp>
    <dsp:sp modelId="{3F21D0B2-1E69-464E-ADF1-CD40D9ADE1ED}">
      <dsp:nvSpPr>
        <dsp:cNvPr id="0" name=""/>
        <dsp:cNvSpPr/>
      </dsp:nvSpPr>
      <dsp:spPr>
        <a:xfrm>
          <a:off x="0" y="4628885"/>
          <a:ext cx="6949440" cy="0"/>
        </a:xfrm>
        <a:prstGeom prst="line">
          <a:avLst/>
        </a:prstGeom>
        <a:solidFill>
          <a:schemeClr val="accent2">
            <a:hueOff val="-252454"/>
            <a:satOff val="20731"/>
            <a:lumOff val="-17254"/>
            <a:alphaOff val="0"/>
          </a:schemeClr>
        </a:solidFill>
        <a:ln w="12700" cap="flat" cmpd="sng" algn="ctr">
          <a:solidFill>
            <a:schemeClr val="accent2">
              <a:hueOff val="-252454"/>
              <a:satOff val="20731"/>
              <a:lumOff val="-172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A56787-B8ED-44B1-836A-DACCF3ABEC3F}">
      <dsp:nvSpPr>
        <dsp:cNvPr id="0" name=""/>
        <dsp:cNvSpPr/>
      </dsp:nvSpPr>
      <dsp:spPr>
        <a:xfrm>
          <a:off x="0" y="4628885"/>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US" sz="4200" b="1" kern="1200"/>
            <a:t>Working Group</a:t>
          </a:r>
          <a:r>
            <a:rPr lang="en-US" sz="4200" kern="1200"/>
            <a:t>: IT Applications</a:t>
          </a:r>
        </a:p>
      </dsp:txBody>
      <dsp:txXfrm>
        <a:off x="0" y="4628885"/>
        <a:ext cx="6949440" cy="1157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9E288-748F-4A45-9C44-ED6D6D1942D9}">
      <dsp:nvSpPr>
        <dsp:cNvPr id="0" name=""/>
        <dsp:cNvSpPr/>
      </dsp:nvSpPr>
      <dsp:spPr>
        <a:xfrm>
          <a:off x="6573" y="974257"/>
          <a:ext cx="2054866" cy="246583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Revisit the prompting framework</a:t>
          </a:r>
        </a:p>
      </dsp:txBody>
      <dsp:txXfrm>
        <a:off x="6573" y="1960593"/>
        <a:ext cx="2054866" cy="1479503"/>
      </dsp:txXfrm>
    </dsp:sp>
    <dsp:sp modelId="{A3F42375-5BDA-45F4-A917-F208451319A5}">
      <dsp:nvSpPr>
        <dsp:cNvPr id="0" name=""/>
        <dsp:cNvSpPr/>
      </dsp:nvSpPr>
      <dsp:spPr>
        <a:xfrm>
          <a:off x="6573" y="974257"/>
          <a:ext cx="2054866" cy="9863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dirty="0"/>
            <a:t>01</a:t>
          </a:r>
        </a:p>
      </dsp:txBody>
      <dsp:txXfrm>
        <a:off x="6573" y="974257"/>
        <a:ext cx="2054866" cy="986335"/>
      </dsp:txXfrm>
    </dsp:sp>
    <dsp:sp modelId="{AC52FAE2-8E18-4243-883A-899D128DA71E}">
      <dsp:nvSpPr>
        <dsp:cNvPr id="0" name=""/>
        <dsp:cNvSpPr/>
      </dsp:nvSpPr>
      <dsp:spPr>
        <a:xfrm>
          <a:off x="2225829" y="974257"/>
          <a:ext cx="2054866" cy="246583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Separate prompts into shorter sentences</a:t>
          </a:r>
        </a:p>
      </dsp:txBody>
      <dsp:txXfrm>
        <a:off x="2225829" y="1960593"/>
        <a:ext cx="2054866" cy="1479503"/>
      </dsp:txXfrm>
    </dsp:sp>
    <dsp:sp modelId="{4B340F8A-A40D-4E6A-A767-A5850F5FEA84}">
      <dsp:nvSpPr>
        <dsp:cNvPr id="0" name=""/>
        <dsp:cNvSpPr/>
      </dsp:nvSpPr>
      <dsp:spPr>
        <a:xfrm>
          <a:off x="2225829" y="974257"/>
          <a:ext cx="2054866" cy="9863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02</a:t>
          </a:r>
        </a:p>
      </dsp:txBody>
      <dsp:txXfrm>
        <a:off x="2225829" y="974257"/>
        <a:ext cx="2054866" cy="986335"/>
      </dsp:txXfrm>
    </dsp:sp>
    <dsp:sp modelId="{5CE31F5E-3D4F-42A7-86EA-E5406EBDFEB8}">
      <dsp:nvSpPr>
        <dsp:cNvPr id="0" name=""/>
        <dsp:cNvSpPr/>
      </dsp:nvSpPr>
      <dsp:spPr>
        <a:xfrm>
          <a:off x="4445085" y="974257"/>
          <a:ext cx="2054866" cy="246583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Try rephrasing or switching to an alternate task</a:t>
          </a:r>
        </a:p>
      </dsp:txBody>
      <dsp:txXfrm>
        <a:off x="4445085" y="1960593"/>
        <a:ext cx="2054866" cy="1479503"/>
      </dsp:txXfrm>
    </dsp:sp>
    <dsp:sp modelId="{FA13722A-C8F8-4DF5-8383-C7F54D1189E0}">
      <dsp:nvSpPr>
        <dsp:cNvPr id="0" name=""/>
        <dsp:cNvSpPr/>
      </dsp:nvSpPr>
      <dsp:spPr>
        <a:xfrm>
          <a:off x="4445085" y="974257"/>
          <a:ext cx="2054866" cy="9863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03</a:t>
          </a:r>
        </a:p>
      </dsp:txBody>
      <dsp:txXfrm>
        <a:off x="4445085" y="974257"/>
        <a:ext cx="2054866" cy="986335"/>
      </dsp:txXfrm>
    </dsp:sp>
    <dsp:sp modelId="{B403B543-DD11-4409-B2C2-FC62AA351536}">
      <dsp:nvSpPr>
        <dsp:cNvPr id="0" name=""/>
        <dsp:cNvSpPr/>
      </dsp:nvSpPr>
      <dsp:spPr>
        <a:xfrm>
          <a:off x="6664341" y="974257"/>
          <a:ext cx="2054866" cy="246583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Introduce constraints</a:t>
          </a:r>
        </a:p>
      </dsp:txBody>
      <dsp:txXfrm>
        <a:off x="6664341" y="1960593"/>
        <a:ext cx="2054866" cy="1479503"/>
      </dsp:txXfrm>
    </dsp:sp>
    <dsp:sp modelId="{38736566-E015-47BE-8DA2-616FA0E8EDC1}">
      <dsp:nvSpPr>
        <dsp:cNvPr id="0" name=""/>
        <dsp:cNvSpPr/>
      </dsp:nvSpPr>
      <dsp:spPr>
        <a:xfrm>
          <a:off x="6664341" y="974257"/>
          <a:ext cx="2054866" cy="9863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04</a:t>
          </a:r>
        </a:p>
      </dsp:txBody>
      <dsp:txXfrm>
        <a:off x="6664341" y="974257"/>
        <a:ext cx="2054866" cy="986335"/>
      </dsp:txXfrm>
    </dsp:sp>
    <dsp:sp modelId="{D7F93A76-54BE-4FB1-9961-A82A815E1B85}">
      <dsp:nvSpPr>
        <dsp:cNvPr id="0" name=""/>
        <dsp:cNvSpPr/>
      </dsp:nvSpPr>
      <dsp:spPr>
        <a:xfrm>
          <a:off x="8883596" y="974257"/>
          <a:ext cx="2054866" cy="246583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b="1" i="1" kern="1200"/>
            <a:t>R</a:t>
          </a:r>
          <a:r>
            <a:rPr lang="en-US" sz="2000" kern="1200"/>
            <a:t>epair </a:t>
          </a:r>
          <a:r>
            <a:rPr lang="en-US" sz="2000" b="1" i="1" kern="1200"/>
            <a:t>S</a:t>
          </a:r>
          <a:r>
            <a:rPr lang="en-US" sz="2000" kern="1200"/>
            <a:t>omething </a:t>
          </a:r>
          <a:r>
            <a:rPr lang="en-US" sz="2000" b="1" i="1" kern="1200"/>
            <a:t>T</a:t>
          </a:r>
          <a:r>
            <a:rPr lang="en-US" sz="2000" kern="1200"/>
            <a:t>hrough </a:t>
          </a:r>
          <a:r>
            <a:rPr lang="en-US" sz="2000" b="1" i="1" kern="1200"/>
            <a:t>I</a:t>
          </a:r>
          <a:r>
            <a:rPr lang="en-US" sz="2000" kern="1200"/>
            <a:t>teration</a:t>
          </a:r>
        </a:p>
      </dsp:txBody>
      <dsp:txXfrm>
        <a:off x="8883596" y="1960593"/>
        <a:ext cx="2054866" cy="1479503"/>
      </dsp:txXfrm>
    </dsp:sp>
    <dsp:sp modelId="{9BA9C313-D1E1-4D90-B8FB-F26998016E8F}">
      <dsp:nvSpPr>
        <dsp:cNvPr id="0" name=""/>
        <dsp:cNvSpPr/>
      </dsp:nvSpPr>
      <dsp:spPr>
        <a:xfrm>
          <a:off x="8883596" y="974257"/>
          <a:ext cx="2054866" cy="98633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89150">
            <a:lnSpc>
              <a:spcPct val="90000"/>
            </a:lnSpc>
            <a:spcBef>
              <a:spcPct val="0"/>
            </a:spcBef>
            <a:spcAft>
              <a:spcPct val="35000"/>
            </a:spcAft>
            <a:buNone/>
          </a:pPr>
          <a:r>
            <a:rPr lang="en-US" sz="4700" kern="1200"/>
            <a:t>05</a:t>
          </a:r>
        </a:p>
      </dsp:txBody>
      <dsp:txXfrm>
        <a:off x="8883596" y="974257"/>
        <a:ext cx="2054866" cy="9863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F9A529-3DD5-B4E0-E389-ECF581BBD245}"/>
              </a:ext>
            </a:extLst>
          </p:cNvPr>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A147F1DB-B7CF-70C9-3349-22D08160E430}"/>
              </a:ext>
            </a:extLst>
          </p:cNvPr>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190DF929-7875-427E-B057-1DAB488053C4}" type="datetimeFigureOut">
              <a:rPr lang="en-US" smtClean="0"/>
              <a:t>7/2/2025</a:t>
            </a:fld>
            <a:endParaRPr lang="en-US" dirty="0"/>
          </a:p>
        </p:txBody>
      </p:sp>
      <p:sp>
        <p:nvSpPr>
          <p:cNvPr id="4" name="Footer Placeholder 3">
            <a:extLst>
              <a:ext uri="{FF2B5EF4-FFF2-40B4-BE49-F238E27FC236}">
                <a16:creationId xmlns:a16="http://schemas.microsoft.com/office/drawing/2014/main" id="{A9DD7A89-79C0-DA25-81D2-49BBE1D4A7DC}"/>
              </a:ext>
            </a:extLst>
          </p:cNvPr>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4D900CE-72FF-ED0F-97DC-EA2F0D0A0B6D}"/>
              </a:ext>
            </a:extLst>
          </p:cNvPr>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D479E32A-E7BB-46CC-B3F6-B355AB62BBE3}" type="slidenum">
              <a:rPr lang="en-US" smtClean="0"/>
              <a:t>‹#›</a:t>
            </a:fld>
            <a:endParaRPr lang="en-US" dirty="0"/>
          </a:p>
        </p:txBody>
      </p:sp>
    </p:spTree>
    <p:extLst>
      <p:ext uri="{BB962C8B-B14F-4D97-AF65-F5344CB8AC3E}">
        <p14:creationId xmlns:p14="http://schemas.microsoft.com/office/powerpoint/2010/main" val="260998646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D9E82945-F922-4AE6-B661-C701060CD9FE}" type="datetimeFigureOut">
              <a:rPr lang="en-US" smtClean="0"/>
              <a:t>7/2/2025</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F6B02985-020E-47D3-B181-4DD5FDED4A56}" type="slidenum">
              <a:rPr lang="en-US" smtClean="0"/>
              <a:t>‹#›</a:t>
            </a:fld>
            <a:endParaRPr lang="en-US" dirty="0"/>
          </a:p>
        </p:txBody>
      </p:sp>
    </p:spTree>
    <p:extLst>
      <p:ext uri="{BB962C8B-B14F-4D97-AF65-F5344CB8AC3E}">
        <p14:creationId xmlns:p14="http://schemas.microsoft.com/office/powerpoint/2010/main" val="36030653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will be Wednesday’s safety moment.</a:t>
            </a:r>
          </a:p>
        </p:txBody>
      </p:sp>
      <p:sp>
        <p:nvSpPr>
          <p:cNvPr id="4" name="Slide Number Placeholder 3"/>
          <p:cNvSpPr>
            <a:spLocks noGrp="1"/>
          </p:cNvSpPr>
          <p:nvPr>
            <p:ph type="sldNum" sz="quarter" idx="5"/>
          </p:nvPr>
        </p:nvSpPr>
        <p:spPr/>
        <p:txBody>
          <a:bodyPr/>
          <a:lstStyle/>
          <a:p>
            <a:fld id="{F6B02985-020E-47D3-B181-4DD5FDED4A56}" type="slidenum">
              <a:rPr lang="en-US" smtClean="0"/>
              <a:t>2</a:t>
            </a:fld>
            <a:endParaRPr lang="en-US" dirty="0"/>
          </a:p>
        </p:txBody>
      </p:sp>
    </p:spTree>
    <p:extLst>
      <p:ext uri="{BB962C8B-B14F-4D97-AF65-F5344CB8AC3E}">
        <p14:creationId xmlns:p14="http://schemas.microsoft.com/office/powerpoint/2010/main" val="1864051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really not crazy about just reading all this.</a:t>
            </a:r>
          </a:p>
        </p:txBody>
      </p:sp>
      <p:sp>
        <p:nvSpPr>
          <p:cNvPr id="4" name="Slide Number Placeholder 3"/>
          <p:cNvSpPr>
            <a:spLocks noGrp="1"/>
          </p:cNvSpPr>
          <p:nvPr>
            <p:ph type="sldNum" sz="quarter" idx="5"/>
          </p:nvPr>
        </p:nvSpPr>
        <p:spPr/>
        <p:txBody>
          <a:bodyPr/>
          <a:lstStyle/>
          <a:p>
            <a:fld id="{F6B02985-020E-47D3-B181-4DD5FDED4A56}" type="slidenum">
              <a:rPr lang="en-US" smtClean="0"/>
              <a:t>3</a:t>
            </a:fld>
            <a:endParaRPr lang="en-US" dirty="0"/>
          </a:p>
        </p:txBody>
      </p:sp>
    </p:spTree>
    <p:extLst>
      <p:ext uri="{BB962C8B-B14F-4D97-AF65-F5344CB8AC3E}">
        <p14:creationId xmlns:p14="http://schemas.microsoft.com/office/powerpoint/2010/main" val="14831417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 asked Copilot how it thought this would go.</a:t>
            </a:r>
          </a:p>
          <a:p>
            <a:pPr marL="171450" indent="-171450">
              <a:buFont typeface="Arial" panose="020B0604020202020204" pitchFamily="34" charset="0"/>
              <a:buChar char="•"/>
            </a:pPr>
            <a:r>
              <a:rPr lang="en-US" dirty="0"/>
              <a:t>This was the result.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 apologizing in advance.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6</a:t>
            </a:fld>
            <a:endParaRPr lang="en-US"/>
          </a:p>
        </p:txBody>
      </p:sp>
    </p:spTree>
    <p:extLst>
      <p:ext uri="{BB962C8B-B14F-4D97-AF65-F5344CB8AC3E}">
        <p14:creationId xmlns:p14="http://schemas.microsoft.com/office/powerpoint/2010/main" val="2085914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a Stuart-Approved Slide.</a:t>
            </a:r>
          </a:p>
          <a:p>
            <a:endParaRPr lang="en-US" b="0" dirty="0"/>
          </a:p>
          <a:p>
            <a:r>
              <a:rPr lang="en-US" b="1" dirty="0"/>
              <a:t>Acceptable Use Policy</a:t>
            </a:r>
          </a:p>
          <a:p>
            <a:pPr marL="171450" indent="-171450">
              <a:buFont typeface="Arial" panose="020B0604020202020204" pitchFamily="34" charset="0"/>
              <a:buChar char="•"/>
            </a:pPr>
            <a:r>
              <a:rPr lang="en-US" dirty="0"/>
              <a:t>Start with policy - not optional</a:t>
            </a:r>
          </a:p>
          <a:p>
            <a:pPr marL="171450" indent="-171450">
              <a:buFont typeface="Arial" panose="020B0604020202020204" pitchFamily="34" charset="0"/>
              <a:buChar char="•"/>
            </a:pPr>
            <a:r>
              <a:rPr lang="en-US" dirty="0"/>
              <a:t>Section 3.7.4 - AI requires approval</a:t>
            </a:r>
          </a:p>
          <a:p>
            <a:pPr marL="171450" indent="-171450">
              <a:buFont typeface="Arial" panose="020B0604020202020204" pitchFamily="34" charset="0"/>
              <a:buChar char="•"/>
            </a:pPr>
            <a:r>
              <a:rPr lang="en-US" dirty="0"/>
              <a:t>Data becomes AI training material</a:t>
            </a:r>
          </a:p>
          <a:p>
            <a:pPr marL="171450" indent="-171450">
              <a:buFont typeface="Arial" panose="020B0604020202020204" pitchFamily="34" charset="0"/>
              <a:buChar char="•"/>
            </a:pPr>
            <a:r>
              <a:rPr lang="en-US" dirty="0"/>
              <a:t>No control after submission</a:t>
            </a:r>
          </a:p>
          <a:p>
            <a:pPr marL="171450" indent="-171450">
              <a:buFont typeface="Arial" panose="020B0604020202020204" pitchFamily="34" charset="0"/>
              <a:buChar char="•"/>
            </a:pPr>
            <a:r>
              <a:rPr lang="en-US" dirty="0"/>
              <a:t>Legal risks - NDAs, regulations, IP</a:t>
            </a:r>
          </a:p>
          <a:p>
            <a:pPr marL="171450" indent="-171450">
              <a:buFont typeface="Arial" panose="020B0604020202020204" pitchFamily="34" charset="0"/>
              <a:buChar char="•"/>
            </a:pPr>
            <a:r>
              <a:rPr lang="en-US" dirty="0"/>
              <a:t>Competitive intel protection</a:t>
            </a:r>
          </a:p>
          <a:p>
            <a:pPr marL="171450" indent="-171450">
              <a:buFont typeface="Arial" panose="020B0604020202020204" pitchFamily="34" charset="0"/>
              <a:buChar char="•"/>
            </a:pPr>
            <a:r>
              <a:rPr lang="en-US" dirty="0"/>
              <a:t>Real examples: contracts, code, meetings, customer data</a:t>
            </a:r>
          </a:p>
          <a:p>
            <a:pPr marL="171450" indent="-171450">
              <a:buFont typeface="Arial" panose="020B0604020202020204" pitchFamily="34" charset="0"/>
              <a:buChar char="•"/>
            </a:pPr>
            <a:r>
              <a:rPr lang="en-US" dirty="0"/>
              <a:t>Personal account = still violation</a:t>
            </a:r>
          </a:p>
          <a:p>
            <a:pPr marL="171450" indent="-171450">
              <a:buFont typeface="Arial" panose="020B0604020202020204" pitchFamily="34" charset="0"/>
              <a:buChar char="•"/>
            </a:pPr>
            <a:r>
              <a:rPr lang="en-US" dirty="0"/>
              <a:t>Microsoft AI features - some approved, check with IT</a:t>
            </a:r>
          </a:p>
          <a:p>
            <a:pPr marL="171450" indent="-171450">
              <a:buFont typeface="Arial" panose="020B0604020202020204" pitchFamily="34" charset="0"/>
              <a:buChar char="•"/>
            </a:pPr>
            <a:r>
              <a:rPr lang="en-US" dirty="0"/>
              <a:t>Personal use OK but no company data</a:t>
            </a:r>
          </a:p>
          <a:p>
            <a:pPr marL="171450" indent="-171450">
              <a:buFont typeface="Arial" panose="020B0604020202020204" pitchFamily="34" charset="0"/>
              <a:buChar char="•"/>
            </a:pPr>
            <a:r>
              <a:rPr lang="en-US" dirty="0"/>
              <a:t>IT Security via Support Center for questions</a:t>
            </a:r>
          </a:p>
          <a:p>
            <a:pPr marL="171450" indent="-171450">
              <a:buFont typeface="Arial" panose="020B0604020202020204" pitchFamily="34" charset="0"/>
              <a:buChar char="•"/>
            </a:pPr>
            <a:r>
              <a:rPr lang="en-US" dirty="0"/>
              <a:t>Emphasize protection not restriction</a:t>
            </a:r>
          </a:p>
          <a:p>
            <a:pPr marL="171450" indent="-171450">
              <a:buFont typeface="Arial" panose="020B0604020202020204" pitchFamily="34" charset="0"/>
              <a:buChar char="•"/>
            </a:pPr>
            <a:r>
              <a:rPr lang="en-US" dirty="0"/>
              <a:t>Approved tools available through proper channels</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b="1" dirty="0"/>
              <a:t>If you need an exception…</a:t>
            </a:r>
            <a:endParaRPr lang="en-US" b="0" dirty="0"/>
          </a:p>
          <a:p>
            <a:pPr marL="0" indent="0">
              <a:buFont typeface="Arial" panose="020B0604020202020204" pitchFamily="34" charset="0"/>
              <a:buNone/>
            </a:pPr>
            <a:r>
              <a:rPr lang="en-US" b="0" dirty="0"/>
              <a:t>I think any an all ideas are useful.  We have resources outside of Copilot that are more private, and Copilot may be the answer too in some cases.  Talk to Lavina and she will get your idea moving the right direction.</a:t>
            </a: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7</a:t>
            </a:fld>
            <a:endParaRPr lang="en-US"/>
          </a:p>
        </p:txBody>
      </p:sp>
    </p:spTree>
    <p:extLst>
      <p:ext uri="{BB962C8B-B14F-4D97-AF65-F5344CB8AC3E}">
        <p14:creationId xmlns:p14="http://schemas.microsoft.com/office/powerpoint/2010/main" val="3364217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b="1" dirty="0"/>
              <a:t>Acceptable Use Policy</a:t>
            </a:r>
            <a:r>
              <a:rPr lang="en-US" dirty="0"/>
              <a:t> applies to use of Copilot and other GenAI</a:t>
            </a:r>
          </a:p>
          <a:p>
            <a:endParaRPr lang="en-US" b="0" dirty="0"/>
          </a:p>
          <a:p>
            <a:r>
              <a:rPr lang="en-US" b="1" dirty="0"/>
              <a:t>Copilot for web</a:t>
            </a:r>
            <a:r>
              <a:rPr lang="en-US" dirty="0"/>
              <a:t> has been authorized for company use</a:t>
            </a:r>
          </a:p>
          <a:p>
            <a:endParaRPr lang="en-US" b="0" dirty="0"/>
          </a:p>
          <a:p>
            <a:r>
              <a:rPr lang="en-US" b="1" dirty="0"/>
              <a:t>Copilot for Office</a:t>
            </a:r>
            <a:r>
              <a:rPr lang="en-US" dirty="0"/>
              <a:t> is currently being evaluated and use of proofs-of-concept, including for specific Mission: Reliable use cases.</a:t>
            </a:r>
          </a:p>
          <a:p>
            <a:endParaRPr lang="en-US" b="0" dirty="0"/>
          </a:p>
          <a:p>
            <a:r>
              <a:rPr lang="en-US" b="1" dirty="0"/>
              <a:t>Confidential company information</a:t>
            </a:r>
            <a:r>
              <a:rPr lang="en-US" dirty="0"/>
              <a:t> normally should not be uploaded to Copilot.  However, for Mission: Reliable, an exception has been granted to the Mission: Reliable team if the information is not highly sensitive (PII, commercial contracts, credentials, etc.).</a:t>
            </a:r>
          </a:p>
          <a:p>
            <a:endParaRPr lang="en-US" b="0" dirty="0"/>
          </a:p>
          <a:p>
            <a:r>
              <a:rPr lang="en-US" b="1" dirty="0"/>
              <a:t>If you have an additional use case</a:t>
            </a:r>
            <a:r>
              <a:rPr lang="en-US" dirty="0"/>
              <a:t> for Copilot that extends outside of the exception that has been granted or have a need for Copilot for Office (e.g., to use it against a larger set of documents) contact Lavina Fernandes.</a:t>
            </a:r>
          </a:p>
          <a:p>
            <a:endParaRPr lang="en-US" b="0" dirty="0"/>
          </a:p>
          <a:p>
            <a:r>
              <a:rPr lang="en-US" b="1" dirty="0"/>
              <a:t>Use of other cloud-based AI tools</a:t>
            </a:r>
            <a:r>
              <a:rPr lang="en-US" dirty="0"/>
              <a:t> that have not been specifically authorized by IT are not allowed.  You may request use through IT Compliance with a business case that cannot effectively be met with currently authorized cloud tools or other tools in our data center.</a:t>
            </a:r>
          </a:p>
          <a:p>
            <a:endParaRPr lang="en-US" dirty="0"/>
          </a:p>
        </p:txBody>
      </p:sp>
      <p:sp>
        <p:nvSpPr>
          <p:cNvPr id="4" name="Slide Number Placeholder 3"/>
          <p:cNvSpPr>
            <a:spLocks noGrp="1"/>
          </p:cNvSpPr>
          <p:nvPr>
            <p:ph type="sldNum" sz="quarter" idx="5"/>
          </p:nvPr>
        </p:nvSpPr>
        <p:spPr/>
        <p:txBody>
          <a:bodyPr/>
          <a:lstStyle/>
          <a:p>
            <a:fld id="{F6B02985-020E-47D3-B181-4DD5FDED4A56}" type="slidenum">
              <a:rPr lang="en-US" smtClean="0"/>
              <a:t>8</a:t>
            </a:fld>
            <a:endParaRPr lang="en-US" dirty="0"/>
          </a:p>
        </p:txBody>
      </p:sp>
    </p:spTree>
    <p:extLst>
      <p:ext uri="{BB962C8B-B14F-4D97-AF65-F5344CB8AC3E}">
        <p14:creationId xmlns:p14="http://schemas.microsoft.com/office/powerpoint/2010/main" val="1581553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Retention</a:t>
            </a:r>
            <a:endParaRPr lang="en-US" dirty="0"/>
          </a:p>
          <a:p>
            <a:pPr marL="171450" indent="-171450">
              <a:buFont typeface="Arial" panose="020B0604020202020204" pitchFamily="34" charset="0"/>
              <a:buChar char="•"/>
            </a:pPr>
            <a:r>
              <a:rPr lang="en-US" dirty="0"/>
              <a:t>Permanent data estate record</a:t>
            </a:r>
          </a:p>
          <a:p>
            <a:pPr marL="171450" indent="-171450">
              <a:buFont typeface="Arial" panose="020B0604020202020204" pitchFamily="34" charset="0"/>
              <a:buChar char="•"/>
            </a:pPr>
            <a:r>
              <a:rPr lang="en-US" dirty="0"/>
              <a:t>Discoverable in litigation</a:t>
            </a:r>
          </a:p>
          <a:p>
            <a:pPr marL="171450" indent="-171450">
              <a:buFont typeface="Arial" panose="020B0604020202020204" pitchFamily="34" charset="0"/>
              <a:buChar char="•"/>
            </a:pPr>
            <a:r>
              <a:rPr lang="en-US" dirty="0"/>
              <a:t>Train users on permanence</a:t>
            </a:r>
          </a:p>
          <a:p>
            <a:endParaRPr lang="en-US" b="0" dirty="0"/>
          </a:p>
          <a:p>
            <a:r>
              <a:rPr lang="en-US" b="1" dirty="0"/>
              <a:t>No Training</a:t>
            </a:r>
            <a:endParaRPr lang="en-US" dirty="0"/>
          </a:p>
          <a:p>
            <a:pPr marL="171450" indent="-171450">
              <a:buFont typeface="Arial" panose="020B0604020202020204" pitchFamily="34" charset="0"/>
              <a:buChar char="•"/>
            </a:pPr>
            <a:r>
              <a:rPr lang="en-US" dirty="0"/>
              <a:t>Positive: trade secrets safe</a:t>
            </a:r>
          </a:p>
          <a:p>
            <a:pPr marL="171450" indent="-171450">
              <a:buFont typeface="Arial" panose="020B0604020202020204" pitchFamily="34" charset="0"/>
              <a:buChar char="•"/>
            </a:pPr>
            <a:r>
              <a:rPr lang="en-US" dirty="0"/>
              <a:t>Still processed/stored by Microsoft</a:t>
            </a:r>
          </a:p>
          <a:p>
            <a:endParaRPr lang="en-US" b="0" dirty="0"/>
          </a:p>
          <a:p>
            <a:r>
              <a:rPr lang="en-US" b="1" dirty="0"/>
              <a:t>Compliance Gaps</a:t>
            </a:r>
            <a:endParaRPr lang="en-US" dirty="0"/>
          </a:p>
          <a:p>
            <a:pPr marL="171450" indent="-171450">
              <a:buFont typeface="Arial" panose="020B0604020202020204" pitchFamily="34" charset="0"/>
              <a:buChar char="•"/>
            </a:pPr>
            <a:r>
              <a:rPr lang="en-US" dirty="0"/>
              <a:t>Web searches lack DPA = FERC risk</a:t>
            </a:r>
          </a:p>
          <a:p>
            <a:pPr marL="171450" indent="-171450">
              <a:buFont typeface="Arial" panose="020B0604020202020204" pitchFamily="34" charset="0"/>
              <a:buChar char="•"/>
            </a:pPr>
            <a:r>
              <a:rPr lang="en-US" dirty="0"/>
              <a:t>CEII, pipeline data, non-public info</a:t>
            </a:r>
          </a:p>
          <a:p>
            <a:pPr marL="171450" indent="-171450">
              <a:buFont typeface="Arial" panose="020B0604020202020204" pitchFamily="34" charset="0"/>
              <a:buChar char="•"/>
            </a:pPr>
            <a:r>
              <a:rPr lang="en-US" dirty="0"/>
              <a:t>Standards of Conduct violations</a:t>
            </a:r>
          </a:p>
          <a:p>
            <a:endParaRPr lang="en-US" b="0" dirty="0"/>
          </a:p>
          <a:p>
            <a:r>
              <a:rPr lang="en-US" b="1" dirty="0"/>
              <a:t>OneDrive Storage</a:t>
            </a:r>
            <a:endParaRPr lang="en-US" dirty="0"/>
          </a:p>
          <a:p>
            <a:pPr marL="171450" indent="-171450">
              <a:buFont typeface="Arial" panose="020B0604020202020204" pitchFamily="34" charset="0"/>
              <a:buChar char="•"/>
            </a:pPr>
            <a:r>
              <a:rPr lang="en-US" dirty="0"/>
              <a:t>Files persist after chat ends</a:t>
            </a:r>
          </a:p>
          <a:p>
            <a:pPr marL="171450" indent="-171450">
              <a:buFont typeface="Arial" panose="020B0604020202020204" pitchFamily="34" charset="0"/>
              <a:buChar char="•"/>
            </a:pPr>
            <a:r>
              <a:rPr lang="en-US" dirty="0"/>
              <a:t>Manual deletion required</a:t>
            </a:r>
          </a:p>
          <a:p>
            <a:pPr marL="171450" indent="-171450">
              <a:buFont typeface="Arial" panose="020B0604020202020204" pitchFamily="34" charset="0"/>
              <a:buChar char="•"/>
            </a:pPr>
            <a:r>
              <a:rPr lang="en-US" dirty="0"/>
              <a:t>Data governance challenge</a:t>
            </a:r>
          </a:p>
          <a:p>
            <a:endParaRPr lang="en-US" b="0" dirty="0"/>
          </a:p>
          <a:p>
            <a:r>
              <a:rPr lang="en-US" b="1" dirty="0"/>
              <a:t>Data Leakage</a:t>
            </a:r>
            <a:endParaRPr lang="en-US" dirty="0"/>
          </a:p>
          <a:p>
            <a:pPr marL="171450" indent="-171450">
              <a:buFont typeface="Arial" panose="020B0604020202020204" pitchFamily="34" charset="0"/>
              <a:buChar char="•"/>
            </a:pPr>
            <a:r>
              <a:rPr lang="en-US" dirty="0"/>
              <a:t>Biggest risk = permanent confidential records</a:t>
            </a:r>
          </a:p>
          <a:p>
            <a:pPr marL="171450" indent="-171450">
              <a:buFont typeface="Arial" panose="020B0604020202020204" pitchFamily="34" charset="0"/>
              <a:buChar char="•"/>
            </a:pPr>
            <a:r>
              <a:rPr lang="en-US" dirty="0"/>
              <a:t>Examples: "termination letter for John Smith"</a:t>
            </a:r>
          </a:p>
          <a:p>
            <a:pPr marL="171450" indent="-171450">
              <a:buFont typeface="Arial" panose="020B0604020202020204" pitchFamily="34" charset="0"/>
              <a:buChar char="•"/>
            </a:pPr>
            <a:r>
              <a:rPr lang="en-US" dirty="0"/>
              <a:t>"Summarize acquisition strategy"</a:t>
            </a:r>
          </a:p>
          <a:p>
            <a:endParaRPr lang="en-US" b="0" dirty="0"/>
          </a:p>
          <a:p>
            <a:r>
              <a:rPr lang="en-US" b="1" dirty="0"/>
              <a:t>Copyright Protection</a:t>
            </a:r>
            <a:endParaRPr lang="en-US" dirty="0"/>
          </a:p>
          <a:p>
            <a:pPr marL="171450" indent="-171450">
              <a:buFont typeface="Arial" panose="020B0604020202020204" pitchFamily="34" charset="0"/>
              <a:buChar char="•"/>
            </a:pPr>
            <a:r>
              <a:rPr lang="en-US" dirty="0"/>
              <a:t>Microsoft indemnifies IP claims</a:t>
            </a:r>
          </a:p>
          <a:p>
            <a:pPr marL="171450" indent="-171450">
              <a:buFont typeface="Arial" panose="020B0604020202020204" pitchFamily="34" charset="0"/>
              <a:buChar char="•"/>
            </a:pPr>
            <a:r>
              <a:rPr lang="en-US" dirty="0"/>
              <a:t>Review before external use</a:t>
            </a:r>
          </a:p>
          <a:p>
            <a:pPr marL="171450" indent="-171450">
              <a:buFont typeface="Arial" panose="020B0604020202020204" pitchFamily="34" charset="0"/>
              <a:buChar char="•"/>
            </a:pPr>
            <a:r>
              <a:rPr lang="en-US" dirty="0"/>
              <a:t>Legal risks remain</a:t>
            </a:r>
          </a:p>
          <a:p>
            <a:endParaRPr lang="en-US" b="0" dirty="0"/>
          </a:p>
          <a:p>
            <a:r>
              <a:rPr lang="en-US" b="1" dirty="0"/>
              <a:t>DPA Coverage</a:t>
            </a:r>
            <a:endParaRPr lang="en-US" dirty="0"/>
          </a:p>
          <a:p>
            <a:pPr marL="171450" indent="-171450">
              <a:buFont typeface="Arial" panose="020B0604020202020204" pitchFamily="34" charset="0"/>
              <a:buChar char="•"/>
            </a:pPr>
            <a:r>
              <a:rPr lang="en-US" dirty="0"/>
              <a:t>DPA coverage = </a:t>
            </a:r>
            <a:r>
              <a:rPr lang="en-US" b="1" dirty="0"/>
              <a:t>good</a:t>
            </a:r>
            <a:r>
              <a:rPr lang="en-US" dirty="0"/>
              <a:t>.  </a:t>
            </a:r>
            <a:r>
              <a:rPr lang="en-US" dirty="0">
                <a:solidFill>
                  <a:srgbClr val="FF0000"/>
                </a:solidFill>
              </a:rPr>
              <a:t>No DPA coverage = </a:t>
            </a:r>
            <a:r>
              <a:rPr lang="en-US" b="1" dirty="0">
                <a:solidFill>
                  <a:srgbClr val="FF0000"/>
                </a:solidFill>
              </a:rPr>
              <a:t>bad</a:t>
            </a:r>
            <a:r>
              <a:rPr lang="en-US" dirty="0">
                <a:solidFill>
                  <a:srgbClr val="FF0000"/>
                </a:solidFill>
              </a:rPr>
              <a:t>.</a:t>
            </a:r>
          </a:p>
          <a:p>
            <a:pPr marL="171450" indent="-171450">
              <a:buFont typeface="Arial" panose="020B0604020202020204" pitchFamily="34" charset="0"/>
              <a:buChar char="•"/>
            </a:pPr>
            <a:r>
              <a:rPr lang="en-US" dirty="0"/>
              <a:t>Chat = protected, web searches = NOT</a:t>
            </a:r>
          </a:p>
          <a:p>
            <a:pPr marL="171450" indent="-171450">
              <a:buFont typeface="Arial" panose="020B0604020202020204" pitchFamily="34" charset="0"/>
              <a:buChar char="•"/>
            </a:pPr>
            <a:r>
              <a:rPr lang="en-US" dirty="0"/>
              <a:t>Gap for regulated data in searches</a:t>
            </a:r>
          </a:p>
          <a:p>
            <a:endParaRPr lang="en-US" b="0" dirty="0"/>
          </a:p>
          <a:p>
            <a:r>
              <a:rPr lang="en-US" b="1" dirty="0"/>
              <a:t>------------------------------</a:t>
            </a:r>
          </a:p>
          <a:p>
            <a:endParaRPr lang="en-US" b="1" dirty="0"/>
          </a:p>
          <a:p>
            <a:r>
              <a:rPr lang="en-US" b="1" dirty="0"/>
              <a:t>DPA Coverage</a:t>
            </a:r>
            <a:r>
              <a:rPr lang="en-US" dirty="0"/>
              <a:t> refers to whether the data is protected under Microsoft's </a:t>
            </a:r>
            <a:r>
              <a:rPr lang="en-US" b="1" dirty="0"/>
              <a:t>Data Protection Addendum</a:t>
            </a:r>
            <a:r>
              <a:rPr lang="en-US" dirty="0"/>
              <a:t> - a legally binding contract that governs how Microsoft handles organizational data.</a:t>
            </a:r>
          </a:p>
          <a:p>
            <a:r>
              <a:rPr lang="en-US" b="1" dirty="0"/>
              <a:t>When data is "covered by the DPA":</a:t>
            </a:r>
            <a:endParaRPr lang="en-US" dirty="0"/>
          </a:p>
          <a:p>
            <a:pPr marL="171450" indent="-171450">
              <a:buFont typeface="Arial" panose="020B0604020202020204" pitchFamily="34" charset="0"/>
              <a:buChar char="•"/>
            </a:pPr>
            <a:r>
              <a:rPr lang="en-US" dirty="0"/>
              <a:t>Microsoft acts as a </a:t>
            </a:r>
            <a:r>
              <a:rPr lang="en-US" b="1" dirty="0"/>
              <a:t>data processor</a:t>
            </a:r>
            <a:r>
              <a:rPr lang="en-US" dirty="0"/>
              <a:t> (you're the controller)</a:t>
            </a:r>
          </a:p>
          <a:p>
            <a:pPr marL="171450" indent="-171450">
              <a:buFont typeface="Arial" panose="020B0604020202020204" pitchFamily="34" charset="0"/>
              <a:buChar char="•"/>
            </a:pPr>
            <a:r>
              <a:rPr lang="en-US" dirty="0"/>
              <a:t>Strict contractual obligations for data security, privacy, and handling</a:t>
            </a:r>
          </a:p>
          <a:p>
            <a:pPr marL="171450" indent="-171450">
              <a:buFont typeface="Arial" panose="020B0604020202020204" pitchFamily="34" charset="0"/>
              <a:buChar char="•"/>
            </a:pPr>
            <a:r>
              <a:rPr lang="en-US" dirty="0"/>
              <a:t>Your organization retains ownership and control rights</a:t>
            </a:r>
          </a:p>
          <a:p>
            <a:pPr marL="171450" indent="-171450">
              <a:buFont typeface="Arial" panose="020B0604020202020204" pitchFamily="34" charset="0"/>
              <a:buChar char="•"/>
            </a:pPr>
            <a:r>
              <a:rPr lang="en-US" dirty="0"/>
              <a:t>Microsoft cannot use the data for their own purposes</a:t>
            </a:r>
          </a:p>
          <a:p>
            <a:pPr marL="171450" indent="-171450">
              <a:buFont typeface="Arial" panose="020B0604020202020204" pitchFamily="34" charset="0"/>
              <a:buChar char="•"/>
            </a:pPr>
            <a:r>
              <a:rPr lang="en-US" dirty="0"/>
              <a:t>Subject to audit rights and compliance certifications</a:t>
            </a:r>
          </a:p>
          <a:p>
            <a:pPr marL="171450" indent="-171450">
              <a:buFont typeface="Arial" panose="020B0604020202020204" pitchFamily="34" charset="0"/>
              <a:buChar char="•"/>
            </a:pPr>
            <a:r>
              <a:rPr lang="en-US" dirty="0"/>
              <a:t>Covered by data breach notification requirements</a:t>
            </a:r>
          </a:p>
          <a:p>
            <a:pPr marL="171450" indent="-171450">
              <a:buFont typeface="Arial" panose="020B0604020202020204" pitchFamily="34" charset="0"/>
              <a:buChar char="•"/>
            </a:pPr>
            <a:r>
              <a:rPr lang="en-US" dirty="0"/>
              <a:t>Protected by geographic data residency commitments</a:t>
            </a:r>
          </a:p>
          <a:p>
            <a:r>
              <a:rPr lang="en-US" b="1" dirty="0"/>
              <a:t>When data is NOT covered by the DPA</a:t>
            </a:r>
            <a:r>
              <a:rPr lang="en-US" dirty="0"/>
              <a:t> (like web searches in Copilot):</a:t>
            </a:r>
          </a:p>
          <a:p>
            <a:pPr marL="171450" indent="-171450">
              <a:buFont typeface="Arial" panose="020B0604020202020204" pitchFamily="34" charset="0"/>
              <a:buChar char="•"/>
            </a:pPr>
            <a:r>
              <a:rPr lang="en-US" dirty="0"/>
              <a:t>Microsoft may act as a data controller</a:t>
            </a:r>
          </a:p>
          <a:p>
            <a:pPr marL="171450" indent="-171450">
              <a:buFont typeface="Arial" panose="020B0604020202020204" pitchFamily="34" charset="0"/>
              <a:buChar char="•"/>
            </a:pPr>
            <a:r>
              <a:rPr lang="en-US" dirty="0"/>
              <a:t>Governed by Microsoft's general privacy policy instead</a:t>
            </a:r>
          </a:p>
          <a:p>
            <a:pPr marL="171450" indent="-171450">
              <a:buFont typeface="Arial" panose="020B0604020202020204" pitchFamily="34" charset="0"/>
              <a:buChar char="•"/>
            </a:pPr>
            <a:r>
              <a:rPr lang="en-US" dirty="0"/>
              <a:t>Less restrictive data handling terms</a:t>
            </a:r>
          </a:p>
          <a:p>
            <a:pPr marL="171450" indent="-171450">
              <a:buFont typeface="Arial" panose="020B0604020202020204" pitchFamily="34" charset="0"/>
              <a:buChar char="•"/>
            </a:pPr>
            <a:r>
              <a:rPr lang="en-US" dirty="0"/>
              <a:t>Potentially shared with third parties (like Bing)</a:t>
            </a:r>
          </a:p>
          <a:p>
            <a:pPr marL="171450" indent="-171450">
              <a:buFont typeface="Arial" panose="020B0604020202020204" pitchFamily="34" charset="0"/>
              <a:buChar char="•"/>
            </a:pPr>
            <a:r>
              <a:rPr lang="en-US" dirty="0"/>
              <a:t>May not meet regulatory compliance requirements</a:t>
            </a:r>
          </a:p>
          <a:p>
            <a:r>
              <a:rPr lang="en-US" b="1" dirty="0"/>
              <a:t>Why this matters for Copilot:</a:t>
            </a:r>
            <a:endParaRPr lang="en-US" dirty="0"/>
          </a:p>
          <a:p>
            <a:pPr>
              <a:buFont typeface="Arial" panose="020B0604020202020204" pitchFamily="34" charset="0"/>
              <a:buNone/>
            </a:pPr>
            <a:r>
              <a:rPr lang="en-US" b="1" dirty="0"/>
              <a:t>Prompts &amp; responses</a:t>
            </a:r>
            <a:r>
              <a:rPr lang="en-US" dirty="0"/>
              <a:t> = DPA protected ✓</a:t>
            </a:r>
          </a:p>
          <a:p>
            <a:pPr>
              <a:buFont typeface="Arial" panose="020B0604020202020204" pitchFamily="34" charset="0"/>
              <a:buNone/>
            </a:pPr>
            <a:r>
              <a:rPr lang="en-US" b="1" dirty="0"/>
              <a:t>Web search queries</a:t>
            </a:r>
            <a:r>
              <a:rPr lang="en-US" dirty="0"/>
              <a:t> = NOT DPA protected ✗</a:t>
            </a:r>
          </a:p>
          <a:p>
            <a:r>
              <a:rPr lang="en-US" dirty="0"/>
              <a:t>This creates a critical gap: If an employee asks Copilot to "search the web for information about our Project Falcon acquisition target," that search query containing confidential information isn't protected by your enterprise agreement.</a:t>
            </a:r>
          </a:p>
          <a:p>
            <a:endParaRPr lang="en-US" b="1" dirty="0"/>
          </a:p>
          <a:p>
            <a:r>
              <a:rPr lang="en-US" b="1" dirty="0"/>
              <a:t>------------------------------</a:t>
            </a:r>
          </a:p>
          <a:p>
            <a:endParaRPr lang="en-US" b="1" dirty="0"/>
          </a:p>
          <a:p>
            <a:r>
              <a:rPr lang="en-US" b="1" dirty="0"/>
              <a:t>FERC Compliance Risks</a:t>
            </a:r>
            <a:r>
              <a:rPr lang="en-US" dirty="0"/>
              <a:t>: While Copilot prompts and responses are DPA-protected, web search queries are not - creating significant exposure for FERC-regulated data. Critical Energy Infrastructure Information (CEII), including pipeline capacities, operational data, and system vulnerabilities, could be inadvertently exposed through web-grounded queries.</a:t>
            </a:r>
          </a:p>
          <a:p>
            <a:endParaRPr lang="en-US" dirty="0"/>
          </a:p>
          <a:p>
            <a:r>
              <a:rPr lang="en-US" dirty="0"/>
              <a:t>Additionally, Standards of Conduct violations could occur if non-public transmission information or market-sensitive data (customer contracts, capacity availability, pricing) is included in searches. For example, asking Copilot to "search for competitors' pipeline capacity compared to our Eagle Ford system" could expose confidential operational data outside DPA protections.</a:t>
            </a:r>
          </a:p>
          <a:p>
            <a:endParaRPr lang="en-US" dirty="0"/>
          </a:p>
          <a:p>
            <a:r>
              <a:rPr lang="en-US" dirty="0"/>
              <a:t>Train users to NEVER include in Copilot queries:</a:t>
            </a:r>
          </a:p>
          <a:p>
            <a:pPr marL="171450" indent="-171450">
              <a:buFont typeface="Arial" panose="020B0604020202020204" pitchFamily="34" charset="0"/>
              <a:buChar char="•"/>
            </a:pPr>
            <a:r>
              <a:rPr lang="en-US" dirty="0"/>
              <a:t>Pipeline specifications or vulnerabilities</a:t>
            </a:r>
          </a:p>
          <a:p>
            <a:pPr marL="171450" indent="-171450">
              <a:buFont typeface="Arial" panose="020B0604020202020204" pitchFamily="34" charset="0"/>
              <a:buChar char="•"/>
            </a:pPr>
            <a:r>
              <a:rPr lang="en-US" dirty="0"/>
              <a:t>Non-public capacity or availability data</a:t>
            </a:r>
          </a:p>
          <a:p>
            <a:pPr marL="171450" indent="-171450">
              <a:buFont typeface="Arial" panose="020B0604020202020204" pitchFamily="34" charset="0"/>
              <a:buChar char="•"/>
            </a:pPr>
            <a:r>
              <a:rPr lang="en-US" dirty="0"/>
              <a:t>Customer contract terms or negotiations</a:t>
            </a:r>
          </a:p>
          <a:p>
            <a:pPr marL="171450" indent="-171450">
              <a:buFont typeface="Arial" panose="020B0604020202020204" pitchFamily="34" charset="0"/>
              <a:buChar char="•"/>
            </a:pPr>
            <a:r>
              <a:rPr lang="en-US" dirty="0"/>
              <a:t>Market-sensitive operational information</a:t>
            </a:r>
          </a:p>
          <a:p>
            <a:pPr marL="171450" indent="-171450">
              <a:buFont typeface="Arial" panose="020B0604020202020204" pitchFamily="34" charset="0"/>
              <a:buChar char="•"/>
            </a:pPr>
            <a:r>
              <a:rPr lang="en-US" dirty="0"/>
              <a:t>Interstate transmission details</a:t>
            </a:r>
          </a:p>
          <a:p>
            <a:pPr marL="171450" indent="-171450">
              <a:buFont typeface="Arial" panose="020B0604020202020204" pitchFamily="34" charset="0"/>
              <a:buChar char="•"/>
            </a:pPr>
            <a:r>
              <a:rPr lang="en-US" dirty="0"/>
              <a:t>Any data marked as CEII</a:t>
            </a:r>
          </a:p>
          <a:p>
            <a:endParaRPr lang="en-US" dirty="0"/>
          </a:p>
          <a:p>
            <a:r>
              <a:rPr lang="en-US" dirty="0"/>
              <a:t>Consider implementing DLP policies specifically for CEII markers and establishing pre-approved prompts for market analysis that exclude non-public information. Regular audits of Copilot usage should specifically review for potential FERC compliance violations.</a:t>
            </a:r>
          </a:p>
          <a:p>
            <a:endParaRPr lang="en-US" b="1" dirty="0"/>
          </a:p>
          <a:p>
            <a:r>
              <a:rPr lang="en-US" b="1" dirty="0"/>
              <a:t>------------------------------</a:t>
            </a:r>
          </a:p>
          <a:p>
            <a:endParaRPr lang="en-US" b="1" dirty="0"/>
          </a:p>
          <a:p>
            <a:r>
              <a:rPr lang="en-US" b="1" dirty="0"/>
              <a:t>How a Termination Letter Request Could Create Major Liability</a:t>
            </a:r>
          </a:p>
          <a:p>
            <a:r>
              <a:rPr lang="en-US" dirty="0"/>
              <a:t>When you type "Help me draft a termination letter for John Smith," here's what happens:</a:t>
            </a:r>
          </a:p>
          <a:p>
            <a:endParaRPr lang="en-US" b="1" dirty="0"/>
          </a:p>
          <a:p>
            <a:r>
              <a:rPr lang="en-US" b="1" dirty="0"/>
              <a:t>1. Permanent Record Creation</a:t>
            </a:r>
            <a:endParaRPr lang="en-US" dirty="0"/>
          </a:p>
          <a:p>
            <a:pPr marL="171450" indent="-171450">
              <a:buFont typeface="Arial" panose="020B0604020202020204" pitchFamily="34" charset="0"/>
              <a:buChar char="•"/>
            </a:pPr>
            <a:r>
              <a:rPr lang="en-US" dirty="0"/>
              <a:t>Your prompt becomes part of your organization's permanent data estate</a:t>
            </a:r>
          </a:p>
          <a:p>
            <a:pPr marL="171450" indent="-171450">
              <a:buFont typeface="Arial" panose="020B0604020202020204" pitchFamily="34" charset="0"/>
              <a:buChar char="•"/>
            </a:pPr>
            <a:r>
              <a:rPr lang="en-US" dirty="0"/>
              <a:t>Stored in Microsoft's systems and backed up across multiple locations</a:t>
            </a:r>
          </a:p>
          <a:p>
            <a:pPr marL="171450" indent="-171450">
              <a:buFont typeface="Arial" panose="020B0604020202020204" pitchFamily="34" charset="0"/>
              <a:buChar char="•"/>
            </a:pPr>
            <a:r>
              <a:rPr lang="en-US" dirty="0"/>
              <a:t>Cannot be truly deleted - only marked for deletion per retention policies</a:t>
            </a:r>
          </a:p>
          <a:p>
            <a:endParaRPr lang="en-US" b="1" dirty="0"/>
          </a:p>
          <a:p>
            <a:r>
              <a:rPr lang="en-US" b="1" dirty="0"/>
              <a:t>2. eDiscovery &amp; Litigation Exposure</a:t>
            </a:r>
            <a:endParaRPr lang="en-US" dirty="0"/>
          </a:p>
          <a:p>
            <a:pPr marL="171450" indent="-171450">
              <a:buFont typeface="Arial" panose="020B0604020202020204" pitchFamily="34" charset="0"/>
              <a:buChar char="•"/>
            </a:pPr>
            <a:r>
              <a:rPr lang="en-US" dirty="0"/>
              <a:t>If John Smith sues for wrongful termination, opposing counsel can subpoena ALL Copilot interactions</a:t>
            </a:r>
          </a:p>
          <a:p>
            <a:pPr marL="171450" indent="-171450">
              <a:buFont typeface="Arial" panose="020B0604020202020204" pitchFamily="34" charset="0"/>
              <a:buChar char="•"/>
            </a:pPr>
            <a:r>
              <a:rPr lang="en-US" dirty="0"/>
              <a:t>Your prompt reveals: termination planning timeline, your involvement, potential premeditation</a:t>
            </a:r>
          </a:p>
          <a:p>
            <a:pPr marL="171450" indent="-171450">
              <a:buFont typeface="Arial" panose="020B0604020202020204" pitchFamily="34" charset="0"/>
              <a:buChar char="•"/>
            </a:pPr>
            <a:r>
              <a:rPr lang="en-US" dirty="0"/>
              <a:t>Creates evidence that didn't exist before ("We found the HR director was planning this termination weeks before the alleged performance issue")</a:t>
            </a:r>
          </a:p>
          <a:p>
            <a:endParaRPr lang="en-US" b="1" dirty="0"/>
          </a:p>
          <a:p>
            <a:r>
              <a:rPr lang="en-US" b="1" dirty="0"/>
              <a:t>3. Multiple Access Points</a:t>
            </a:r>
            <a:endParaRPr lang="en-US" dirty="0"/>
          </a:p>
          <a:p>
            <a:pPr marL="171450" indent="-171450">
              <a:buFont typeface="Arial" panose="020B0604020202020204" pitchFamily="34" charset="0"/>
              <a:buChar char="•"/>
            </a:pPr>
            <a:r>
              <a:rPr lang="en-US" dirty="0"/>
              <a:t>Microsoft 365 admins can access audit logs</a:t>
            </a:r>
          </a:p>
          <a:p>
            <a:pPr marL="171450" indent="-171450">
              <a:buFont typeface="Arial" panose="020B0604020202020204" pitchFamily="34" charset="0"/>
              <a:buChar char="•"/>
            </a:pPr>
            <a:r>
              <a:rPr lang="en-US" dirty="0"/>
              <a:t>Compliance officers can search all Copilot interactions</a:t>
            </a:r>
          </a:p>
          <a:p>
            <a:pPr marL="171450" indent="-171450">
              <a:buFont typeface="Arial" panose="020B0604020202020204" pitchFamily="34" charset="0"/>
              <a:buChar char="•"/>
            </a:pPr>
            <a:r>
              <a:rPr lang="en-US" dirty="0"/>
              <a:t>IT security teams monitoring for data leaks will see it</a:t>
            </a:r>
          </a:p>
          <a:p>
            <a:pPr marL="171450" indent="-171450">
              <a:buFont typeface="Arial" panose="020B0604020202020204" pitchFamily="34" charset="0"/>
              <a:buChar char="•"/>
            </a:pPr>
            <a:r>
              <a:rPr lang="en-US" dirty="0"/>
              <a:t>Anyone with eDiscovery permissions during legal holds</a:t>
            </a:r>
          </a:p>
          <a:p>
            <a:endParaRPr lang="en-US" b="1" dirty="0"/>
          </a:p>
          <a:p>
            <a:r>
              <a:rPr lang="en-US" b="1" dirty="0"/>
              <a:t>4. Context Without Protection</a:t>
            </a:r>
            <a:endParaRPr lang="en-US" dirty="0"/>
          </a:p>
          <a:p>
            <a:pPr marL="171450" indent="-171450">
              <a:buFont typeface="Arial" panose="020B0604020202020204" pitchFamily="34" charset="0"/>
              <a:buChar char="•"/>
            </a:pPr>
            <a:r>
              <a:rPr lang="en-US" dirty="0"/>
              <a:t>Unlike attorney-client privileged communications, Copilot chats have no privilege</a:t>
            </a:r>
          </a:p>
          <a:p>
            <a:pPr marL="171450" indent="-171450">
              <a:buFont typeface="Arial" panose="020B0604020202020204" pitchFamily="34" charset="0"/>
              <a:buChar char="•"/>
            </a:pPr>
            <a:r>
              <a:rPr lang="en-US" dirty="0"/>
              <a:t>Reveals thought process, concerns, and strategy that would normally stay confidential</a:t>
            </a:r>
          </a:p>
          <a:p>
            <a:pPr marL="171450" indent="-171450">
              <a:buFont typeface="Arial" panose="020B0604020202020204" pitchFamily="34" charset="0"/>
              <a:buChar char="•"/>
            </a:pPr>
            <a:r>
              <a:rPr lang="en-US" dirty="0"/>
              <a:t>Shows multiple drafts/iterations that could contradict official reasoning</a:t>
            </a:r>
          </a:p>
          <a:p>
            <a:endParaRPr lang="en-US" b="1" dirty="0"/>
          </a:p>
          <a:p>
            <a:r>
              <a:rPr lang="en-US" b="1" dirty="0"/>
              <a:t>5. Oil &amp; Gas Specific Risks</a:t>
            </a:r>
            <a:endParaRPr lang="en-US" dirty="0"/>
          </a:p>
          <a:p>
            <a:pPr marL="171450" indent="-171450">
              <a:buFont typeface="Arial" panose="020B0604020202020204" pitchFamily="34" charset="0"/>
              <a:buChar char="•"/>
            </a:pPr>
            <a:r>
              <a:rPr lang="en-US" dirty="0"/>
              <a:t>Safety-sensitive position terminations could trigger OSHA investigations</a:t>
            </a:r>
          </a:p>
          <a:p>
            <a:pPr marL="171450" indent="-171450">
              <a:buFont typeface="Arial" panose="020B0604020202020204" pitchFamily="34" charset="0"/>
              <a:buChar char="•"/>
            </a:pPr>
            <a:r>
              <a:rPr lang="en-US" dirty="0"/>
              <a:t>Union environments: Evidence of pre-planning could violate collective bargaining agreements</a:t>
            </a:r>
          </a:p>
          <a:p>
            <a:pPr marL="171450" indent="-171450">
              <a:buFont typeface="Arial" panose="020B0604020202020204" pitchFamily="34" charset="0"/>
              <a:buChar char="•"/>
            </a:pPr>
            <a:r>
              <a:rPr lang="en-US" dirty="0"/>
              <a:t>Contractor relationships: Could expose prime contractor to co-employment claims</a:t>
            </a:r>
          </a:p>
          <a:p>
            <a:pPr marL="171450" indent="-171450">
              <a:buFont typeface="Arial" panose="020B0604020202020204" pitchFamily="34" charset="0"/>
              <a:buChar char="•"/>
            </a:pPr>
            <a:r>
              <a:rPr lang="en-US" dirty="0"/>
              <a:t>Following a safety incident: Could be seen as retaliation rather than performance-based</a:t>
            </a:r>
          </a:p>
          <a:p>
            <a:endParaRPr lang="en-US" b="0" dirty="0"/>
          </a:p>
          <a:p>
            <a:r>
              <a:rPr lang="en-US" b="1" dirty="0"/>
              <a:t>Better Approach:</a:t>
            </a:r>
            <a:r>
              <a:rPr lang="en-US" dirty="0"/>
              <a:t> Work with HR/Legal directly, keep sensitive planning offline, and only use Copilot for generic policy questions like "What are best practices for performance improvement plans?"</a:t>
            </a:r>
          </a:p>
          <a:p>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9</a:t>
            </a:fld>
            <a:endParaRPr lang="en-US"/>
          </a:p>
        </p:txBody>
      </p:sp>
    </p:spTree>
    <p:extLst>
      <p:ext uri="{BB962C8B-B14F-4D97-AF65-F5344CB8AC3E}">
        <p14:creationId xmlns:p14="http://schemas.microsoft.com/office/powerpoint/2010/main" val="1386996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 prompts to highlight the difference between M365 Chat and Search.  Be very careful about what you prompt it to do.</a:t>
            </a:r>
          </a:p>
        </p:txBody>
      </p:sp>
      <p:sp>
        <p:nvSpPr>
          <p:cNvPr id="4" name="Slide Number Placeholder 3"/>
          <p:cNvSpPr>
            <a:spLocks noGrp="1"/>
          </p:cNvSpPr>
          <p:nvPr>
            <p:ph type="sldNum" sz="quarter" idx="5"/>
          </p:nvPr>
        </p:nvSpPr>
        <p:spPr/>
        <p:txBody>
          <a:bodyPr/>
          <a:lstStyle/>
          <a:p>
            <a:fld id="{20532378-A7CF-475A-BE97-0A1E8561A6EA}" type="slidenum">
              <a:rPr lang="en-US" smtClean="0"/>
              <a:t>10</a:t>
            </a:fld>
            <a:endParaRPr lang="en-US"/>
          </a:p>
        </p:txBody>
      </p:sp>
    </p:spTree>
    <p:extLst>
      <p:ext uri="{BB962C8B-B14F-4D97-AF65-F5344CB8AC3E}">
        <p14:creationId xmlns:p14="http://schemas.microsoft.com/office/powerpoint/2010/main" val="30713405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12</a:t>
            </a:fld>
            <a:endParaRPr lang="en-US"/>
          </a:p>
        </p:txBody>
      </p:sp>
    </p:spTree>
    <p:extLst>
      <p:ext uri="{BB962C8B-B14F-4D97-AF65-F5344CB8AC3E}">
        <p14:creationId xmlns:p14="http://schemas.microsoft.com/office/powerpoint/2010/main" val="17314758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13</a:t>
            </a:fld>
            <a:endParaRPr lang="en-US"/>
          </a:p>
        </p:txBody>
      </p:sp>
    </p:spTree>
    <p:extLst>
      <p:ext uri="{BB962C8B-B14F-4D97-AF65-F5344CB8AC3E}">
        <p14:creationId xmlns:p14="http://schemas.microsoft.com/office/powerpoint/2010/main" val="2593665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Illusion of Understanding</a:t>
            </a:r>
          </a:p>
          <a:p>
            <a:r>
              <a:rPr lang="en-US" dirty="0"/>
              <a:t>Coherent responses create illusion of deep understanding.</a:t>
            </a:r>
          </a:p>
          <a:p>
            <a:r>
              <a:rPr lang="en-US" b="1" dirty="0"/>
              <a:t>Funny:</a:t>
            </a:r>
            <a:r>
              <a:rPr lang="en-US" dirty="0"/>
              <a:t> Printer diagnosed with "paper jam in tertiary feed mechanism" (doesn't exist).</a:t>
            </a:r>
          </a:p>
          <a:p>
            <a:r>
              <a:rPr lang="en-US" b="1" dirty="0"/>
              <a:t>Concerning:</a:t>
            </a:r>
            <a:r>
              <a:rPr lang="en-US" dirty="0"/>
              <a:t> Medical student - LLM called dangerous drug combo "commonly prescribed together.“</a:t>
            </a:r>
          </a:p>
          <a:p>
            <a:endParaRPr lang="en-US" dirty="0"/>
          </a:p>
          <a:p>
            <a:r>
              <a:rPr lang="en-US" b="1" dirty="0"/>
              <a:t>Hallucination with Authority</a:t>
            </a:r>
          </a:p>
          <a:p>
            <a:r>
              <a:rPr lang="en-US" dirty="0"/>
              <a:t>No fact verification - generates plausible-seeming text.</a:t>
            </a:r>
          </a:p>
          <a:p>
            <a:r>
              <a:rPr lang="en-US" b="1" dirty="0"/>
              <a:t>Funny:</a:t>
            </a:r>
            <a:r>
              <a:rPr lang="en-US" dirty="0"/>
              <a:t> Great Emu War - added fictional "General Featherstone" leading emu forces.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Lawyer submitted brief with 6 fake ChatGPT cases. Court sanctioned.</a:t>
            </a:r>
          </a:p>
          <a:p>
            <a:endParaRPr lang="en-US" dirty="0"/>
          </a:p>
          <a:p>
            <a:r>
              <a:rPr lang="en-US" b="1" dirty="0"/>
              <a:t>Contextual Amnesia</a:t>
            </a:r>
          </a:p>
          <a:p>
            <a:r>
              <a:rPr lang="en-US" dirty="0"/>
              <a:t>No memory between chats. Limited context causes forgetting within chats.</a:t>
            </a:r>
          </a:p>
          <a:p>
            <a:r>
              <a:rPr lang="en-US" b="1" dirty="0"/>
              <a:t>Funny:</a:t>
            </a:r>
            <a:r>
              <a:rPr lang="en-US" dirty="0"/>
              <a:t> Hour teaching coding standards. Next chat: "What coding standards?“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Therapist - LLM forgot trauma details mid-session, gave contradictory advice.</a:t>
            </a:r>
          </a:p>
          <a:p>
            <a:endParaRPr lang="en-US" dirty="0"/>
          </a:p>
          <a:p>
            <a:r>
              <a:rPr lang="en-US" b="1" dirty="0"/>
              <a:t>Inconsistent Expertise</a:t>
            </a:r>
          </a:p>
          <a:p>
            <a:r>
              <a:rPr lang="en-US" dirty="0"/>
              <a:t>PhD-level + toddler-level confusion simultaneously.</a:t>
            </a:r>
          </a:p>
          <a:p>
            <a:r>
              <a:rPr lang="en-US" b="1" dirty="0"/>
              <a:t>Interesting:</a:t>
            </a:r>
            <a:r>
              <a:rPr lang="en-US" dirty="0"/>
              <a:t> Solves complex calculus. "How many r's in strawberry?" Answer: "two" (it's three).</a:t>
            </a:r>
          </a:p>
          <a:p>
            <a:r>
              <a:rPr lang="en-US" b="1" dirty="0"/>
              <a:t>Dangerous:</a:t>
            </a:r>
            <a:r>
              <a:rPr lang="en-US" dirty="0"/>
              <a:t> Copilot encryption code - sophisticated looking, basic security flaw.</a:t>
            </a:r>
          </a:p>
          <a:p>
            <a:endParaRPr lang="en-US" dirty="0"/>
          </a:p>
          <a:p>
            <a:r>
              <a:rPr lang="en-US" b="1" dirty="0"/>
              <a:t>The Anthropomorphism Trap</a:t>
            </a:r>
          </a:p>
          <a:p>
            <a:r>
              <a:rPr lang="en-US" dirty="0"/>
              <a:t>Users attribute human characteristics.</a:t>
            </a:r>
          </a:p>
          <a:p>
            <a:r>
              <a:rPr lang="en-US" b="1" dirty="0"/>
              <a:t>Funny:</a:t>
            </a:r>
            <a:r>
              <a:rPr lang="en-US" dirty="0"/>
              <a:t> User apologized for too many questions, asked if AI needed break.</a:t>
            </a:r>
          </a:p>
          <a:p>
            <a:r>
              <a:rPr lang="en-US" b="1" dirty="0"/>
              <a:t>Concerning:</a:t>
            </a:r>
            <a:r>
              <a:rPr lang="en-US" dirty="0"/>
              <a:t> Elderly person shared financial info with "friend" AI.</a:t>
            </a:r>
          </a:p>
          <a:p>
            <a:endParaRPr lang="en-US" dirty="0"/>
          </a:p>
          <a:p>
            <a:r>
              <a:rPr lang="en-US" b="1" dirty="0"/>
              <a:t>Probabilistic vs. Deterministic Thinking</a:t>
            </a:r>
          </a:p>
          <a:p>
            <a:r>
              <a:rPr lang="en-US" dirty="0"/>
              <a:t>Statistical predictions, not calculations.</a:t>
            </a:r>
          </a:p>
          <a:p>
            <a:r>
              <a:rPr lang="en-US" b="1" dirty="0"/>
              <a:t>Interesting:</a:t>
            </a:r>
            <a:r>
              <a:rPr lang="en-US" dirty="0"/>
              <a:t> Square root of 15,876 - varies 125-127. Calculator: exactly 126.</a:t>
            </a:r>
          </a:p>
          <a:p>
            <a:r>
              <a:rPr lang="en-US" b="1" dirty="0"/>
              <a:t>Dangerous:</a:t>
            </a:r>
            <a:r>
              <a:rPr lang="en-US" dirty="0"/>
              <a:t> Financial analyst - loan payment calculations off by thousands.</a:t>
            </a:r>
          </a:p>
        </p:txBody>
      </p:sp>
      <p:sp>
        <p:nvSpPr>
          <p:cNvPr id="4" name="Slide Number Placeholder 3"/>
          <p:cNvSpPr>
            <a:spLocks noGrp="1"/>
          </p:cNvSpPr>
          <p:nvPr>
            <p:ph type="sldNum" sz="quarter" idx="5"/>
          </p:nvPr>
        </p:nvSpPr>
        <p:spPr/>
        <p:txBody>
          <a:bodyPr/>
          <a:lstStyle/>
          <a:p>
            <a:fld id="{20532378-A7CF-475A-BE97-0A1E8561A6EA}" type="slidenum">
              <a:rPr lang="en-US" smtClean="0"/>
              <a:t>15</a:t>
            </a:fld>
            <a:endParaRPr lang="en-US"/>
          </a:p>
        </p:txBody>
      </p:sp>
    </p:spTree>
    <p:extLst>
      <p:ext uri="{BB962C8B-B14F-4D97-AF65-F5344CB8AC3E}">
        <p14:creationId xmlns:p14="http://schemas.microsoft.com/office/powerpoint/2010/main" val="2619402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start with a very basic prompt and work towards something more useful.</a:t>
            </a:r>
          </a:p>
        </p:txBody>
      </p:sp>
      <p:sp>
        <p:nvSpPr>
          <p:cNvPr id="4" name="Slide Number Placeholder 3"/>
          <p:cNvSpPr>
            <a:spLocks noGrp="1"/>
          </p:cNvSpPr>
          <p:nvPr>
            <p:ph type="sldNum" sz="quarter" idx="5"/>
          </p:nvPr>
        </p:nvSpPr>
        <p:spPr/>
        <p:txBody>
          <a:bodyPr/>
          <a:lstStyle/>
          <a:p>
            <a:fld id="{20532378-A7CF-475A-BE97-0A1E8561A6EA}" type="slidenum">
              <a:rPr lang="en-US" smtClean="0"/>
              <a:t>17</a:t>
            </a:fld>
            <a:endParaRPr lang="en-US"/>
          </a:p>
        </p:txBody>
      </p:sp>
    </p:spTree>
    <p:extLst>
      <p:ext uri="{BB962C8B-B14F-4D97-AF65-F5344CB8AC3E}">
        <p14:creationId xmlns:p14="http://schemas.microsoft.com/office/powerpoint/2010/main" val="1407462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Task:  What do you want the AI to do?</a:t>
            </a:r>
          </a:p>
          <a:p>
            <a:pPr marL="171450" indent="-171450">
              <a:buFont typeface="Arial" panose="020B0604020202020204" pitchFamily="34" charset="0"/>
              <a:buChar char="•"/>
            </a:pPr>
            <a:r>
              <a:rPr lang="en-US" b="0" dirty="0"/>
              <a:t>Start with a clear action verb such as analyze, summarize, create, or identify.</a:t>
            </a:r>
          </a:p>
          <a:p>
            <a:pPr marL="171450" indent="-171450">
              <a:buFont typeface="Arial" panose="020B0604020202020204" pitchFamily="34" charset="0"/>
              <a:buChar char="•"/>
            </a:pPr>
            <a:r>
              <a:rPr lang="en-US" b="0" dirty="0"/>
              <a:t>Be specific about the desired output.  Try tables, bulleted lists, email bodies, etc.</a:t>
            </a:r>
          </a:p>
          <a:p>
            <a:pPr marL="171450" indent="-171450">
              <a:buFont typeface="Arial" panose="020B0604020202020204" pitchFamily="34" charset="0"/>
              <a:buChar char="•"/>
            </a:pPr>
            <a:r>
              <a:rPr lang="en-US" b="0" dirty="0"/>
              <a:t>Example:  Summarize the attached process document.  Remove all the details to make a simple step-by-step checklist.</a:t>
            </a:r>
          </a:p>
          <a:p>
            <a:endParaRPr lang="en-US" b="0" dirty="0"/>
          </a:p>
          <a:p>
            <a:r>
              <a:rPr lang="en-US" b="1" dirty="0"/>
              <a:t>Context:  What background information can you provide?</a:t>
            </a:r>
          </a:p>
          <a:p>
            <a:pPr marL="171450" indent="-171450">
              <a:buFont typeface="Arial" panose="020B0604020202020204" pitchFamily="34" charset="0"/>
              <a:buChar char="•"/>
            </a:pPr>
            <a:r>
              <a:rPr lang="en-US" b="0" dirty="0"/>
              <a:t>Provide relevant details about your goal or situation</a:t>
            </a:r>
          </a:p>
          <a:p>
            <a:pPr marL="171450" indent="-171450">
              <a:buFont typeface="Arial" panose="020B0604020202020204" pitchFamily="34" charset="0"/>
              <a:buChar char="•"/>
            </a:pPr>
            <a:r>
              <a:rPr lang="en-US" b="0" dirty="0"/>
              <a:t>Include constraints and requirements</a:t>
            </a:r>
          </a:p>
          <a:p>
            <a:pPr marL="171450" indent="-171450">
              <a:buFont typeface="Arial" panose="020B0604020202020204" pitchFamily="34" charset="0"/>
              <a:buChar char="•"/>
            </a:pPr>
            <a:r>
              <a:rPr lang="en-US" b="0" dirty="0"/>
              <a:t>Example:  I’m a process engineer at a gas processing plant and I need to quickly make sure no basic steps have been overlooked in this very large document.</a:t>
            </a:r>
          </a:p>
          <a:p>
            <a:endParaRPr lang="en-US" b="0" dirty="0"/>
          </a:p>
          <a:p>
            <a:r>
              <a:rPr lang="en-US" b="1" dirty="0"/>
              <a:t>References:  What examples or formats should the AI follow?</a:t>
            </a:r>
            <a:endParaRPr lang="en-US" b="0" dirty="0"/>
          </a:p>
          <a:p>
            <a:pPr marL="171450" indent="-171450">
              <a:buFont typeface="Arial" panose="020B0604020202020204" pitchFamily="34" charset="0"/>
              <a:buChar char="•"/>
            </a:pPr>
            <a:r>
              <a:rPr lang="en-US" b="0" dirty="0"/>
              <a:t>Include output instructions or sample formats, templates, or examples</a:t>
            </a:r>
          </a:p>
          <a:p>
            <a:pPr marL="171450" indent="-171450">
              <a:buFont typeface="Arial" panose="020B0604020202020204" pitchFamily="34" charset="0"/>
              <a:buChar char="•"/>
            </a:pPr>
            <a:r>
              <a:rPr lang="en-US" b="0" dirty="0"/>
              <a:t>Specify any standards or conventions to follow</a:t>
            </a:r>
          </a:p>
          <a:p>
            <a:pPr marL="171450" indent="-171450">
              <a:buFont typeface="Arial" panose="020B0604020202020204" pitchFamily="34" charset="0"/>
              <a:buChar char="•"/>
            </a:pPr>
            <a:r>
              <a:rPr lang="en-US" b="0" dirty="0"/>
              <a:t>Example:  Format the step-by-step instructions as a bulleted list of tasks with no descriptions or other fluff</a:t>
            </a:r>
          </a:p>
          <a:p>
            <a:endParaRPr lang="en-US" b="0" dirty="0"/>
          </a:p>
          <a:p>
            <a:r>
              <a:rPr lang="en-US" b="1" dirty="0"/>
              <a:t>Evaluate:  How will you judge if the response is good?</a:t>
            </a:r>
          </a:p>
          <a:p>
            <a:pPr marL="171450" indent="-171450">
              <a:buFont typeface="Arial" panose="020B0604020202020204" pitchFamily="34" charset="0"/>
              <a:buChar char="•"/>
            </a:pPr>
            <a:r>
              <a:rPr lang="en-US" b="0" dirty="0"/>
              <a:t>Do not, under any circumstance, truest LLM output without verifying</a:t>
            </a:r>
          </a:p>
          <a:p>
            <a:pPr marL="171450" indent="-171450">
              <a:buFont typeface="Arial" panose="020B0604020202020204" pitchFamily="34" charset="0"/>
              <a:buChar char="•"/>
            </a:pPr>
            <a:r>
              <a:rPr lang="en-US" b="0" dirty="0"/>
              <a:t>Try to stick to topics you are already comfortable with, or are comfortable researching</a:t>
            </a:r>
          </a:p>
          <a:p>
            <a:pPr marL="171450" indent="-171450">
              <a:buFont typeface="Arial" panose="020B0604020202020204" pitchFamily="34" charset="0"/>
              <a:buChar char="•"/>
            </a:pPr>
            <a:r>
              <a:rPr lang="en-US" b="0" dirty="0"/>
              <a:t>Get a subject matter expert to example the results if necessary</a:t>
            </a:r>
          </a:p>
          <a:p>
            <a:endParaRPr lang="en-US" b="0" dirty="0"/>
          </a:p>
          <a:p>
            <a:r>
              <a:rPr lang="en-US" b="1" dirty="0"/>
              <a:t>Iterate:  How can you refine based on the response</a:t>
            </a:r>
          </a:p>
          <a:p>
            <a:pPr marL="171450" indent="-171450">
              <a:buFont typeface="Arial" panose="020B0604020202020204" pitchFamily="34" charset="0"/>
              <a:buChar char="•"/>
            </a:pPr>
            <a:r>
              <a:rPr lang="en-US" b="0" dirty="0"/>
              <a:t>Review the output and identify improvements</a:t>
            </a:r>
          </a:p>
          <a:p>
            <a:pPr marL="171450" indent="-171450">
              <a:buFont typeface="Arial" panose="020B0604020202020204" pitchFamily="34" charset="0"/>
              <a:buChar char="•"/>
            </a:pPr>
            <a:r>
              <a:rPr lang="en-US" b="0" dirty="0"/>
              <a:t>Adjust your prompt based on what did or didn’t work</a:t>
            </a:r>
          </a:p>
          <a:p>
            <a:pPr marL="171450" indent="-171450">
              <a:buFont typeface="Arial" panose="020B0604020202020204" pitchFamily="34" charset="0"/>
              <a:buChar char="•"/>
            </a:pPr>
            <a:r>
              <a:rPr lang="en-US" b="0" dirty="0"/>
              <a:t>Example: Add more detail about root causes</a:t>
            </a:r>
          </a:p>
        </p:txBody>
      </p:sp>
      <p:sp>
        <p:nvSpPr>
          <p:cNvPr id="4" name="Slide Number Placeholder 3"/>
          <p:cNvSpPr>
            <a:spLocks noGrp="1"/>
          </p:cNvSpPr>
          <p:nvPr>
            <p:ph type="sldNum" sz="quarter" idx="5"/>
          </p:nvPr>
        </p:nvSpPr>
        <p:spPr/>
        <p:txBody>
          <a:bodyPr/>
          <a:lstStyle/>
          <a:p>
            <a:fld id="{20532378-A7CF-475A-BE97-0A1E8561A6EA}" type="slidenum">
              <a:rPr lang="en-US" smtClean="0"/>
              <a:t>18</a:t>
            </a:fld>
            <a:endParaRPr lang="en-US"/>
          </a:p>
        </p:txBody>
      </p:sp>
    </p:spTree>
    <p:extLst>
      <p:ext uri="{BB962C8B-B14F-4D97-AF65-F5344CB8AC3E}">
        <p14:creationId xmlns:p14="http://schemas.microsoft.com/office/powerpoint/2010/main" val="263190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Evaluate</a:t>
            </a:r>
            <a:endParaRPr lang="en-US" dirty="0"/>
          </a:p>
          <a:p>
            <a:pPr marL="171450" indent="-171450">
              <a:buFont typeface="Arial" panose="020B0604020202020204" pitchFamily="34" charset="0"/>
              <a:buChar char="•"/>
            </a:pPr>
            <a:r>
              <a:rPr lang="en-US" dirty="0"/>
              <a:t>Look for errors in the response</a:t>
            </a:r>
          </a:p>
          <a:p>
            <a:pPr marL="171450" indent="-171450">
              <a:buFont typeface="Arial" panose="020B0604020202020204" pitchFamily="34" charset="0"/>
              <a:buChar char="•"/>
            </a:pPr>
            <a:r>
              <a:rPr lang="en-US" dirty="0"/>
              <a:t>When working with critical projects, have SMEs on hand</a:t>
            </a:r>
          </a:p>
          <a:p>
            <a:pPr marL="171450" indent="-171450">
              <a:buFont typeface="Arial" panose="020B0604020202020204" pitchFamily="34" charset="0"/>
              <a:buChar char="•"/>
            </a:pPr>
            <a:r>
              <a:rPr lang="en-US" dirty="0"/>
              <a:t>Don’t be afraid to edit the response before sharing</a:t>
            </a:r>
          </a:p>
          <a:p>
            <a:pPr marL="171450" indent="-171450">
              <a:buFont typeface="Arial" panose="020B0604020202020204" pitchFamily="34" charset="0"/>
              <a:buChar char="•"/>
            </a:pPr>
            <a:r>
              <a:rPr lang="en-US" dirty="0"/>
              <a:t>Ultimately, the user is responsible for correctness and coherence</a:t>
            </a:r>
          </a:p>
          <a:p>
            <a:pPr marL="0" indent="0">
              <a:buFont typeface="Arial" panose="020B0604020202020204" pitchFamily="34" charset="0"/>
              <a:buNone/>
            </a:pPr>
            <a:endParaRPr lang="en-US" dirty="0"/>
          </a:p>
          <a:p>
            <a:r>
              <a:rPr lang="en-US" b="1" dirty="0"/>
              <a:t>Revisit the prompting framework</a:t>
            </a:r>
            <a:endParaRPr lang="en-US" dirty="0"/>
          </a:p>
          <a:p>
            <a:pPr marL="171450" indent="-171450">
              <a:buFont typeface="Arial" panose="020B0604020202020204" pitchFamily="34" charset="0"/>
              <a:buChar char="•"/>
            </a:pPr>
            <a:r>
              <a:rPr lang="en-US" dirty="0"/>
              <a:t>Strengthen persona: "senior data analyst" → "data analyst with 10 years finance experience"</a:t>
            </a:r>
          </a:p>
          <a:p>
            <a:pPr marL="171450" indent="-171450">
              <a:buFont typeface="Arial" panose="020B0604020202020204" pitchFamily="34" charset="0"/>
              <a:buChar char="•"/>
            </a:pPr>
            <a:r>
              <a:rPr lang="en-US" dirty="0"/>
              <a:t>Add missing context: project goals, timeline, stakeholders</a:t>
            </a:r>
          </a:p>
          <a:p>
            <a:pPr marL="171450" indent="-171450">
              <a:buFont typeface="Arial" panose="020B0604020202020204" pitchFamily="34" charset="0"/>
              <a:buChar char="•"/>
            </a:pPr>
            <a:r>
              <a:rPr lang="en-US" dirty="0"/>
              <a:t>Include reference examples from successful outputs</a:t>
            </a:r>
          </a:p>
          <a:p>
            <a:pPr marL="171450" indent="-171450">
              <a:buFont typeface="Arial" panose="020B0604020202020204" pitchFamily="34" charset="0"/>
              <a:buChar char="•"/>
            </a:pPr>
            <a:r>
              <a:rPr lang="en-US" dirty="0"/>
              <a:t>Specify format: "3 bullets per section, max 50 words each"</a:t>
            </a:r>
          </a:p>
          <a:p>
            <a:endParaRPr lang="en-US" b="1" dirty="0"/>
          </a:p>
          <a:p>
            <a:r>
              <a:rPr lang="en-US" b="1" dirty="0"/>
              <a:t>Separate prompts into shorter sentences</a:t>
            </a:r>
            <a:endParaRPr lang="en-US" dirty="0"/>
          </a:p>
          <a:p>
            <a:pPr marL="171450" indent="-171450">
              <a:buFont typeface="Arial" panose="020B0604020202020204" pitchFamily="34" charset="0"/>
              <a:buChar char="•"/>
            </a:pPr>
            <a:r>
              <a:rPr lang="en-US" dirty="0"/>
              <a:t>Talk like to a person - clear, direct</a:t>
            </a:r>
          </a:p>
          <a:p>
            <a:pPr marL="171450" indent="-171450">
              <a:buFont typeface="Arial" panose="020B0604020202020204" pitchFamily="34" charset="0"/>
              <a:buChar char="•"/>
            </a:pPr>
            <a:r>
              <a:rPr lang="en-US" dirty="0"/>
              <a:t>Word vomit example: "Create a report analyzing Q3 performance including revenue, costs, and profitability with charts"</a:t>
            </a:r>
          </a:p>
          <a:p>
            <a:pPr marL="171450" indent="-171450">
              <a:buFont typeface="Arial" panose="020B0604020202020204" pitchFamily="34" charset="0"/>
              <a:buChar char="•"/>
            </a:pPr>
            <a:r>
              <a:rPr lang="en-US" dirty="0"/>
              <a:t>Better: "Analyze Q3 performance. Include revenue metrics. Add cost breakdown. Calculate profitability. Create 3 charts."</a:t>
            </a:r>
          </a:p>
          <a:p>
            <a:pPr marL="171450" indent="-171450">
              <a:buFont typeface="Arial" panose="020B0604020202020204" pitchFamily="34" charset="0"/>
              <a:buChar char="•"/>
            </a:pPr>
            <a:r>
              <a:rPr lang="en-US" dirty="0"/>
              <a:t>Each instruction = one sentence/bullet</a:t>
            </a:r>
          </a:p>
          <a:p>
            <a:endParaRPr lang="en-US" b="1" dirty="0"/>
          </a:p>
          <a:p>
            <a:r>
              <a:rPr lang="en-US" b="1" dirty="0"/>
              <a:t>Try Rephrasing or switch to an analogous task</a:t>
            </a:r>
            <a:endParaRPr lang="en-US" dirty="0"/>
          </a:p>
          <a:p>
            <a:pPr marL="171450" indent="-171450">
              <a:buFont typeface="Arial" panose="020B0604020202020204" pitchFamily="34" charset="0"/>
              <a:buChar char="•"/>
            </a:pPr>
            <a:r>
              <a:rPr lang="en-US" dirty="0"/>
              <a:t>Marketing plan prompt → boring corporate language</a:t>
            </a:r>
          </a:p>
          <a:p>
            <a:pPr marL="171450" indent="-171450">
              <a:buFont typeface="Arial" panose="020B0604020202020204" pitchFamily="34" charset="0"/>
              <a:buChar char="•"/>
            </a:pPr>
            <a:r>
              <a:rPr lang="en-US" dirty="0"/>
              <a:t>Rephrase as: "Tell a story about Sarah, busy mom of 3, discovering our meal kit service"</a:t>
            </a:r>
          </a:p>
          <a:p>
            <a:pPr marL="171450" indent="-171450">
              <a:buFont typeface="Arial" panose="020B0604020202020204" pitchFamily="34" charset="0"/>
              <a:buChar char="•"/>
            </a:pPr>
            <a:r>
              <a:rPr lang="en-US" dirty="0"/>
              <a:t>Shifts from "write marketing plan" to "create customer journey narrative"</a:t>
            </a:r>
          </a:p>
          <a:p>
            <a:pPr marL="171450" indent="-171450">
              <a:buFont typeface="Arial" panose="020B0604020202020204" pitchFamily="34" charset="0"/>
              <a:buChar char="•"/>
            </a:pPr>
            <a:r>
              <a:rPr lang="en-US" dirty="0"/>
              <a:t>Same goal, different framing = better results</a:t>
            </a:r>
          </a:p>
          <a:p>
            <a:endParaRPr lang="en-US" b="1" dirty="0"/>
          </a:p>
          <a:p>
            <a:r>
              <a:rPr lang="en-US" b="1" dirty="0"/>
              <a:t>Introduce constraints</a:t>
            </a:r>
            <a:endParaRPr lang="en-US" dirty="0"/>
          </a:p>
          <a:p>
            <a:pPr marL="171450" indent="-171450">
              <a:buFont typeface="Arial" panose="020B0604020202020204" pitchFamily="34" charset="0"/>
              <a:buChar char="•"/>
            </a:pPr>
            <a:r>
              <a:rPr lang="en-US" dirty="0"/>
              <a:t>Restaurant recommendation without constraints = too broad</a:t>
            </a:r>
          </a:p>
          <a:p>
            <a:pPr marL="171450" indent="-171450">
              <a:buFont typeface="Arial" panose="020B0604020202020204" pitchFamily="34" charset="0"/>
              <a:buChar char="•"/>
            </a:pPr>
            <a:r>
              <a:rPr lang="en-US" dirty="0"/>
              <a:t>Add: "Italian cuisine only"</a:t>
            </a:r>
          </a:p>
          <a:p>
            <a:pPr marL="171450" indent="-171450">
              <a:buFont typeface="Arial" panose="020B0604020202020204" pitchFamily="34" charset="0"/>
              <a:buChar char="•"/>
            </a:pPr>
            <a:r>
              <a:rPr lang="en-US" dirty="0"/>
              <a:t>Add: "Downtown area, within 2 miles"</a:t>
            </a:r>
          </a:p>
          <a:p>
            <a:pPr marL="171450" indent="-171450">
              <a:buFont typeface="Arial" panose="020B0604020202020204" pitchFamily="34" charset="0"/>
              <a:buChar char="•"/>
            </a:pPr>
            <a:r>
              <a:rPr lang="en-US" dirty="0"/>
              <a:t>Add: "Must have curbside pickup"</a:t>
            </a:r>
          </a:p>
          <a:p>
            <a:pPr marL="171450" indent="-171450">
              <a:buFont typeface="Arial" panose="020B0604020202020204" pitchFamily="34" charset="0"/>
              <a:buChar char="•"/>
            </a:pPr>
            <a:r>
              <a:rPr lang="en-US" dirty="0"/>
              <a:t>Each constraint narrows and improves output quality</a:t>
            </a:r>
          </a:p>
          <a:p>
            <a:endParaRPr lang="en-US" b="1" dirty="0"/>
          </a:p>
          <a:p>
            <a:r>
              <a:rPr lang="en-US" b="1" dirty="0"/>
              <a:t>Mnemonic: RSTI</a:t>
            </a:r>
            <a:endParaRPr lang="en-US" dirty="0"/>
          </a:p>
          <a:p>
            <a:pPr marL="171450" indent="-171450">
              <a:buFont typeface="Arial" panose="020B0604020202020204" pitchFamily="34" charset="0"/>
              <a:buChar char="•"/>
            </a:pPr>
            <a:r>
              <a:rPr lang="en-US" dirty="0"/>
              <a:t>Memory device for iteration process</a:t>
            </a:r>
          </a:p>
          <a:p>
            <a:pPr marL="171450" indent="-171450">
              <a:buFont typeface="Arial" panose="020B0604020202020204" pitchFamily="34" charset="0"/>
              <a:buChar char="•"/>
            </a:pPr>
            <a:r>
              <a:rPr lang="en-US" dirty="0"/>
              <a:t>Emphasize: iteration = normal part of prompting</a:t>
            </a:r>
          </a:p>
          <a:p>
            <a:pPr marL="171450" indent="-171450">
              <a:buFont typeface="Arial" panose="020B0604020202020204" pitchFamily="34" charset="0"/>
              <a:buChar char="•"/>
            </a:pPr>
            <a:r>
              <a:rPr lang="en-US" dirty="0"/>
              <a:t>Not failure - it's refinement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19</a:t>
            </a:fld>
            <a:endParaRPr lang="en-US"/>
          </a:p>
        </p:txBody>
      </p:sp>
    </p:spTree>
    <p:extLst>
      <p:ext uri="{BB962C8B-B14F-4D97-AF65-F5344CB8AC3E}">
        <p14:creationId xmlns:p14="http://schemas.microsoft.com/office/powerpoint/2010/main" val="2436926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highlight the effectiveness of a carefully engineered prompt to extract information from the SEC 10-K filing and a couple of press releases.</a:t>
            </a:r>
          </a:p>
        </p:txBody>
      </p:sp>
      <p:sp>
        <p:nvSpPr>
          <p:cNvPr id="4" name="Slide Number Placeholder 3"/>
          <p:cNvSpPr>
            <a:spLocks noGrp="1"/>
          </p:cNvSpPr>
          <p:nvPr>
            <p:ph type="sldNum" sz="quarter" idx="5"/>
          </p:nvPr>
        </p:nvSpPr>
        <p:spPr/>
        <p:txBody>
          <a:bodyPr/>
          <a:lstStyle/>
          <a:p>
            <a:fld id="{20532378-A7CF-475A-BE97-0A1E8561A6EA}" type="slidenum">
              <a:rPr lang="en-US" smtClean="0"/>
              <a:t>20</a:t>
            </a:fld>
            <a:endParaRPr lang="en-US"/>
          </a:p>
        </p:txBody>
      </p:sp>
    </p:spTree>
    <p:extLst>
      <p:ext uri="{BB962C8B-B14F-4D97-AF65-F5344CB8AC3E}">
        <p14:creationId xmlns:p14="http://schemas.microsoft.com/office/powerpoint/2010/main" val="2934189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21</a:t>
            </a:fld>
            <a:endParaRPr lang="en-US"/>
          </a:p>
        </p:txBody>
      </p:sp>
    </p:spTree>
    <p:extLst>
      <p:ext uri="{BB962C8B-B14F-4D97-AF65-F5344CB8AC3E}">
        <p14:creationId xmlns:p14="http://schemas.microsoft.com/office/powerpoint/2010/main" val="3831922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On this slide we will evaluate some advanced techniques for working with more difficult problems.</a:t>
            </a:r>
          </a:p>
          <a:p>
            <a:endParaRPr lang="en-US" b="0" dirty="0"/>
          </a:p>
          <a:p>
            <a:r>
              <a:rPr lang="en-US" b="1" dirty="0"/>
              <a:t>Prompt Chaining</a:t>
            </a:r>
            <a:endParaRPr lang="en-US" b="0" dirty="0"/>
          </a:p>
          <a:p>
            <a:pPr marL="171450" indent="-171450">
              <a:buFont typeface="Arial" panose="020B0604020202020204" pitchFamily="34" charset="0"/>
              <a:buChar char="•"/>
            </a:pPr>
            <a:r>
              <a:rPr lang="en-US" b="0" dirty="0"/>
              <a:t>Get three versions of a summary for one of our press releases</a:t>
            </a:r>
          </a:p>
          <a:p>
            <a:pPr marL="171450" indent="-171450">
              <a:buFont typeface="Arial" panose="020B0604020202020204" pitchFamily="34" charset="0"/>
              <a:buChar char="•"/>
            </a:pPr>
            <a:r>
              <a:rPr lang="en-US" b="0" dirty="0"/>
              <a:t>Combine the three versions of the summary into something catchy and impactful</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1" dirty="0"/>
              <a:t>Chain of Thought</a:t>
            </a:r>
          </a:p>
          <a:p>
            <a:pPr marL="171450" indent="-171450">
              <a:buFont typeface="Arial" panose="020B0604020202020204" pitchFamily="34" charset="0"/>
              <a:buChar char="•"/>
            </a:pPr>
            <a:r>
              <a:rPr lang="en-US" b="0" dirty="0"/>
              <a:t>Explain reasoning as a step-by-step process</a:t>
            </a:r>
          </a:p>
          <a:p>
            <a:pPr marL="171450" indent="-171450">
              <a:buFont typeface="Arial" panose="020B0604020202020204" pitchFamily="34" charset="0"/>
              <a:buChar char="•"/>
            </a:pPr>
            <a:r>
              <a:rPr lang="en-US" b="0" dirty="0"/>
              <a:t>Just add the tagline “explain your thought process”</a:t>
            </a:r>
          </a:p>
          <a:p>
            <a:pPr marL="171450" indent="-171450">
              <a:buFont typeface="Arial" panose="020B0604020202020204" pitchFamily="34" charset="0"/>
              <a:buChar char="•"/>
            </a:pPr>
            <a:r>
              <a:rPr lang="en-US" b="0" dirty="0"/>
              <a:t>Helps you understand the model’s decision making and understand where things are going wrong</a:t>
            </a:r>
          </a:p>
          <a:p>
            <a:pPr marL="0" indent="0">
              <a:buFont typeface="Arial" panose="020B0604020202020204" pitchFamily="34" charset="0"/>
              <a:buNone/>
            </a:pPr>
            <a:endParaRPr lang="en-US" b="0" dirty="0"/>
          </a:p>
          <a:p>
            <a:pPr marL="0" indent="0">
              <a:buFont typeface="Arial" panose="020B0604020202020204" pitchFamily="34" charset="0"/>
              <a:buNone/>
            </a:pPr>
            <a:r>
              <a:rPr lang="en-US" b="1" dirty="0"/>
              <a:t>Tree of thought</a:t>
            </a:r>
          </a:p>
          <a:p>
            <a:pPr marL="171450" indent="-171450">
              <a:buFont typeface="Arial" panose="020B0604020202020204" pitchFamily="34" charset="0"/>
              <a:buChar char="•"/>
            </a:pPr>
            <a:r>
              <a:rPr lang="en-US" b="0" dirty="0"/>
              <a:t>Explore multiple reasoning paths simultaneously</a:t>
            </a:r>
          </a:p>
          <a:p>
            <a:pPr marL="171450" indent="-171450">
              <a:buFont typeface="Arial" panose="020B0604020202020204" pitchFamily="34" charset="0"/>
              <a:buChar char="•"/>
            </a:pPr>
            <a:r>
              <a:rPr lang="en-US" b="0" dirty="0"/>
              <a:t>Creating outlines and drafting sections for lengthy documents</a:t>
            </a:r>
          </a:p>
          <a:p>
            <a:pPr marL="171450" indent="-171450">
              <a:buFont typeface="Arial" panose="020B0604020202020204" pitchFamily="34" charset="0"/>
              <a:buChar char="•"/>
            </a:pPr>
            <a:r>
              <a:rPr lang="en-US" b="0" dirty="0"/>
              <a:t>YMMV</a:t>
            </a: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22</a:t>
            </a:fld>
            <a:endParaRPr lang="en-US"/>
          </a:p>
        </p:txBody>
      </p:sp>
    </p:spTree>
    <p:extLst>
      <p:ext uri="{BB962C8B-B14F-4D97-AF65-F5344CB8AC3E}">
        <p14:creationId xmlns:p14="http://schemas.microsoft.com/office/powerpoint/2010/main" val="2467279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will teach people how to build a Copilot agent and show some example agents I have already built.</a:t>
            </a:r>
          </a:p>
        </p:txBody>
      </p:sp>
      <p:sp>
        <p:nvSpPr>
          <p:cNvPr id="4" name="Slide Number Placeholder 3"/>
          <p:cNvSpPr>
            <a:spLocks noGrp="1"/>
          </p:cNvSpPr>
          <p:nvPr>
            <p:ph type="sldNum" sz="quarter" idx="5"/>
          </p:nvPr>
        </p:nvSpPr>
        <p:spPr/>
        <p:txBody>
          <a:bodyPr/>
          <a:lstStyle/>
          <a:p>
            <a:fld id="{20532378-A7CF-475A-BE97-0A1E8561A6EA}" type="slidenum">
              <a:rPr lang="en-US" smtClean="0"/>
              <a:t>23</a:t>
            </a:fld>
            <a:endParaRPr lang="en-US"/>
          </a:p>
        </p:txBody>
      </p:sp>
    </p:spTree>
    <p:extLst>
      <p:ext uri="{BB962C8B-B14F-4D97-AF65-F5344CB8AC3E}">
        <p14:creationId xmlns:p14="http://schemas.microsoft.com/office/powerpoint/2010/main" val="885003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we’ll cover some useful resources and work through more examples if we have time.</a:t>
            </a:r>
          </a:p>
          <a:p>
            <a:endParaRPr lang="en-US" dirty="0"/>
          </a:p>
          <a:p>
            <a:r>
              <a:rPr lang="en-US" b="1" dirty="0"/>
              <a:t>Eric’s Prompt Library</a:t>
            </a:r>
            <a:r>
              <a:rPr lang="en-US" b="0" dirty="0"/>
              <a:t> – I have built you an example prompt library that covers basic prompt examples.  People can copy-and-paste them to quickly get started.</a:t>
            </a:r>
          </a:p>
          <a:p>
            <a:endParaRPr lang="en-US" b="0" dirty="0"/>
          </a:p>
          <a:p>
            <a:r>
              <a:rPr lang="en-US" b="1" dirty="0"/>
              <a:t>References</a:t>
            </a:r>
            <a:r>
              <a:rPr lang="en-US" b="0" dirty="0"/>
              <a:t> – Google’s publication on prompt engineering, online courses, books, etc. will be shared with the group.</a:t>
            </a:r>
            <a:endParaRPr lang="en-US" b="1" dirty="0"/>
          </a:p>
        </p:txBody>
      </p:sp>
      <p:sp>
        <p:nvSpPr>
          <p:cNvPr id="4" name="Slide Number Placeholder 3"/>
          <p:cNvSpPr>
            <a:spLocks noGrp="1"/>
          </p:cNvSpPr>
          <p:nvPr>
            <p:ph type="sldNum" sz="quarter" idx="5"/>
          </p:nvPr>
        </p:nvSpPr>
        <p:spPr/>
        <p:txBody>
          <a:bodyPr/>
          <a:lstStyle/>
          <a:p>
            <a:fld id="{20532378-A7CF-475A-BE97-0A1E8561A6EA}" type="slidenum">
              <a:rPr lang="en-US" smtClean="0"/>
              <a:t>25</a:t>
            </a:fld>
            <a:endParaRPr lang="en-US"/>
          </a:p>
        </p:txBody>
      </p:sp>
    </p:spTree>
    <p:extLst>
      <p:ext uri="{BB962C8B-B14F-4D97-AF65-F5344CB8AC3E}">
        <p14:creationId xmlns:p14="http://schemas.microsoft.com/office/powerpoint/2010/main" val="192507380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Complex">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297AC3-A0B5-44C0-AE42-FC061CED5BBF}"/>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a:ext>
            </a:extLst>
          </a:blip>
          <a:srcRect l="437" r="10307" b="347"/>
          <a:stretch/>
        </p:blipFill>
        <p:spPr>
          <a:xfrm>
            <a:off x="-849" y="-33733"/>
            <a:ext cx="12253809" cy="6891733"/>
          </a:xfrm>
          <a:prstGeom prst="rect">
            <a:avLst/>
          </a:prstGeom>
        </p:spPr>
      </p:pic>
      <p:sp>
        <p:nvSpPr>
          <p:cNvPr id="8" name="Rectangle 7">
            <a:extLst>
              <a:ext uri="{FF2B5EF4-FFF2-40B4-BE49-F238E27FC236}">
                <a16:creationId xmlns:a16="http://schemas.microsoft.com/office/drawing/2014/main" id="{0B435896-A31D-4003-AFC8-333DF0F015E8}"/>
              </a:ext>
            </a:extLst>
          </p:cNvPr>
          <p:cNvSpPr/>
          <p:nvPr/>
        </p:nvSpPr>
        <p:spPr>
          <a:xfrm>
            <a:off x="-849" y="4114800"/>
            <a:ext cx="7315200" cy="27432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sym typeface="Arial"/>
            </a:endParaRPr>
          </a:p>
        </p:txBody>
      </p:sp>
      <p:sp>
        <p:nvSpPr>
          <p:cNvPr id="9" name="Rectangle 8">
            <a:extLst>
              <a:ext uri="{FF2B5EF4-FFF2-40B4-BE49-F238E27FC236}">
                <a16:creationId xmlns:a16="http://schemas.microsoft.com/office/drawing/2014/main" id="{5624BE56-4C94-4AE5-8FCE-9C7E23F186D3}"/>
              </a:ext>
            </a:extLst>
          </p:cNvPr>
          <p:cNvSpPr/>
          <p:nvPr/>
        </p:nvSpPr>
        <p:spPr>
          <a:xfrm>
            <a:off x="304802" y="4114800"/>
            <a:ext cx="7009551" cy="25146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sym typeface="Arial"/>
            </a:endParaRPr>
          </a:p>
        </p:txBody>
      </p:sp>
      <p:sp>
        <p:nvSpPr>
          <p:cNvPr id="2" name="Title 1"/>
          <p:cNvSpPr>
            <a:spLocks noGrp="1"/>
          </p:cNvSpPr>
          <p:nvPr>
            <p:ph type="ctrTitle" hasCustomPrompt="1"/>
          </p:nvPr>
        </p:nvSpPr>
        <p:spPr>
          <a:xfrm>
            <a:off x="320751" y="4133602"/>
            <a:ext cx="6993601" cy="1200329"/>
          </a:xfrm>
          <a:prstGeom prst="rect">
            <a:avLst/>
          </a:prstGeom>
          <a:noFill/>
          <a:ln>
            <a:noFill/>
          </a:ln>
        </p:spPr>
        <p:txBody>
          <a:bodyPr wrap="square" rtlCol="0">
            <a:spAutoFit/>
          </a:bodyPr>
          <a:lstStyle>
            <a:lvl1pPr>
              <a:defRPr kumimoji="0" lang="en-US" sz="3600" b="1" i="0" u="none" strike="noStrike" cap="none" spc="0" normalizeH="0" baseline="0" dirty="0">
                <a:ln>
                  <a:noFill/>
                </a:ln>
                <a:solidFill>
                  <a:prstClr val="white"/>
                </a:solidFill>
                <a:effectLst/>
                <a:uLnTx/>
                <a:uFillTx/>
                <a:latin typeface="Garamond" panose="02020404030301010803" pitchFamily="18" charset="0"/>
                <a:ea typeface="+mn-ea"/>
                <a:cs typeface="+mn-cs"/>
              </a:defRPr>
            </a:lvl1pPr>
          </a:lstStyle>
          <a:p>
            <a:pPr marL="0" marR="0" lvl="0" indent="0" fontAlgn="auto">
              <a:lnSpc>
                <a:spcPct val="100000"/>
              </a:lnSpc>
              <a:spcBef>
                <a:spcPts val="0"/>
              </a:spcBef>
              <a:spcAft>
                <a:spcPts val="0"/>
              </a:spcAft>
              <a:buClrTx/>
              <a:buSzTx/>
              <a:buFontTx/>
              <a:tabLst/>
            </a:pPr>
            <a:r>
              <a:rPr lang="en-US"/>
              <a:t>Click to edit Presentation Title Multiple Lines</a:t>
            </a:r>
          </a:p>
        </p:txBody>
      </p:sp>
      <p:sp>
        <p:nvSpPr>
          <p:cNvPr id="3" name="Subtitle 2"/>
          <p:cNvSpPr>
            <a:spLocks noGrp="1"/>
          </p:cNvSpPr>
          <p:nvPr>
            <p:ph type="subTitle" idx="1" hasCustomPrompt="1"/>
          </p:nvPr>
        </p:nvSpPr>
        <p:spPr>
          <a:xfrm>
            <a:off x="320749" y="5383679"/>
            <a:ext cx="6993603" cy="400110"/>
          </a:xfrm>
          <a:prstGeom prst="rect">
            <a:avLst/>
          </a:prstGeom>
          <a:noFill/>
          <a:ln>
            <a:noFill/>
          </a:ln>
        </p:spPr>
        <p:txBody>
          <a:bodyPr wrap="square" rtlCol="0">
            <a:spAutoFit/>
          </a:bodyPr>
          <a:lstStyle>
            <a:lvl1pPr marL="0" indent="0">
              <a:buNone/>
              <a:defRPr kumimoji="0" lang="en-US" sz="2000" b="0" i="0" u="none" strike="noStrike" cap="none" spc="0" normalizeH="0" baseline="0" dirty="0">
                <a:ln>
                  <a:noFill/>
                </a:ln>
                <a:solidFill>
                  <a:prstClr val="white"/>
                </a:solidFill>
                <a:effectLst/>
                <a:uLnTx/>
                <a:uFillTx/>
                <a:latin typeface="Calibri Light"/>
              </a:defRPr>
            </a:lvl1pPr>
          </a:lstStyle>
          <a:p>
            <a:pPr marL="228594" marR="0" lvl="0" indent="-228594" fontAlgn="auto">
              <a:lnSpc>
                <a:spcPct val="100000"/>
              </a:lnSpc>
              <a:spcBef>
                <a:spcPts val="0"/>
              </a:spcBef>
              <a:spcAft>
                <a:spcPts val="0"/>
              </a:spcAft>
              <a:buClrTx/>
              <a:buSzTx/>
              <a:tabLst/>
            </a:pPr>
            <a:r>
              <a:rPr lang="en-US"/>
              <a:t>Click to edit Speaker Name</a:t>
            </a:r>
          </a:p>
        </p:txBody>
      </p:sp>
      <p:sp>
        <p:nvSpPr>
          <p:cNvPr id="25" name="TextBox 24">
            <a:extLst>
              <a:ext uri="{FF2B5EF4-FFF2-40B4-BE49-F238E27FC236}">
                <a16:creationId xmlns:a16="http://schemas.microsoft.com/office/drawing/2014/main" id="{E08961F7-6D12-463B-8961-6959985C26FC}"/>
              </a:ext>
            </a:extLst>
          </p:cNvPr>
          <p:cNvSpPr txBox="1"/>
          <p:nvPr/>
        </p:nvSpPr>
        <p:spPr>
          <a:xfrm>
            <a:off x="318985" y="6589814"/>
            <a:ext cx="1740751" cy="307777"/>
          </a:xfrm>
          <a:prstGeom prst="rect">
            <a:avLst/>
          </a:prstGeom>
          <a:noFill/>
          <a:ln>
            <a:noFill/>
          </a:ln>
        </p:spPr>
        <p:txBody>
          <a:bodyPr wrap="square" rtlCol="0" anchor="ctr">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00" normalizeH="0" baseline="0" noProof="0" dirty="0">
                <a:ln>
                  <a:noFill/>
                </a:ln>
                <a:solidFill>
                  <a:prstClr val="white"/>
                </a:solidFill>
                <a:effectLst/>
                <a:uLnTx/>
                <a:uFillTx/>
                <a:latin typeface="Calibri Light"/>
                <a:ea typeface="+mn-ea"/>
                <a:cs typeface="Arial"/>
                <a:sym typeface="Arial"/>
              </a:rPr>
              <a:t>NYSE: EPD</a:t>
            </a:r>
          </a:p>
        </p:txBody>
      </p:sp>
      <p:sp>
        <p:nvSpPr>
          <p:cNvPr id="28" name="Text Placeholder 27">
            <a:extLst>
              <a:ext uri="{FF2B5EF4-FFF2-40B4-BE49-F238E27FC236}">
                <a16:creationId xmlns:a16="http://schemas.microsoft.com/office/drawing/2014/main" id="{1047A79C-6AF1-4ADB-8A61-EBAF9B9F3DEA}"/>
              </a:ext>
            </a:extLst>
          </p:cNvPr>
          <p:cNvSpPr>
            <a:spLocks noGrp="1"/>
          </p:cNvSpPr>
          <p:nvPr>
            <p:ph type="body" sz="quarter" idx="10" hasCustomPrompt="1"/>
          </p:nvPr>
        </p:nvSpPr>
        <p:spPr>
          <a:xfrm>
            <a:off x="319617" y="5750992"/>
            <a:ext cx="6993467" cy="307777"/>
          </a:xfrm>
          <a:noFill/>
          <a:ln>
            <a:noFill/>
          </a:ln>
        </p:spPr>
        <p:txBody>
          <a:bodyPr wrap="square" rtlCol="0">
            <a:spAutoFit/>
          </a:bodyPr>
          <a:lstStyle>
            <a:lvl1pPr marL="0" indent="0">
              <a:buNone/>
              <a:defRPr kumimoji="0" lang="en-US" sz="1400" b="0" i="0" u="none" strike="noStrike" cap="none" spc="0" normalizeH="0" baseline="0" dirty="0" smtClean="0">
                <a:ln>
                  <a:noFill/>
                </a:ln>
                <a:solidFill>
                  <a:prstClr val="white"/>
                </a:solidFill>
                <a:effectLst/>
                <a:uLnTx/>
                <a:uFillTx/>
                <a:latin typeface="Calibri Light"/>
              </a:defRPr>
            </a:lvl1pPr>
          </a:lstStyle>
          <a:p>
            <a:pPr marL="228594" marR="0" lvl="0" indent="-228594" fontAlgn="auto">
              <a:lnSpc>
                <a:spcPct val="100000"/>
              </a:lnSpc>
              <a:spcBef>
                <a:spcPts val="0"/>
              </a:spcBef>
              <a:spcAft>
                <a:spcPts val="0"/>
              </a:spcAft>
              <a:buClrTx/>
              <a:buSzTx/>
              <a:tabLst/>
            </a:pPr>
            <a:r>
              <a:rPr lang="en-US"/>
              <a:t>Click to edit Speaker Title</a:t>
            </a:r>
          </a:p>
        </p:txBody>
      </p:sp>
      <p:sp>
        <p:nvSpPr>
          <p:cNvPr id="31" name="Text Placeholder 30">
            <a:extLst>
              <a:ext uri="{FF2B5EF4-FFF2-40B4-BE49-F238E27FC236}">
                <a16:creationId xmlns:a16="http://schemas.microsoft.com/office/drawing/2014/main" id="{985802C6-646C-4C86-AB48-42F23622175D}"/>
              </a:ext>
            </a:extLst>
          </p:cNvPr>
          <p:cNvSpPr>
            <a:spLocks noGrp="1"/>
          </p:cNvSpPr>
          <p:nvPr>
            <p:ph type="body" sz="quarter" idx="11" hasCustomPrompt="1"/>
          </p:nvPr>
        </p:nvSpPr>
        <p:spPr>
          <a:xfrm>
            <a:off x="304800" y="6315092"/>
            <a:ext cx="6993467" cy="307777"/>
          </a:xfrm>
          <a:noFill/>
          <a:ln>
            <a:noFill/>
          </a:ln>
        </p:spPr>
        <p:txBody>
          <a:bodyPr wrap="square" rtlCol="0">
            <a:spAutoFit/>
          </a:bodyPr>
          <a:lstStyle>
            <a:lvl1pPr marL="0" indent="0" algn="r">
              <a:buNone/>
              <a:defRPr kumimoji="0" lang="en-US" sz="1400" b="0" i="0" u="none" strike="noStrike" cap="none" spc="0" normalizeH="0" baseline="0" dirty="0">
                <a:ln>
                  <a:noFill/>
                </a:ln>
                <a:solidFill>
                  <a:prstClr val="white"/>
                </a:solidFill>
                <a:effectLst/>
                <a:uLnTx/>
                <a:uFillTx/>
                <a:latin typeface="Calibri Light"/>
              </a:defRPr>
            </a:lvl1pPr>
          </a:lstStyle>
          <a:p>
            <a:pPr marL="228594" marR="0" lvl="0" indent="-228594" algn="r" fontAlgn="auto">
              <a:lnSpc>
                <a:spcPct val="100000"/>
              </a:lnSpc>
              <a:spcBef>
                <a:spcPts val="0"/>
              </a:spcBef>
              <a:spcAft>
                <a:spcPts val="0"/>
              </a:spcAft>
              <a:buClrTx/>
              <a:buSzTx/>
              <a:tabLst/>
            </a:pPr>
            <a:r>
              <a:rPr lang="en-US"/>
              <a:t>Click to edit Date</a:t>
            </a:r>
          </a:p>
        </p:txBody>
      </p:sp>
      <p:pic>
        <p:nvPicPr>
          <p:cNvPr id="11" name="Picture 10" descr="Text&#10;&#10;Description automatically generated">
            <a:extLst>
              <a:ext uri="{FF2B5EF4-FFF2-40B4-BE49-F238E27FC236}">
                <a16:creationId xmlns:a16="http://schemas.microsoft.com/office/drawing/2014/main" id="{A6837D9A-5680-494C-9B0E-FBC54E9994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57" y="-112392"/>
            <a:ext cx="3190207" cy="1119515"/>
          </a:xfrm>
          <a:prstGeom prst="rect">
            <a:avLst/>
          </a:prstGeom>
        </p:spPr>
      </p:pic>
    </p:spTree>
    <p:extLst>
      <p:ext uri="{BB962C8B-B14F-4D97-AF65-F5344CB8AC3E}">
        <p14:creationId xmlns:p14="http://schemas.microsoft.com/office/powerpoint/2010/main" val="1408351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SectionTitle_Pip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4197" r="14197"/>
          <a:stretch/>
        </p:blipFill>
        <p:spPr>
          <a:xfrm>
            <a:off x="7314349" y="3429000"/>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4" y="5976258"/>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25630"/>
            <a:ext cx="10515600" cy="595869"/>
          </a:xfrm>
          <a:noFill/>
          <a:ln>
            <a:noFill/>
          </a:ln>
        </p:spPr>
        <p:txBody>
          <a:bodyPr wrap="square" rtlCol="0">
            <a:spAutoFit/>
          </a:bodyPr>
          <a:lstStyle>
            <a:lvl1pPr>
              <a:defRPr lang="en-US" sz="3600" b="1">
                <a:solidFill>
                  <a:srgbClr val="042A4A"/>
                </a:solidFill>
                <a:latin typeface="Garamond" panose="02020404030301010803" pitchFamily="18" charset="0"/>
                <a:ea typeface="+mn-ea"/>
                <a:cs typeface="+mn-cs"/>
              </a:defRPr>
            </a:lvl1pPr>
          </a:lstStyle>
          <a:p>
            <a:pPr marL="0" lvl="0" defTabSz="457189"/>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12373"/>
            <a:ext cx="977584" cy="184666"/>
          </a:xfrm>
          <a:noFill/>
        </p:spPr>
        <p:txBody>
          <a:bodyPr wrap="square" lIns="0" tIns="0" rIns="91440" bIns="0" rtlCol="0" anchor="ctr">
            <a:spAutoFit/>
          </a:bodyPr>
          <a:lstStyle>
            <a:lvl1pPr>
              <a:defRPr lang="en-US" sz="1200" b="1" smtClean="0">
                <a:solidFill>
                  <a:srgbClr val="042A4A"/>
                </a:solidFill>
                <a:latin typeface="Garamond" panose="02020404030301010803" pitchFamily="18" charset="0"/>
              </a:defRPr>
            </a:lvl1pPr>
          </a:lstStyle>
          <a:p>
            <a:pPr defTabSz="457189"/>
            <a:fld id="{3A9B7876-5BD9-4D83-8BFD-52DE9887E74B}" type="slidenum">
              <a:rPr lang="en-US" smtClean="0">
                <a:cs typeface="Arial"/>
                <a:sym typeface="Arial"/>
              </a:rPr>
              <a:pPr defTabSz="457189"/>
              <a:t>‹#›</a:t>
            </a:fld>
            <a:endParaRPr lang="en-US" dirty="0">
              <a:cs typeface="Arial"/>
              <a:sym typeface="Arial"/>
            </a:endParaRPr>
          </a:p>
        </p:txBody>
      </p:sp>
    </p:spTree>
    <p:extLst>
      <p:ext uri="{BB962C8B-B14F-4D97-AF65-F5344CB8AC3E}">
        <p14:creationId xmlns:p14="http://schemas.microsoft.com/office/powerpoint/2010/main" val="3820957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Title_Pip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311089" y="3436503"/>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4" y="5976258"/>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25630"/>
            <a:ext cx="10515600" cy="595869"/>
          </a:xfrm>
          <a:noFill/>
          <a:ln>
            <a:noFill/>
          </a:ln>
        </p:spPr>
        <p:txBody>
          <a:bodyPr wrap="square" rtlCol="0">
            <a:spAutoFit/>
          </a:bodyPr>
          <a:lstStyle>
            <a:lvl1pPr>
              <a:defRPr lang="en-US" sz="3600" b="1">
                <a:solidFill>
                  <a:srgbClr val="042A4A"/>
                </a:solidFill>
                <a:latin typeface="Garamond" panose="02020404030301010803" pitchFamily="18" charset="0"/>
                <a:ea typeface="+mn-ea"/>
                <a:cs typeface="+mn-cs"/>
              </a:defRPr>
            </a:lvl1pPr>
          </a:lstStyle>
          <a:p>
            <a:pPr marL="0" lvl="0" defTabSz="457189"/>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12373"/>
            <a:ext cx="977584" cy="184666"/>
          </a:xfrm>
          <a:noFill/>
        </p:spPr>
        <p:txBody>
          <a:bodyPr wrap="square" lIns="0" tIns="0" rIns="91440" bIns="0" rtlCol="0" anchor="ctr">
            <a:spAutoFit/>
          </a:bodyPr>
          <a:lstStyle>
            <a:lvl1pPr>
              <a:defRPr lang="en-US" sz="1200" b="1" smtClean="0">
                <a:solidFill>
                  <a:srgbClr val="042A4A"/>
                </a:solidFill>
                <a:latin typeface="Garamond" panose="02020404030301010803" pitchFamily="18" charset="0"/>
              </a:defRPr>
            </a:lvl1pPr>
          </a:lstStyle>
          <a:p>
            <a:pPr defTabSz="457189"/>
            <a:fld id="{3A9B7876-5BD9-4D83-8BFD-52DE9887E74B}" type="slidenum">
              <a:rPr lang="en-US" smtClean="0">
                <a:cs typeface="Arial"/>
                <a:sym typeface="Arial"/>
              </a:rPr>
              <a:pPr defTabSz="457189"/>
              <a:t>‹#›</a:t>
            </a:fld>
            <a:endParaRPr lang="en-US" dirty="0">
              <a:cs typeface="Arial"/>
              <a:sym typeface="Arial"/>
            </a:endParaRPr>
          </a:p>
        </p:txBody>
      </p:sp>
    </p:spTree>
    <p:extLst>
      <p:ext uri="{BB962C8B-B14F-4D97-AF65-F5344CB8AC3E}">
        <p14:creationId xmlns:p14="http://schemas.microsoft.com/office/powerpoint/2010/main" val="3377195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5698" y="10759"/>
            <a:ext cx="10821447" cy="590931"/>
          </a:xfrm>
          <a:prstGeom prst="rect">
            <a:avLst/>
          </a:prstGeom>
          <a:noFill/>
        </p:spPr>
        <p:txBody>
          <a:bodyPr wrap="square" rtlCol="0">
            <a:spAutoFit/>
          </a:bodyPr>
          <a:lstStyle>
            <a:lvl1pPr>
              <a:defRPr lang="en-US" sz="3600" dirty="0">
                <a:ea typeface="+mn-ea"/>
                <a:cs typeface="+mn-cs"/>
              </a:defRPr>
            </a:lvl1pPr>
          </a:lstStyle>
          <a:p>
            <a:pPr marL="0" lvl="0" defTabSz="457189"/>
            <a:r>
              <a:rPr lang="en-US"/>
              <a:t>Click to edit Slide Title</a:t>
            </a:r>
          </a:p>
        </p:txBody>
      </p:sp>
      <p:sp>
        <p:nvSpPr>
          <p:cNvPr id="3" name="Content Placeholder 2"/>
          <p:cNvSpPr>
            <a:spLocks noGrp="1"/>
          </p:cNvSpPr>
          <p:nvPr>
            <p:ph idx="1"/>
          </p:nvPr>
        </p:nvSpPr>
        <p:spPr>
          <a:xfrm>
            <a:off x="566225" y="1333948"/>
            <a:ext cx="10787576" cy="4931560"/>
          </a:xfrm>
          <a:prstGeom prst="rect">
            <a:avLst/>
          </a:prstGeom>
        </p:spPr>
        <p:txBody>
          <a:bodyPr/>
          <a:lstStyle>
            <a:lvl1pPr marL="228594" indent="-228594">
              <a:buFont typeface="Arial" panose="020B0604020202020204" pitchFamily="34" charset="0"/>
              <a:buChar char="•"/>
              <a:defRPr>
                <a:latin typeface="+mj-lt"/>
              </a:defRPr>
            </a:lvl1pPr>
            <a:lvl2pPr marL="685783" indent="-228594">
              <a:buFont typeface="Calibri Light" panose="020F0302020204030204" pitchFamily="34" charset="0"/>
              <a:buChar char="‐"/>
              <a:defRPr>
                <a:latin typeface="+mj-lt"/>
              </a:defRPr>
            </a:lvl2pPr>
            <a:lvl3pPr marL="1142971" indent="-228594">
              <a:buFont typeface="Arial" panose="020B0604020202020204" pitchFamily="34" charset="0"/>
              <a:buChar char="•"/>
              <a:defRPr>
                <a:latin typeface="+mj-lt"/>
              </a:defRPr>
            </a:lvl3pPr>
            <a:lvl4pPr>
              <a:defRPr>
                <a:latin typeface="+mj-lt"/>
              </a:defRPr>
            </a:lvl4pPr>
            <a:lvl5pPr marL="2057349" indent="-228594">
              <a:buFont typeface="Wingdings" panose="05000000000000000000" pitchFamily="2" charset="2"/>
              <a:buChar char="ü"/>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7647F8E-ADDF-4FC6-A381-978C6C2E91F8}"/>
              </a:ext>
            </a:extLst>
          </p:cNvPr>
          <p:cNvSpPr/>
          <p:nvPr/>
        </p:nvSpPr>
        <p:spPr>
          <a:xfrm>
            <a:off x="0" y="-4254"/>
            <a:ext cx="170688" cy="894331"/>
          </a:xfrm>
          <a:prstGeom prst="rect">
            <a:avLst/>
          </a:prstGeom>
          <a:solidFill>
            <a:srgbClr val="12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B6C174DF-FFE2-4945-A99D-3444E1F077F4}"/>
              </a:ext>
            </a:extLst>
          </p:cNvPr>
          <p:cNvSpPr txBox="1"/>
          <p:nvPr/>
        </p:nvSpPr>
        <p:spPr>
          <a:xfrm>
            <a:off x="566226" y="6611988"/>
            <a:ext cx="6043407" cy="207877"/>
          </a:xfrm>
          <a:prstGeom prst="rect">
            <a:avLst/>
          </a:prstGeom>
          <a:noFill/>
        </p:spPr>
        <p:txBody>
          <a:bodyPr wrap="square" bIns="0" rtlCol="0" anchor="ctr">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lumMod val="75000"/>
                  </a:srgbClr>
                </a:solidFill>
                <a:effectLst/>
                <a:uLnTx/>
                <a:uFillTx/>
                <a:latin typeface="Calibri Light"/>
                <a:ea typeface="+mn-ea"/>
                <a:cs typeface="+mn-cs"/>
              </a:rPr>
              <a:t>© All Rights Reserved. Enterprise Products Partners L.P.</a:t>
            </a:r>
          </a:p>
        </p:txBody>
      </p:sp>
      <p:sp>
        <p:nvSpPr>
          <p:cNvPr id="11" name="TextBox 10">
            <a:extLst>
              <a:ext uri="{FF2B5EF4-FFF2-40B4-BE49-F238E27FC236}">
                <a16:creationId xmlns:a16="http://schemas.microsoft.com/office/drawing/2014/main" id="{91D504AB-849E-41A6-AFF1-059E71BE3545}"/>
              </a:ext>
            </a:extLst>
          </p:cNvPr>
          <p:cNvSpPr txBox="1"/>
          <p:nvPr/>
        </p:nvSpPr>
        <p:spPr>
          <a:xfrm>
            <a:off x="5022468" y="6611988"/>
            <a:ext cx="2710688" cy="207877"/>
          </a:xfrm>
          <a:prstGeom prst="rect">
            <a:avLst/>
          </a:prstGeom>
          <a:noFill/>
        </p:spPr>
        <p:txBody>
          <a:bodyPr wrap="square" bIns="0" rtlCol="0" anchor="ct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lumMod val="75000"/>
                  </a:srgbClr>
                </a:solidFill>
                <a:effectLst/>
                <a:uLnTx/>
                <a:uFillTx/>
                <a:latin typeface="Calibri Light"/>
                <a:ea typeface="+mn-ea"/>
                <a:cs typeface="+mn-cs"/>
              </a:rPr>
              <a:t>enterpriseproducts.com</a:t>
            </a:r>
          </a:p>
        </p:txBody>
      </p:sp>
      <p:pic>
        <p:nvPicPr>
          <p:cNvPr id="12" name="Picture 11" descr="Logo&#10;&#10;Description automatically generated">
            <a:extLst>
              <a:ext uri="{FF2B5EF4-FFF2-40B4-BE49-F238E27FC236}">
                <a16:creationId xmlns:a16="http://schemas.microsoft.com/office/drawing/2014/main" id="{82C6FC79-B392-4303-AD72-E82E452775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40" t="9110" r="11577" b="12413"/>
          <a:stretch/>
        </p:blipFill>
        <p:spPr>
          <a:xfrm>
            <a:off x="108321" y="6425745"/>
            <a:ext cx="464195" cy="387880"/>
          </a:xfrm>
          <a:prstGeom prst="rect">
            <a:avLst/>
          </a:prstGeom>
        </p:spPr>
      </p:pic>
      <p:sp>
        <p:nvSpPr>
          <p:cNvPr id="15" name="Text Placeholder 14">
            <a:extLst>
              <a:ext uri="{FF2B5EF4-FFF2-40B4-BE49-F238E27FC236}">
                <a16:creationId xmlns:a16="http://schemas.microsoft.com/office/drawing/2014/main" id="{6A7CD741-1C73-4CA1-8196-B86659CA0FF5}"/>
              </a:ext>
            </a:extLst>
          </p:cNvPr>
          <p:cNvSpPr>
            <a:spLocks noGrp="1"/>
          </p:cNvSpPr>
          <p:nvPr>
            <p:ph type="body" sz="quarter" idx="10" hasCustomPrompt="1"/>
          </p:nvPr>
        </p:nvSpPr>
        <p:spPr>
          <a:xfrm>
            <a:off x="185795" y="527944"/>
            <a:ext cx="10801348" cy="424732"/>
          </a:xfrm>
          <a:noFill/>
        </p:spPr>
        <p:txBody>
          <a:bodyPr wrap="square" rtlCol="0">
            <a:spAutoFit/>
          </a:bodyPr>
          <a:lstStyle>
            <a:lvl1pPr marL="0" indent="0">
              <a:buNone/>
              <a:defRPr lang="en-US" sz="2400" dirty="0" smtClean="0">
                <a:solidFill>
                  <a:srgbClr val="12517C"/>
                </a:solidFill>
                <a:latin typeface="+mj-lt"/>
              </a:defRPr>
            </a:lvl1pPr>
          </a:lstStyle>
          <a:p>
            <a:pPr marL="0" lvl="0" defTabSz="457189"/>
            <a:r>
              <a:rPr lang="en-US"/>
              <a:t>Click to edit Subtitle</a:t>
            </a:r>
          </a:p>
        </p:txBody>
      </p:sp>
      <p:sp>
        <p:nvSpPr>
          <p:cNvPr id="17" name="Slide Number Placeholder 16">
            <a:extLst>
              <a:ext uri="{FF2B5EF4-FFF2-40B4-BE49-F238E27FC236}">
                <a16:creationId xmlns:a16="http://schemas.microsoft.com/office/drawing/2014/main" id="{63705D3A-1401-951C-8678-A3DA27F1A17E}"/>
              </a:ext>
            </a:extLst>
          </p:cNvPr>
          <p:cNvSpPr>
            <a:spLocks noGrp="1"/>
          </p:cNvSpPr>
          <p:nvPr>
            <p:ph type="sldNum" sz="quarter" idx="13"/>
          </p:nvPr>
        </p:nvSpPr>
        <p:spPr>
          <a:xfrm>
            <a:off x="8953500" y="6492875"/>
            <a:ext cx="2743200" cy="365125"/>
          </a:xfrm>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40120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5698" y="10759"/>
            <a:ext cx="10821447" cy="590931"/>
          </a:xfrm>
          <a:prstGeom prst="rect">
            <a:avLst/>
          </a:prstGeom>
          <a:noFill/>
        </p:spPr>
        <p:txBody>
          <a:bodyPr wrap="square" rtlCol="0">
            <a:spAutoFit/>
          </a:bodyPr>
          <a:lstStyle>
            <a:lvl1pPr>
              <a:defRPr lang="en-US" sz="3600" dirty="0">
                <a:ea typeface="+mn-ea"/>
                <a:cs typeface="+mn-cs"/>
              </a:defRPr>
            </a:lvl1pPr>
          </a:lstStyle>
          <a:p>
            <a:pPr marL="0" lvl="0" defTabSz="457189"/>
            <a:r>
              <a:rPr lang="en-US"/>
              <a:t>Click to edit Slide Title</a:t>
            </a:r>
          </a:p>
        </p:txBody>
      </p:sp>
      <p:sp>
        <p:nvSpPr>
          <p:cNvPr id="3" name="Content Placeholder 2"/>
          <p:cNvSpPr>
            <a:spLocks noGrp="1"/>
          </p:cNvSpPr>
          <p:nvPr>
            <p:ph idx="1"/>
          </p:nvPr>
        </p:nvSpPr>
        <p:spPr>
          <a:xfrm>
            <a:off x="566225" y="1333948"/>
            <a:ext cx="10787576" cy="4931560"/>
          </a:xfrm>
          <a:prstGeom prst="rect">
            <a:avLst/>
          </a:prstGeom>
        </p:spPr>
        <p:txBody>
          <a:bodyPr/>
          <a:lstStyle>
            <a:lvl1pPr marL="228594" indent="-228594">
              <a:buFont typeface="Arial" panose="020B0604020202020204" pitchFamily="34" charset="0"/>
              <a:buChar char="•"/>
              <a:defRPr>
                <a:latin typeface="+mj-lt"/>
              </a:defRPr>
            </a:lvl1pPr>
            <a:lvl2pPr marL="685783" indent="-228594">
              <a:buFont typeface="Calibri Light" panose="020F0302020204030204" pitchFamily="34" charset="0"/>
              <a:buChar char="‐"/>
              <a:defRPr>
                <a:latin typeface="+mj-lt"/>
              </a:defRPr>
            </a:lvl2pPr>
            <a:lvl3pPr marL="1142971" indent="-228594">
              <a:buFont typeface="Arial" panose="020B0604020202020204" pitchFamily="34" charset="0"/>
              <a:buChar char="•"/>
              <a:defRPr>
                <a:latin typeface="+mj-lt"/>
              </a:defRPr>
            </a:lvl3pPr>
            <a:lvl4pPr>
              <a:defRPr>
                <a:latin typeface="+mj-lt"/>
              </a:defRPr>
            </a:lvl4pPr>
            <a:lvl5pPr marL="2057349" indent="-228594">
              <a:buFont typeface="Wingdings" panose="05000000000000000000" pitchFamily="2" charset="2"/>
              <a:buChar char="ü"/>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7647F8E-ADDF-4FC6-A381-978C6C2E91F8}"/>
              </a:ext>
            </a:extLst>
          </p:cNvPr>
          <p:cNvSpPr/>
          <p:nvPr/>
        </p:nvSpPr>
        <p:spPr>
          <a:xfrm>
            <a:off x="0" y="-4254"/>
            <a:ext cx="170688" cy="894331"/>
          </a:xfrm>
          <a:prstGeom prst="rect">
            <a:avLst/>
          </a:prstGeom>
          <a:solidFill>
            <a:srgbClr val="12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B6C174DF-FFE2-4945-A99D-3444E1F077F4}"/>
              </a:ext>
            </a:extLst>
          </p:cNvPr>
          <p:cNvSpPr txBox="1"/>
          <p:nvPr/>
        </p:nvSpPr>
        <p:spPr>
          <a:xfrm>
            <a:off x="566226" y="6611988"/>
            <a:ext cx="6043407" cy="207877"/>
          </a:xfrm>
          <a:prstGeom prst="rect">
            <a:avLst/>
          </a:prstGeom>
          <a:noFill/>
        </p:spPr>
        <p:txBody>
          <a:bodyPr wrap="square" bIns="0" rtlCol="0" anchor="ctr">
            <a:spAutoFit/>
          </a:bodyPr>
          <a:lstStyle/>
          <a:p>
            <a:pPr marL="0" marR="0" lvl="0" indent="0" algn="l" defTabSz="457189"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lumMod val="75000"/>
                  </a:srgbClr>
                </a:solidFill>
                <a:effectLst/>
                <a:uLnTx/>
                <a:uFillTx/>
                <a:latin typeface="Calibri Light"/>
                <a:ea typeface="+mn-ea"/>
                <a:cs typeface="+mn-cs"/>
              </a:rPr>
              <a:t>© All Rights Reserved. Enterprise Products Partners L.P.</a:t>
            </a:r>
          </a:p>
        </p:txBody>
      </p:sp>
      <p:sp>
        <p:nvSpPr>
          <p:cNvPr id="11" name="TextBox 10">
            <a:extLst>
              <a:ext uri="{FF2B5EF4-FFF2-40B4-BE49-F238E27FC236}">
                <a16:creationId xmlns:a16="http://schemas.microsoft.com/office/drawing/2014/main" id="{91D504AB-849E-41A6-AFF1-059E71BE3545}"/>
              </a:ext>
            </a:extLst>
          </p:cNvPr>
          <p:cNvSpPr txBox="1"/>
          <p:nvPr/>
        </p:nvSpPr>
        <p:spPr>
          <a:xfrm>
            <a:off x="5022468" y="6611988"/>
            <a:ext cx="2710688" cy="207877"/>
          </a:xfrm>
          <a:prstGeom prst="rect">
            <a:avLst/>
          </a:prstGeom>
          <a:noFill/>
        </p:spPr>
        <p:txBody>
          <a:bodyPr wrap="square" bIns="0" rtlCol="0" anchor="ctr">
            <a:spAutoFit/>
          </a:bodyPr>
          <a:lstStyle/>
          <a:p>
            <a:pPr marL="0" marR="0" lvl="0" indent="0" algn="ctr" defTabSz="457189" rtl="0" eaLnBrk="1" fontAlgn="auto" latinLnBrk="0" hangingPunct="1">
              <a:lnSpc>
                <a:spcPct val="100000"/>
              </a:lnSpc>
              <a:spcBef>
                <a:spcPts val="0"/>
              </a:spcBef>
              <a:spcAft>
                <a:spcPts val="0"/>
              </a:spcAft>
              <a:buClrTx/>
              <a:buSzTx/>
              <a:buFontTx/>
              <a:buNone/>
              <a:tabLst/>
              <a:defRPr/>
            </a:pPr>
            <a:r>
              <a:rPr kumimoji="0" lang="en-US" sz="1051" b="0" i="0" u="none" strike="noStrike" kern="1200" cap="none" spc="0" normalizeH="0" baseline="0" noProof="0" dirty="0">
                <a:ln>
                  <a:noFill/>
                </a:ln>
                <a:solidFill>
                  <a:srgbClr val="FFFFFF">
                    <a:lumMod val="75000"/>
                  </a:srgbClr>
                </a:solidFill>
                <a:effectLst/>
                <a:uLnTx/>
                <a:uFillTx/>
                <a:latin typeface="Calibri Light"/>
                <a:ea typeface="+mn-ea"/>
                <a:cs typeface="+mn-cs"/>
              </a:rPr>
              <a:t>enterpriseproducts.com</a:t>
            </a:r>
          </a:p>
        </p:txBody>
      </p:sp>
      <p:pic>
        <p:nvPicPr>
          <p:cNvPr id="12" name="Picture 11" descr="Logo&#10;&#10;Description automatically generated">
            <a:extLst>
              <a:ext uri="{FF2B5EF4-FFF2-40B4-BE49-F238E27FC236}">
                <a16:creationId xmlns:a16="http://schemas.microsoft.com/office/drawing/2014/main" id="{82C6FC79-B392-4303-AD72-E82E452775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40" t="9110" r="11577" b="12413"/>
          <a:stretch/>
        </p:blipFill>
        <p:spPr>
          <a:xfrm>
            <a:off x="108321" y="6425745"/>
            <a:ext cx="464195" cy="387880"/>
          </a:xfrm>
          <a:prstGeom prst="rect">
            <a:avLst/>
          </a:prstGeom>
        </p:spPr>
      </p:pic>
      <p:sp>
        <p:nvSpPr>
          <p:cNvPr id="15" name="Text Placeholder 14">
            <a:extLst>
              <a:ext uri="{FF2B5EF4-FFF2-40B4-BE49-F238E27FC236}">
                <a16:creationId xmlns:a16="http://schemas.microsoft.com/office/drawing/2014/main" id="{6A7CD741-1C73-4CA1-8196-B86659CA0FF5}"/>
              </a:ext>
            </a:extLst>
          </p:cNvPr>
          <p:cNvSpPr>
            <a:spLocks noGrp="1"/>
          </p:cNvSpPr>
          <p:nvPr>
            <p:ph type="body" sz="quarter" idx="10" hasCustomPrompt="1"/>
          </p:nvPr>
        </p:nvSpPr>
        <p:spPr>
          <a:xfrm>
            <a:off x="185795" y="527944"/>
            <a:ext cx="10801348" cy="424732"/>
          </a:xfrm>
          <a:noFill/>
        </p:spPr>
        <p:txBody>
          <a:bodyPr wrap="square" rtlCol="0">
            <a:spAutoFit/>
          </a:bodyPr>
          <a:lstStyle>
            <a:lvl1pPr marL="0" indent="0">
              <a:buNone/>
              <a:defRPr lang="en-US" sz="2400" dirty="0" smtClean="0">
                <a:solidFill>
                  <a:srgbClr val="12517C"/>
                </a:solidFill>
                <a:latin typeface="+mj-lt"/>
              </a:defRPr>
            </a:lvl1pPr>
          </a:lstStyle>
          <a:p>
            <a:pPr marL="0" lvl="0" defTabSz="457189"/>
            <a:r>
              <a:rPr lang="en-US"/>
              <a:t>Click to edit Subtitle</a:t>
            </a:r>
          </a:p>
        </p:txBody>
      </p:sp>
      <p:sp>
        <p:nvSpPr>
          <p:cNvPr id="17" name="Slide Number Placeholder 16">
            <a:extLst>
              <a:ext uri="{FF2B5EF4-FFF2-40B4-BE49-F238E27FC236}">
                <a16:creationId xmlns:a16="http://schemas.microsoft.com/office/drawing/2014/main" id="{63705D3A-1401-951C-8678-A3DA27F1A17E}"/>
              </a:ext>
            </a:extLst>
          </p:cNvPr>
          <p:cNvSpPr>
            <a:spLocks noGrp="1"/>
          </p:cNvSpPr>
          <p:nvPr>
            <p:ph type="sldNum" sz="quarter" idx="13"/>
          </p:nvPr>
        </p:nvSpPr>
        <p:spPr>
          <a:xfrm>
            <a:off x="8953500" y="6492875"/>
            <a:ext cx="2743200" cy="365125"/>
          </a:xfrm>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1669136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Slide_NGL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A34621B-7BE8-408D-961C-878B5FB34291}"/>
              </a:ext>
            </a:extLst>
          </p:cNvPr>
          <p:cNvPicPr>
            <a:picLocks noChangeAspect="1"/>
          </p:cNvPicPr>
          <p:nvPr/>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l="5769" t="711" r="5995"/>
          <a:stretch/>
        </p:blipFill>
        <p:spPr>
          <a:xfrm>
            <a:off x="-2955" y="1"/>
            <a:ext cx="12192000" cy="6869053"/>
          </a:xfrm>
          <a:prstGeom prst="rect">
            <a:avLst/>
          </a:prstGeom>
        </p:spPr>
      </p:pic>
      <p:sp>
        <p:nvSpPr>
          <p:cNvPr id="8" name="Rectangle 7">
            <a:extLst>
              <a:ext uri="{FF2B5EF4-FFF2-40B4-BE49-F238E27FC236}">
                <a16:creationId xmlns:a16="http://schemas.microsoft.com/office/drawing/2014/main" id="{0B435896-A31D-4003-AFC8-333DF0F015E8}"/>
              </a:ext>
            </a:extLst>
          </p:cNvPr>
          <p:cNvSpPr/>
          <p:nvPr/>
        </p:nvSpPr>
        <p:spPr>
          <a:xfrm>
            <a:off x="-849" y="4114800"/>
            <a:ext cx="7315200" cy="27432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9" name="Rectangle 8">
            <a:extLst>
              <a:ext uri="{FF2B5EF4-FFF2-40B4-BE49-F238E27FC236}">
                <a16:creationId xmlns:a16="http://schemas.microsoft.com/office/drawing/2014/main" id="{5624BE56-4C94-4AE5-8FCE-9C7E23F186D3}"/>
              </a:ext>
            </a:extLst>
          </p:cNvPr>
          <p:cNvSpPr/>
          <p:nvPr/>
        </p:nvSpPr>
        <p:spPr>
          <a:xfrm>
            <a:off x="304801" y="4114800"/>
            <a:ext cx="7009551" cy="25146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a:ea typeface="+mn-ea"/>
              <a:cs typeface="+mn-cs"/>
            </a:endParaRPr>
          </a:p>
        </p:txBody>
      </p:sp>
      <p:sp>
        <p:nvSpPr>
          <p:cNvPr id="2" name="Title 1"/>
          <p:cNvSpPr>
            <a:spLocks noGrp="1"/>
          </p:cNvSpPr>
          <p:nvPr>
            <p:ph type="ctrTitle" hasCustomPrompt="1"/>
          </p:nvPr>
        </p:nvSpPr>
        <p:spPr>
          <a:xfrm>
            <a:off x="320750" y="4133602"/>
            <a:ext cx="6993601" cy="1200329"/>
          </a:xfrm>
          <a:prstGeom prst="rect">
            <a:avLst/>
          </a:prstGeom>
          <a:noFill/>
          <a:ln>
            <a:noFill/>
          </a:ln>
        </p:spPr>
        <p:txBody>
          <a:bodyPr wrap="square" rtlCol="0">
            <a:spAutoFit/>
          </a:bodyPr>
          <a:lstStyle>
            <a:lvl1pPr>
              <a:defRPr kumimoji="0" lang="en-US" sz="3600" b="1" i="0" u="none" strike="noStrike" cap="none" spc="0" normalizeH="0" baseline="0" dirty="0">
                <a:ln>
                  <a:noFill/>
                </a:ln>
                <a:solidFill>
                  <a:prstClr val="white"/>
                </a:solidFill>
                <a:effectLst/>
                <a:uLnTx/>
                <a:uFillTx/>
                <a:latin typeface="Garamond" panose="02020404030301010803" pitchFamily="18" charset="0"/>
                <a:ea typeface="+mn-ea"/>
                <a:cs typeface="+mn-cs"/>
              </a:defRPr>
            </a:lvl1pPr>
          </a:lstStyle>
          <a:p>
            <a:pPr marL="0" marR="0" lvl="0" indent="0" fontAlgn="auto">
              <a:lnSpc>
                <a:spcPct val="100000"/>
              </a:lnSpc>
              <a:spcBef>
                <a:spcPts val="0"/>
              </a:spcBef>
              <a:spcAft>
                <a:spcPts val="0"/>
              </a:spcAft>
              <a:buClrTx/>
              <a:buSzTx/>
              <a:buFontTx/>
              <a:tabLst/>
            </a:pPr>
            <a:r>
              <a:rPr lang="en-US" dirty="0"/>
              <a:t>Click to edit Presentation Title Multiple Lines</a:t>
            </a:r>
          </a:p>
        </p:txBody>
      </p:sp>
      <p:sp>
        <p:nvSpPr>
          <p:cNvPr id="3" name="Subtitle 2"/>
          <p:cNvSpPr>
            <a:spLocks noGrp="1"/>
          </p:cNvSpPr>
          <p:nvPr>
            <p:ph type="subTitle" idx="1" hasCustomPrompt="1"/>
          </p:nvPr>
        </p:nvSpPr>
        <p:spPr>
          <a:xfrm>
            <a:off x="320749" y="5383678"/>
            <a:ext cx="6993603" cy="400110"/>
          </a:xfrm>
          <a:prstGeom prst="rect">
            <a:avLst/>
          </a:prstGeom>
          <a:noFill/>
          <a:ln>
            <a:noFill/>
          </a:ln>
        </p:spPr>
        <p:txBody>
          <a:bodyPr wrap="square" rtlCol="0">
            <a:spAutoFit/>
          </a:bodyPr>
          <a:lstStyle>
            <a:lvl1pPr marL="0" indent="0">
              <a:buNone/>
              <a:defRPr kumimoji="0" lang="en-US" sz="2000" b="0" i="0" u="none" strike="noStrike" cap="none" spc="0" normalizeH="0" baseline="0" dirty="0">
                <a:ln>
                  <a:noFill/>
                </a:ln>
                <a:solidFill>
                  <a:prstClr val="white"/>
                </a:solidFill>
                <a:effectLst/>
                <a:uLnTx/>
                <a:uFillTx/>
                <a:latin typeface="Calibri Light"/>
              </a:defRPr>
            </a:lvl1pPr>
          </a:lstStyle>
          <a:p>
            <a:pPr marL="228600" marR="0" lvl="0" indent="-228600" fontAlgn="auto">
              <a:lnSpc>
                <a:spcPct val="100000"/>
              </a:lnSpc>
              <a:spcBef>
                <a:spcPts val="0"/>
              </a:spcBef>
              <a:spcAft>
                <a:spcPts val="0"/>
              </a:spcAft>
              <a:buClrTx/>
              <a:buSzTx/>
              <a:tabLst/>
            </a:pPr>
            <a:r>
              <a:rPr lang="en-US" dirty="0"/>
              <a:t>Click to edit Speaker Name</a:t>
            </a:r>
          </a:p>
        </p:txBody>
      </p:sp>
      <p:sp>
        <p:nvSpPr>
          <p:cNvPr id="25" name="TextBox 24">
            <a:extLst>
              <a:ext uri="{FF2B5EF4-FFF2-40B4-BE49-F238E27FC236}">
                <a16:creationId xmlns:a16="http://schemas.microsoft.com/office/drawing/2014/main" id="{E08961F7-6D12-463B-8961-6959985C26FC}"/>
              </a:ext>
            </a:extLst>
          </p:cNvPr>
          <p:cNvSpPr txBox="1"/>
          <p:nvPr/>
        </p:nvSpPr>
        <p:spPr>
          <a:xfrm>
            <a:off x="318985" y="6589813"/>
            <a:ext cx="1740751" cy="307777"/>
          </a:xfrm>
          <a:prstGeom prst="rect">
            <a:avLst/>
          </a:prstGeom>
          <a:noFill/>
          <a:ln>
            <a:noFill/>
          </a:ln>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300" normalizeH="0" baseline="0" noProof="0" dirty="0">
                <a:ln>
                  <a:noFill/>
                </a:ln>
                <a:solidFill>
                  <a:prstClr val="white"/>
                </a:solidFill>
                <a:effectLst/>
                <a:uLnTx/>
                <a:uFillTx/>
                <a:latin typeface="Calibri Light"/>
                <a:ea typeface="+mn-ea"/>
                <a:cs typeface="+mn-cs"/>
              </a:rPr>
              <a:t>NYSE: EPD</a:t>
            </a:r>
          </a:p>
        </p:txBody>
      </p:sp>
      <p:sp>
        <p:nvSpPr>
          <p:cNvPr id="28" name="Text Placeholder 27">
            <a:extLst>
              <a:ext uri="{FF2B5EF4-FFF2-40B4-BE49-F238E27FC236}">
                <a16:creationId xmlns:a16="http://schemas.microsoft.com/office/drawing/2014/main" id="{1047A79C-6AF1-4ADB-8A61-EBAF9B9F3DEA}"/>
              </a:ext>
            </a:extLst>
          </p:cNvPr>
          <p:cNvSpPr>
            <a:spLocks noGrp="1"/>
          </p:cNvSpPr>
          <p:nvPr>
            <p:ph type="body" sz="quarter" idx="10" hasCustomPrompt="1"/>
          </p:nvPr>
        </p:nvSpPr>
        <p:spPr>
          <a:xfrm>
            <a:off x="319617" y="5750991"/>
            <a:ext cx="6993467" cy="307777"/>
          </a:xfrm>
          <a:noFill/>
          <a:ln>
            <a:noFill/>
          </a:ln>
        </p:spPr>
        <p:txBody>
          <a:bodyPr wrap="square" rtlCol="0">
            <a:spAutoFit/>
          </a:bodyPr>
          <a:lstStyle>
            <a:lvl1pPr marL="0" indent="0">
              <a:buNone/>
              <a:defRPr kumimoji="0" lang="en-US" sz="1400" b="0" i="0" u="none" strike="noStrike" cap="none" spc="0" normalizeH="0" baseline="0" dirty="0" smtClean="0">
                <a:ln>
                  <a:noFill/>
                </a:ln>
                <a:solidFill>
                  <a:prstClr val="white"/>
                </a:solidFill>
                <a:effectLst/>
                <a:uLnTx/>
                <a:uFillTx/>
                <a:latin typeface="Calibri Light"/>
              </a:defRPr>
            </a:lvl1pPr>
          </a:lstStyle>
          <a:p>
            <a:pPr marL="228600" marR="0" lvl="0" indent="-228600" fontAlgn="auto">
              <a:lnSpc>
                <a:spcPct val="100000"/>
              </a:lnSpc>
              <a:spcBef>
                <a:spcPts val="0"/>
              </a:spcBef>
              <a:spcAft>
                <a:spcPts val="0"/>
              </a:spcAft>
              <a:buClrTx/>
              <a:buSzTx/>
              <a:tabLst/>
            </a:pPr>
            <a:r>
              <a:rPr lang="en-US" dirty="0"/>
              <a:t>Click to edit Speaker Title</a:t>
            </a:r>
          </a:p>
        </p:txBody>
      </p:sp>
      <p:sp>
        <p:nvSpPr>
          <p:cNvPr id="31" name="Text Placeholder 30">
            <a:extLst>
              <a:ext uri="{FF2B5EF4-FFF2-40B4-BE49-F238E27FC236}">
                <a16:creationId xmlns:a16="http://schemas.microsoft.com/office/drawing/2014/main" id="{985802C6-646C-4C86-AB48-42F23622175D}"/>
              </a:ext>
            </a:extLst>
          </p:cNvPr>
          <p:cNvSpPr>
            <a:spLocks noGrp="1"/>
          </p:cNvSpPr>
          <p:nvPr>
            <p:ph type="body" sz="quarter" idx="11" hasCustomPrompt="1"/>
          </p:nvPr>
        </p:nvSpPr>
        <p:spPr>
          <a:xfrm>
            <a:off x="304800" y="6315092"/>
            <a:ext cx="6993467" cy="307777"/>
          </a:xfrm>
          <a:noFill/>
          <a:ln>
            <a:noFill/>
          </a:ln>
        </p:spPr>
        <p:txBody>
          <a:bodyPr wrap="square" rtlCol="0">
            <a:spAutoFit/>
          </a:bodyPr>
          <a:lstStyle>
            <a:lvl1pPr marL="0" indent="0" algn="r">
              <a:buNone/>
              <a:defRPr kumimoji="0" lang="en-US" sz="1400" b="0" i="0" u="none" strike="noStrike" cap="none" spc="0" normalizeH="0" baseline="0" dirty="0">
                <a:ln>
                  <a:noFill/>
                </a:ln>
                <a:solidFill>
                  <a:prstClr val="white"/>
                </a:solidFill>
                <a:effectLst/>
                <a:uLnTx/>
                <a:uFillTx/>
                <a:latin typeface="Calibri Light"/>
              </a:defRPr>
            </a:lvl1pPr>
          </a:lstStyle>
          <a:p>
            <a:pPr marL="228600" marR="0" lvl="0" indent="-228600" algn="r" fontAlgn="auto">
              <a:lnSpc>
                <a:spcPct val="100000"/>
              </a:lnSpc>
              <a:spcBef>
                <a:spcPts val="0"/>
              </a:spcBef>
              <a:spcAft>
                <a:spcPts val="0"/>
              </a:spcAft>
              <a:buClrTx/>
              <a:buSzTx/>
              <a:tabLst/>
            </a:pPr>
            <a:r>
              <a:rPr lang="en-US" dirty="0"/>
              <a:t>Click to edit Date</a:t>
            </a:r>
          </a:p>
        </p:txBody>
      </p:sp>
      <p:pic>
        <p:nvPicPr>
          <p:cNvPr id="11" name="Picture 10" descr="Text&#10;&#10;Description automatically generated">
            <a:extLst>
              <a:ext uri="{FF2B5EF4-FFF2-40B4-BE49-F238E27FC236}">
                <a16:creationId xmlns:a16="http://schemas.microsoft.com/office/drawing/2014/main" id="{2BAABEF4-621D-46CF-A0C2-D71F7D7EC7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55" y="-112392"/>
            <a:ext cx="3190207" cy="1119515"/>
          </a:xfrm>
          <a:prstGeom prst="rect">
            <a:avLst/>
          </a:prstGeom>
        </p:spPr>
      </p:pic>
    </p:spTree>
    <p:extLst>
      <p:ext uri="{BB962C8B-B14F-4D97-AF65-F5344CB8AC3E}">
        <p14:creationId xmlns:p14="http://schemas.microsoft.com/office/powerpoint/2010/main" val="4492632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798A-3E2E-DD5F-CA2A-F624F846DD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DBD7CC-AF51-8DB8-ABFE-7307332CA2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FD371D-7A6B-797B-CB65-93EFE04B00AE}"/>
              </a:ext>
            </a:extLst>
          </p:cNvPr>
          <p:cNvSpPr>
            <a:spLocks noGrp="1"/>
          </p:cNvSpPr>
          <p:nvPr>
            <p:ph type="dt" sz="half" idx="10"/>
          </p:nvPr>
        </p:nvSpPr>
        <p:spPr/>
        <p:txBody>
          <a:bodyPr/>
          <a:lstStyle/>
          <a:p>
            <a:fld id="{E159E392-8F9E-4B37-ACB7-CF5556865DC6}" type="datetimeFigureOut">
              <a:rPr lang="en-US" smtClean="0"/>
              <a:t>7/2/2025</a:t>
            </a:fld>
            <a:endParaRPr lang="en-US"/>
          </a:p>
        </p:txBody>
      </p:sp>
      <p:sp>
        <p:nvSpPr>
          <p:cNvPr id="5" name="Footer Placeholder 4">
            <a:extLst>
              <a:ext uri="{FF2B5EF4-FFF2-40B4-BE49-F238E27FC236}">
                <a16:creationId xmlns:a16="http://schemas.microsoft.com/office/drawing/2014/main" id="{D18C12ED-3BC0-D2E5-D6F7-5011F8134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033DA0-DB94-0D3F-0E88-8C2ACA67AE95}"/>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1406939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75C3-21B1-022C-E143-8BCD0D797A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AA6171-636C-8DF7-E09B-7FA13E5B43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DD572C-CC0B-655A-41B4-AAB1C61AFE6D}"/>
              </a:ext>
            </a:extLst>
          </p:cNvPr>
          <p:cNvSpPr>
            <a:spLocks noGrp="1"/>
          </p:cNvSpPr>
          <p:nvPr>
            <p:ph type="dt" sz="half" idx="10"/>
          </p:nvPr>
        </p:nvSpPr>
        <p:spPr/>
        <p:txBody>
          <a:bodyPr/>
          <a:lstStyle/>
          <a:p>
            <a:fld id="{E159E392-8F9E-4B37-ACB7-CF5556865DC6}" type="datetimeFigureOut">
              <a:rPr lang="en-US" smtClean="0"/>
              <a:t>7/2/2025</a:t>
            </a:fld>
            <a:endParaRPr lang="en-US"/>
          </a:p>
        </p:txBody>
      </p:sp>
      <p:sp>
        <p:nvSpPr>
          <p:cNvPr id="5" name="Footer Placeholder 4">
            <a:extLst>
              <a:ext uri="{FF2B5EF4-FFF2-40B4-BE49-F238E27FC236}">
                <a16:creationId xmlns:a16="http://schemas.microsoft.com/office/drawing/2014/main" id="{6DE4DB8D-89CF-A950-0034-65C7E6458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D3F7F-B714-E1F1-EB8E-93853C9E7D2E}"/>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3258442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8A5C-B26F-0082-3E91-846E4273CB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00C943-A864-F241-A78E-C3CE2C5A004E}"/>
              </a:ext>
            </a:extLst>
          </p:cNvPr>
          <p:cNvSpPr>
            <a:spLocks noGrp="1"/>
          </p:cNvSpPr>
          <p:nvPr>
            <p:ph type="dt" sz="half" idx="10"/>
          </p:nvPr>
        </p:nvSpPr>
        <p:spPr/>
        <p:txBody>
          <a:bodyPr/>
          <a:lstStyle/>
          <a:p>
            <a:fld id="{E159E392-8F9E-4B37-ACB7-CF5556865DC6}" type="datetimeFigureOut">
              <a:rPr lang="en-US" smtClean="0"/>
              <a:t>7/2/2025</a:t>
            </a:fld>
            <a:endParaRPr lang="en-US"/>
          </a:p>
        </p:txBody>
      </p:sp>
      <p:sp>
        <p:nvSpPr>
          <p:cNvPr id="4" name="Footer Placeholder 3">
            <a:extLst>
              <a:ext uri="{FF2B5EF4-FFF2-40B4-BE49-F238E27FC236}">
                <a16:creationId xmlns:a16="http://schemas.microsoft.com/office/drawing/2014/main" id="{ED4A649B-D152-A67A-CC9A-72A6A33BC6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E6FB78-00AB-3569-637B-EF82B05D2AD3}"/>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1546481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6D6-64FE-FF19-053B-4E72A61BE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15ADCA-506D-3951-40D1-C0AEF0D7D5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D7B435-AEFE-745E-5D86-9A81E4E8A0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A9DEFC-CCE8-5CE2-5700-64A76800B641}"/>
              </a:ext>
            </a:extLst>
          </p:cNvPr>
          <p:cNvSpPr>
            <a:spLocks noGrp="1"/>
          </p:cNvSpPr>
          <p:nvPr>
            <p:ph type="dt" sz="half" idx="10"/>
          </p:nvPr>
        </p:nvSpPr>
        <p:spPr/>
        <p:txBody>
          <a:bodyPr/>
          <a:lstStyle/>
          <a:p>
            <a:fld id="{E159E392-8F9E-4B37-ACB7-CF5556865DC6}" type="datetimeFigureOut">
              <a:rPr lang="en-US" smtClean="0"/>
              <a:t>7/2/2025</a:t>
            </a:fld>
            <a:endParaRPr lang="en-US"/>
          </a:p>
        </p:txBody>
      </p:sp>
      <p:sp>
        <p:nvSpPr>
          <p:cNvPr id="6" name="Footer Placeholder 5">
            <a:extLst>
              <a:ext uri="{FF2B5EF4-FFF2-40B4-BE49-F238E27FC236}">
                <a16:creationId xmlns:a16="http://schemas.microsoft.com/office/drawing/2014/main" id="{0E238CEE-3A47-5077-251C-7D9B564B0B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6D730E-F355-31F4-67DC-005EC043EBA3}"/>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16181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Slide_Complex">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297AC3-A0B5-44C0-AE42-FC061CED5BBF}"/>
              </a:ext>
            </a:extLst>
          </p:cNvPr>
          <p:cNvPicPr>
            <a:picLocks noChangeAspect="1"/>
          </p:cNvPicPr>
          <p:nvPr/>
        </p:nvPicPr>
        <p:blipFill rotWithShape="1">
          <a:blip r:embed="rId2" cstate="email">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a:ext>
            </a:extLst>
          </a:blip>
          <a:srcRect l="437" r="10307" b="347"/>
          <a:stretch/>
        </p:blipFill>
        <p:spPr>
          <a:xfrm>
            <a:off x="-849" y="-33733"/>
            <a:ext cx="12253809" cy="6891733"/>
          </a:xfrm>
          <a:prstGeom prst="rect">
            <a:avLst/>
          </a:prstGeom>
        </p:spPr>
      </p:pic>
      <p:sp>
        <p:nvSpPr>
          <p:cNvPr id="8" name="Rectangle 7">
            <a:extLst>
              <a:ext uri="{FF2B5EF4-FFF2-40B4-BE49-F238E27FC236}">
                <a16:creationId xmlns:a16="http://schemas.microsoft.com/office/drawing/2014/main" id="{0B435896-A31D-4003-AFC8-333DF0F015E8}"/>
              </a:ext>
            </a:extLst>
          </p:cNvPr>
          <p:cNvSpPr/>
          <p:nvPr/>
        </p:nvSpPr>
        <p:spPr>
          <a:xfrm>
            <a:off x="-849" y="4114800"/>
            <a:ext cx="7315200" cy="27432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Light"/>
              <a:ea typeface="+mn-ea"/>
              <a:cs typeface="+mn-cs"/>
              <a:sym typeface="Arial"/>
            </a:endParaRPr>
          </a:p>
        </p:txBody>
      </p:sp>
      <p:sp>
        <p:nvSpPr>
          <p:cNvPr id="9" name="Rectangle 8">
            <a:extLst>
              <a:ext uri="{FF2B5EF4-FFF2-40B4-BE49-F238E27FC236}">
                <a16:creationId xmlns:a16="http://schemas.microsoft.com/office/drawing/2014/main" id="{5624BE56-4C94-4AE5-8FCE-9C7E23F186D3}"/>
              </a:ext>
            </a:extLst>
          </p:cNvPr>
          <p:cNvSpPr/>
          <p:nvPr/>
        </p:nvSpPr>
        <p:spPr>
          <a:xfrm>
            <a:off x="304803" y="4114800"/>
            <a:ext cx="7009551" cy="25146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prstClr val="white"/>
              </a:solidFill>
              <a:effectLst/>
              <a:uLnTx/>
              <a:uFillTx/>
              <a:latin typeface="Calibri Light"/>
              <a:ea typeface="+mn-ea"/>
              <a:cs typeface="+mn-cs"/>
              <a:sym typeface="Arial"/>
            </a:endParaRPr>
          </a:p>
        </p:txBody>
      </p:sp>
      <p:sp>
        <p:nvSpPr>
          <p:cNvPr id="2" name="Title 1"/>
          <p:cNvSpPr>
            <a:spLocks noGrp="1"/>
          </p:cNvSpPr>
          <p:nvPr>
            <p:ph type="ctrTitle" hasCustomPrompt="1"/>
          </p:nvPr>
        </p:nvSpPr>
        <p:spPr>
          <a:xfrm>
            <a:off x="320751" y="4479852"/>
            <a:ext cx="6993601" cy="507831"/>
          </a:xfrm>
          <a:prstGeom prst="rect">
            <a:avLst/>
          </a:prstGeom>
          <a:noFill/>
          <a:ln>
            <a:noFill/>
          </a:ln>
        </p:spPr>
        <p:txBody>
          <a:bodyPr wrap="square" rtlCol="0">
            <a:spAutoFit/>
          </a:bodyPr>
          <a:lstStyle>
            <a:lvl1pPr>
              <a:defRPr kumimoji="0" lang="en-US" sz="2700" b="1" i="0" u="none" strike="noStrike" cap="none" spc="0" normalizeH="0" baseline="0" dirty="0">
                <a:ln>
                  <a:noFill/>
                </a:ln>
                <a:solidFill>
                  <a:prstClr val="white"/>
                </a:solidFill>
                <a:effectLst/>
                <a:uLnTx/>
                <a:uFillTx/>
                <a:latin typeface="Garamond" panose="02020404030301010803" pitchFamily="18" charset="0"/>
                <a:ea typeface="+mn-ea"/>
                <a:cs typeface="+mn-cs"/>
              </a:defRPr>
            </a:lvl1pPr>
          </a:lstStyle>
          <a:p>
            <a:pPr marL="0" marR="0" lvl="0" indent="0" fontAlgn="auto">
              <a:lnSpc>
                <a:spcPct val="100000"/>
              </a:lnSpc>
              <a:spcBef>
                <a:spcPts val="0"/>
              </a:spcBef>
              <a:spcAft>
                <a:spcPts val="0"/>
              </a:spcAft>
              <a:buClrTx/>
              <a:buSzTx/>
              <a:buFontTx/>
              <a:tabLst/>
            </a:pPr>
            <a:r>
              <a:rPr lang="en-US"/>
              <a:t>Click to edit Presentation Title Multiple Lines</a:t>
            </a:r>
          </a:p>
        </p:txBody>
      </p:sp>
      <p:sp>
        <p:nvSpPr>
          <p:cNvPr id="3" name="Subtitle 2"/>
          <p:cNvSpPr>
            <a:spLocks noGrp="1"/>
          </p:cNvSpPr>
          <p:nvPr>
            <p:ph type="subTitle" idx="1" hasCustomPrompt="1"/>
          </p:nvPr>
        </p:nvSpPr>
        <p:spPr>
          <a:xfrm>
            <a:off x="320749" y="5383681"/>
            <a:ext cx="6993603" cy="323165"/>
          </a:xfrm>
          <a:prstGeom prst="rect">
            <a:avLst/>
          </a:prstGeom>
          <a:noFill/>
          <a:ln>
            <a:noFill/>
          </a:ln>
        </p:spPr>
        <p:txBody>
          <a:bodyPr wrap="square" rtlCol="0">
            <a:spAutoFit/>
          </a:bodyPr>
          <a:lstStyle>
            <a:lvl1pPr marL="0" indent="0">
              <a:buNone/>
              <a:defRPr kumimoji="0" lang="en-US" sz="1500" b="0" i="0" u="none" strike="noStrike" cap="none" spc="0" normalizeH="0" baseline="0" dirty="0">
                <a:ln>
                  <a:noFill/>
                </a:ln>
                <a:solidFill>
                  <a:prstClr val="white"/>
                </a:solidFill>
                <a:effectLst/>
                <a:uLnTx/>
                <a:uFillTx/>
                <a:latin typeface="Calibri Light"/>
              </a:defRPr>
            </a:lvl1pPr>
          </a:lstStyle>
          <a:p>
            <a:pPr marL="171446" marR="0" lvl="0" indent="-171446" fontAlgn="auto">
              <a:lnSpc>
                <a:spcPct val="100000"/>
              </a:lnSpc>
              <a:spcBef>
                <a:spcPts val="0"/>
              </a:spcBef>
              <a:spcAft>
                <a:spcPts val="0"/>
              </a:spcAft>
              <a:buClrTx/>
              <a:buSzTx/>
              <a:tabLst/>
            </a:pPr>
            <a:r>
              <a:rPr lang="en-US"/>
              <a:t>Click to edit Speaker Name</a:t>
            </a:r>
          </a:p>
        </p:txBody>
      </p:sp>
      <p:sp>
        <p:nvSpPr>
          <p:cNvPr id="25" name="TextBox 24">
            <a:extLst>
              <a:ext uri="{FF2B5EF4-FFF2-40B4-BE49-F238E27FC236}">
                <a16:creationId xmlns:a16="http://schemas.microsoft.com/office/drawing/2014/main" id="{E08961F7-6D12-463B-8961-6959985C26FC}"/>
              </a:ext>
            </a:extLst>
          </p:cNvPr>
          <p:cNvSpPr txBox="1"/>
          <p:nvPr/>
        </p:nvSpPr>
        <p:spPr>
          <a:xfrm>
            <a:off x="318986" y="6616744"/>
            <a:ext cx="1740751" cy="253916"/>
          </a:xfrm>
          <a:prstGeom prst="rect">
            <a:avLst/>
          </a:prstGeom>
          <a:noFill/>
          <a:ln>
            <a:noFill/>
          </a:ln>
        </p:spPr>
        <p:txBody>
          <a:bodyPr wrap="square" rtlCol="0" anchor="ctr">
            <a:spAutoFit/>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225" normalizeH="0" baseline="0" noProof="0" dirty="0">
                <a:ln>
                  <a:noFill/>
                </a:ln>
                <a:solidFill>
                  <a:prstClr val="white"/>
                </a:solidFill>
                <a:effectLst/>
                <a:uLnTx/>
                <a:uFillTx/>
                <a:latin typeface="Calibri Light"/>
                <a:ea typeface="+mn-ea"/>
                <a:cs typeface="Arial"/>
                <a:sym typeface="Arial"/>
              </a:rPr>
              <a:t>NYSE: EPD</a:t>
            </a:r>
          </a:p>
        </p:txBody>
      </p:sp>
      <p:sp>
        <p:nvSpPr>
          <p:cNvPr id="28" name="Text Placeholder 27">
            <a:extLst>
              <a:ext uri="{FF2B5EF4-FFF2-40B4-BE49-F238E27FC236}">
                <a16:creationId xmlns:a16="http://schemas.microsoft.com/office/drawing/2014/main" id="{1047A79C-6AF1-4ADB-8A61-EBAF9B9F3DEA}"/>
              </a:ext>
            </a:extLst>
          </p:cNvPr>
          <p:cNvSpPr>
            <a:spLocks noGrp="1"/>
          </p:cNvSpPr>
          <p:nvPr>
            <p:ph type="body" sz="quarter" idx="10" hasCustomPrompt="1"/>
          </p:nvPr>
        </p:nvSpPr>
        <p:spPr>
          <a:xfrm>
            <a:off x="319617" y="5750992"/>
            <a:ext cx="6993467" cy="253916"/>
          </a:xfrm>
          <a:noFill/>
          <a:ln>
            <a:noFill/>
          </a:ln>
        </p:spPr>
        <p:txBody>
          <a:bodyPr wrap="square" rtlCol="0">
            <a:spAutoFit/>
          </a:bodyPr>
          <a:lstStyle>
            <a:lvl1pPr marL="0" indent="0">
              <a:buNone/>
              <a:defRPr kumimoji="0" lang="en-US" sz="1050" b="0" i="0" u="none" strike="noStrike" cap="none" spc="0" normalizeH="0" baseline="0" dirty="0" smtClean="0">
                <a:ln>
                  <a:noFill/>
                </a:ln>
                <a:solidFill>
                  <a:prstClr val="white"/>
                </a:solidFill>
                <a:effectLst/>
                <a:uLnTx/>
                <a:uFillTx/>
                <a:latin typeface="Calibri Light"/>
              </a:defRPr>
            </a:lvl1pPr>
          </a:lstStyle>
          <a:p>
            <a:pPr marL="171446" marR="0" lvl="0" indent="-171446" fontAlgn="auto">
              <a:lnSpc>
                <a:spcPct val="100000"/>
              </a:lnSpc>
              <a:spcBef>
                <a:spcPts val="0"/>
              </a:spcBef>
              <a:spcAft>
                <a:spcPts val="0"/>
              </a:spcAft>
              <a:buClrTx/>
              <a:buSzTx/>
              <a:tabLst/>
            </a:pPr>
            <a:r>
              <a:rPr lang="en-US"/>
              <a:t>Click to edit Speaker Title</a:t>
            </a:r>
          </a:p>
        </p:txBody>
      </p:sp>
      <p:sp>
        <p:nvSpPr>
          <p:cNvPr id="31" name="Text Placeholder 30">
            <a:extLst>
              <a:ext uri="{FF2B5EF4-FFF2-40B4-BE49-F238E27FC236}">
                <a16:creationId xmlns:a16="http://schemas.microsoft.com/office/drawing/2014/main" id="{985802C6-646C-4C86-AB48-42F23622175D}"/>
              </a:ext>
            </a:extLst>
          </p:cNvPr>
          <p:cNvSpPr>
            <a:spLocks noGrp="1"/>
          </p:cNvSpPr>
          <p:nvPr>
            <p:ph type="body" sz="quarter" idx="11" hasCustomPrompt="1"/>
          </p:nvPr>
        </p:nvSpPr>
        <p:spPr>
          <a:xfrm>
            <a:off x="304801" y="6315092"/>
            <a:ext cx="6993467" cy="253916"/>
          </a:xfrm>
          <a:noFill/>
          <a:ln>
            <a:noFill/>
          </a:ln>
        </p:spPr>
        <p:txBody>
          <a:bodyPr wrap="square" rtlCol="0">
            <a:spAutoFit/>
          </a:bodyPr>
          <a:lstStyle>
            <a:lvl1pPr marL="0" indent="0" algn="r">
              <a:buNone/>
              <a:defRPr kumimoji="0" lang="en-US" sz="1050" b="0" i="0" u="none" strike="noStrike" cap="none" spc="0" normalizeH="0" baseline="0" dirty="0">
                <a:ln>
                  <a:noFill/>
                </a:ln>
                <a:solidFill>
                  <a:prstClr val="white"/>
                </a:solidFill>
                <a:effectLst/>
                <a:uLnTx/>
                <a:uFillTx/>
                <a:latin typeface="Calibri Light"/>
              </a:defRPr>
            </a:lvl1pPr>
          </a:lstStyle>
          <a:p>
            <a:pPr marL="171446" marR="0" lvl="0" indent="-171446" algn="r" fontAlgn="auto">
              <a:lnSpc>
                <a:spcPct val="100000"/>
              </a:lnSpc>
              <a:spcBef>
                <a:spcPts val="0"/>
              </a:spcBef>
              <a:spcAft>
                <a:spcPts val="0"/>
              </a:spcAft>
              <a:buClrTx/>
              <a:buSzTx/>
              <a:tabLst/>
            </a:pPr>
            <a:r>
              <a:rPr lang="en-US"/>
              <a:t>Click to edit Date</a:t>
            </a:r>
          </a:p>
        </p:txBody>
      </p:sp>
      <p:pic>
        <p:nvPicPr>
          <p:cNvPr id="11" name="Picture 10" descr="Text&#10;&#10;Description automatically generated">
            <a:extLst>
              <a:ext uri="{FF2B5EF4-FFF2-40B4-BE49-F238E27FC236}">
                <a16:creationId xmlns:a16="http://schemas.microsoft.com/office/drawing/2014/main" id="{A6837D9A-5680-494C-9B0E-FBC54E99940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658" y="-112392"/>
            <a:ext cx="3190207" cy="1119515"/>
          </a:xfrm>
          <a:prstGeom prst="rect">
            <a:avLst/>
          </a:prstGeom>
        </p:spPr>
      </p:pic>
    </p:spTree>
    <p:extLst>
      <p:ext uri="{BB962C8B-B14F-4D97-AF65-F5344CB8AC3E}">
        <p14:creationId xmlns:p14="http://schemas.microsoft.com/office/powerpoint/2010/main" val="1918151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SectionTitle_Pip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14197" r="14197"/>
          <a:stretch/>
        </p:blipFill>
        <p:spPr>
          <a:xfrm>
            <a:off x="7314349" y="3429002"/>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4288749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Title_Midlan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314349" y="3429002"/>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1603308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Title_GeoTan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56B1FB-0187-4B6B-AE79-E57AF381037A}"/>
              </a:ext>
            </a:extLst>
          </p:cNvPr>
          <p:cNvSpPr>
            <a:spLocks noChangeAspect="1"/>
          </p:cNvSpPr>
          <p:nvPr/>
        </p:nvSpPr>
        <p:spPr>
          <a:xfrm>
            <a:off x="7278640" y="3429000"/>
            <a:ext cx="4913360" cy="3429000"/>
          </a:xfrm>
          <a:prstGeom prst="rect">
            <a:avLst/>
          </a:prstGeom>
          <a:blipFill>
            <a:blip r:embed="rId2" cstate="email">
              <a:extLst>
                <a:ext uri="{28A0092B-C50C-407E-A947-70E740481C1C}">
                  <a14:useLocalDpi xmlns:a14="http://schemas.microsoft.com/office/drawing/2010/main"/>
                </a:ext>
              </a:extLst>
            </a:blip>
            <a:stretch>
              <a:fillRect l="-13214" r="-1085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3038991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Title_Spher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180" r="17979"/>
          <a:stretch/>
        </p:blipFill>
        <p:spPr>
          <a:xfrm>
            <a:off x="7314349" y="3429002"/>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3622109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Title_Pip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7311089" y="3436505"/>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591456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Title_Vesse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56B1FB-0187-4B6B-AE79-E57AF381037A}"/>
              </a:ext>
            </a:extLst>
          </p:cNvPr>
          <p:cNvSpPr>
            <a:spLocks noChangeAspect="1"/>
          </p:cNvSpPr>
          <p:nvPr/>
        </p:nvSpPr>
        <p:spPr>
          <a:xfrm>
            <a:off x="7278640" y="3429000"/>
            <a:ext cx="4913360" cy="3429000"/>
          </a:xfrm>
          <a:prstGeom prst="rect">
            <a:avLst/>
          </a:prstGeom>
          <a:blipFill>
            <a:blip r:embed="rId2" cstate="email">
              <a:extLst>
                <a:ext uri="{28A0092B-C50C-407E-A947-70E740481C1C}">
                  <a14:useLocalDpi xmlns:a14="http://schemas.microsoft.com/office/drawing/2010/main"/>
                </a:ext>
              </a:extLst>
            </a:blip>
            <a:stretch>
              <a:fillRect l="-17363" t="-20208" r="-954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22955118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Title_LPGTruc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25393" t="16136" r="19035" b="5560"/>
          <a:stretch/>
        </p:blipFill>
        <p:spPr>
          <a:xfrm>
            <a:off x="7314349" y="3429002"/>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4197154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Title_CrudeTruck">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D3AC2E-874C-4CE4-AF60-AD34A5AF41AC}"/>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b="-219"/>
          <a:stretch/>
        </p:blipFill>
        <p:spPr>
          <a:xfrm>
            <a:off x="7314349" y="3429002"/>
            <a:ext cx="4877651" cy="3436501"/>
          </a:xfrm>
          <a:prstGeom prst="rect">
            <a:avLst/>
          </a:prstGeom>
        </p:spPr>
      </p:pic>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3"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rgbClr val="042A4A"/>
                </a:solidFill>
                <a:latin typeface="Garamond" panose="02020404030301010803" pitchFamily="18" charset="0"/>
              </a:defRPr>
            </a:lvl1pPr>
          </a:lstStyle>
          <a:p>
            <a:pPr defTabSz="342892"/>
            <a:fld id="{3A9B7876-5BD9-4D83-8BFD-52DE9887E74B}" type="slidenum">
              <a:rPr lang="en-US" smtClean="0">
                <a:cs typeface="Arial"/>
                <a:sym typeface="Arial"/>
              </a:rPr>
              <a:pPr defTabSz="342892"/>
              <a:t>‹#›</a:t>
            </a:fld>
            <a:endParaRPr lang="en-US" dirty="0">
              <a:cs typeface="Arial"/>
              <a:sym typeface="Arial"/>
            </a:endParaRPr>
          </a:p>
        </p:txBody>
      </p:sp>
    </p:spTree>
    <p:extLst>
      <p:ext uri="{BB962C8B-B14F-4D97-AF65-F5344CB8AC3E}">
        <p14:creationId xmlns:p14="http://schemas.microsoft.com/office/powerpoint/2010/main" val="29548293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SectionTitle_1100Entranc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456B1FB-0187-4B6B-AE79-E57AF381037A}"/>
              </a:ext>
            </a:extLst>
          </p:cNvPr>
          <p:cNvSpPr>
            <a:spLocks noChangeAspect="1"/>
          </p:cNvSpPr>
          <p:nvPr/>
        </p:nvSpPr>
        <p:spPr>
          <a:xfrm>
            <a:off x="7278640" y="3429000"/>
            <a:ext cx="491336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7" name="Rectangle 6">
            <a:extLst>
              <a:ext uri="{FF2B5EF4-FFF2-40B4-BE49-F238E27FC236}">
                <a16:creationId xmlns:a16="http://schemas.microsoft.com/office/drawing/2014/main" id="{1434E477-9928-4180-BDB8-93B074A53D0D}"/>
              </a:ext>
            </a:extLst>
          </p:cNvPr>
          <p:cNvSpPr/>
          <p:nvPr/>
        </p:nvSpPr>
        <p:spPr>
          <a:xfrm>
            <a:off x="-849" y="3429000"/>
            <a:ext cx="7315200" cy="3429000"/>
          </a:xfrm>
          <a:prstGeom prst="rect">
            <a:avLst/>
          </a:prstGeom>
          <a:solidFill>
            <a:srgbClr val="042A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sp>
        <p:nvSpPr>
          <p:cNvPr id="8" name="Rectangle 7">
            <a:extLst>
              <a:ext uri="{FF2B5EF4-FFF2-40B4-BE49-F238E27FC236}">
                <a16:creationId xmlns:a16="http://schemas.microsoft.com/office/drawing/2014/main" id="{E53900A1-3E5C-4996-AB50-8F1E39A61454}"/>
              </a:ext>
            </a:extLst>
          </p:cNvPr>
          <p:cNvSpPr/>
          <p:nvPr/>
        </p:nvSpPr>
        <p:spPr>
          <a:xfrm>
            <a:off x="303951" y="3429000"/>
            <a:ext cx="7010400" cy="3200400"/>
          </a:xfrm>
          <a:prstGeom prst="rect">
            <a:avLst/>
          </a:prstGeom>
          <a:solidFill>
            <a:srgbClr val="3576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sym typeface="Arial"/>
            </a:endParaRPr>
          </a:p>
        </p:txBody>
      </p:sp>
      <p:pic>
        <p:nvPicPr>
          <p:cNvPr id="10" name="Picture 9" descr="Text&#10;&#10;Description automatically generated">
            <a:extLst>
              <a:ext uri="{FF2B5EF4-FFF2-40B4-BE49-F238E27FC236}">
                <a16:creationId xmlns:a16="http://schemas.microsoft.com/office/drawing/2014/main" id="{D2201DFB-6A62-4564-8ED9-A429497A1F01}"/>
              </a:ext>
            </a:extLst>
          </p:cNvPr>
          <p:cNvPicPr>
            <a:picLocks noChangeAspect="1"/>
          </p:cNvPicPr>
          <p:nvPr/>
        </p:nvPicPr>
        <p:blipFill rotWithShape="1">
          <a:blip r:embed="rId2" cstate="print">
            <a:lum bright="70000" contrast="-70000"/>
            <a:extLst>
              <a:ext uri="{28A0092B-C50C-407E-A947-70E740481C1C}">
                <a14:useLocalDpi xmlns:a14="http://schemas.microsoft.com/office/drawing/2010/main" val="0"/>
              </a:ext>
            </a:extLst>
          </a:blip>
          <a:srcRect t="13408" b="17554"/>
          <a:stretch/>
        </p:blipFill>
        <p:spPr>
          <a:xfrm>
            <a:off x="202715" y="5976260"/>
            <a:ext cx="3190207" cy="772887"/>
          </a:xfrm>
          <a:prstGeom prst="rect">
            <a:avLst/>
          </a:prstGeom>
        </p:spPr>
      </p:pic>
      <p:sp>
        <p:nvSpPr>
          <p:cNvPr id="2" name="Title 1">
            <a:extLst>
              <a:ext uri="{FF2B5EF4-FFF2-40B4-BE49-F238E27FC236}">
                <a16:creationId xmlns:a16="http://schemas.microsoft.com/office/drawing/2014/main" id="{BC678D3F-AF53-4601-BC65-7ED5CF1BBED3}"/>
              </a:ext>
            </a:extLst>
          </p:cNvPr>
          <p:cNvSpPr>
            <a:spLocks noGrp="1"/>
          </p:cNvSpPr>
          <p:nvPr>
            <p:ph type="title" hasCustomPrompt="1"/>
          </p:nvPr>
        </p:nvSpPr>
        <p:spPr>
          <a:xfrm>
            <a:off x="202712" y="2888564"/>
            <a:ext cx="10515600" cy="470000"/>
          </a:xfrm>
          <a:noFill/>
          <a:ln>
            <a:noFill/>
          </a:ln>
        </p:spPr>
        <p:txBody>
          <a:bodyPr wrap="square" rtlCol="0">
            <a:spAutoFit/>
          </a:bodyPr>
          <a:lstStyle>
            <a:lvl1pPr>
              <a:defRPr lang="en-US" sz="2700" b="1">
                <a:solidFill>
                  <a:srgbClr val="042A4A"/>
                </a:solidFill>
                <a:latin typeface="Garamond" panose="02020404030301010803" pitchFamily="18" charset="0"/>
                <a:ea typeface="+mn-ea"/>
                <a:cs typeface="+mn-cs"/>
              </a:defRPr>
            </a:lvl1pPr>
          </a:lstStyle>
          <a:p>
            <a:pPr marL="0" lvl="0" defTabSz="342892"/>
            <a:r>
              <a:rPr lang="en-US"/>
              <a:t>Click to edit Section Title</a:t>
            </a:r>
          </a:p>
        </p:txBody>
      </p:sp>
      <p:sp>
        <p:nvSpPr>
          <p:cNvPr id="5" name="Slide Number Placeholder 4">
            <a:extLst>
              <a:ext uri="{FF2B5EF4-FFF2-40B4-BE49-F238E27FC236}">
                <a16:creationId xmlns:a16="http://schemas.microsoft.com/office/drawing/2014/main" id="{B2138B7A-A17E-41FF-A9B8-8FFE4FF4DB46}"/>
              </a:ext>
            </a:extLst>
          </p:cNvPr>
          <p:cNvSpPr>
            <a:spLocks noGrp="1"/>
          </p:cNvSpPr>
          <p:nvPr>
            <p:ph type="sldNum" sz="quarter" idx="12"/>
          </p:nvPr>
        </p:nvSpPr>
        <p:spPr>
          <a:xfrm>
            <a:off x="11200072" y="6635458"/>
            <a:ext cx="977584" cy="138499"/>
          </a:xfrm>
          <a:noFill/>
        </p:spPr>
        <p:txBody>
          <a:bodyPr wrap="square" lIns="0" tIns="0" rIns="91440" bIns="0" rtlCol="0" anchor="ctr">
            <a:spAutoFit/>
          </a:bodyPr>
          <a:lstStyle>
            <a:lvl1pPr>
              <a:defRPr lang="en-US" sz="900" b="1" smtClean="0">
                <a:solidFill>
                  <a:schemeClr val="bg1"/>
                </a:solidFill>
                <a:latin typeface="Garamond" panose="02020404030301010803" pitchFamily="18" charset="0"/>
              </a:defRPr>
            </a:lvl1pPr>
          </a:lstStyle>
          <a:p>
            <a:pPr defTabSz="342892"/>
            <a:fld id="{3A9B7876-5BD9-4D83-8BFD-52DE9887E74B}" type="slidenum">
              <a:rPr lang="en-US" smtClean="0">
                <a:solidFill>
                  <a:srgbClr val="FFFFFF"/>
                </a:solidFill>
                <a:cs typeface="Arial"/>
                <a:sym typeface="Arial"/>
              </a:rPr>
              <a:pPr defTabSz="342892"/>
              <a:t>‹#›</a:t>
            </a:fld>
            <a:endParaRPr lang="en-US" dirty="0">
              <a:solidFill>
                <a:srgbClr val="FFFFFF"/>
              </a:solidFill>
              <a:cs typeface="Arial"/>
              <a:sym typeface="Arial"/>
            </a:endParaRPr>
          </a:p>
        </p:txBody>
      </p:sp>
    </p:spTree>
    <p:extLst>
      <p:ext uri="{BB962C8B-B14F-4D97-AF65-F5344CB8AC3E}">
        <p14:creationId xmlns:p14="http://schemas.microsoft.com/office/powerpoint/2010/main" val="3354505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5699" y="73086"/>
            <a:ext cx="10821447" cy="466281"/>
          </a:xfrm>
          <a:prstGeom prst="rect">
            <a:avLst/>
          </a:prstGeom>
          <a:noFill/>
        </p:spPr>
        <p:txBody>
          <a:bodyPr wrap="square" rtlCol="0">
            <a:spAutoFit/>
          </a:bodyPr>
          <a:lstStyle>
            <a:lvl1pPr>
              <a:defRPr lang="en-US" sz="2700" dirty="0">
                <a:ea typeface="+mn-ea"/>
                <a:cs typeface="+mn-cs"/>
              </a:defRPr>
            </a:lvl1pPr>
          </a:lstStyle>
          <a:p>
            <a:pPr marL="0" lvl="0" defTabSz="342892"/>
            <a:r>
              <a:rPr lang="en-US"/>
              <a:t>Click to edit Slide Title</a:t>
            </a:r>
          </a:p>
        </p:txBody>
      </p:sp>
      <p:sp>
        <p:nvSpPr>
          <p:cNvPr id="3" name="Content Placeholder 2"/>
          <p:cNvSpPr>
            <a:spLocks noGrp="1"/>
          </p:cNvSpPr>
          <p:nvPr>
            <p:ph idx="1"/>
          </p:nvPr>
        </p:nvSpPr>
        <p:spPr>
          <a:xfrm>
            <a:off x="566225" y="1333948"/>
            <a:ext cx="10787576" cy="4931560"/>
          </a:xfrm>
          <a:prstGeom prst="rect">
            <a:avLst/>
          </a:prstGeom>
        </p:spPr>
        <p:txBody>
          <a:bodyPr/>
          <a:lstStyle>
            <a:lvl1pPr marL="171446" indent="-171446">
              <a:buFont typeface="Arial" panose="020B0604020202020204" pitchFamily="34" charset="0"/>
              <a:buChar char="•"/>
              <a:defRPr>
                <a:latin typeface="+mj-lt"/>
              </a:defRPr>
            </a:lvl1pPr>
            <a:lvl2pPr marL="514337" indent="-171446">
              <a:buFont typeface="Calibri Light" panose="020F0302020204030204" pitchFamily="34" charset="0"/>
              <a:buChar char="‐"/>
              <a:defRPr>
                <a:latin typeface="+mj-lt"/>
              </a:defRPr>
            </a:lvl2pPr>
            <a:lvl3pPr marL="857228" indent="-171446">
              <a:buFont typeface="Arial" panose="020B0604020202020204" pitchFamily="34" charset="0"/>
              <a:buChar char="•"/>
              <a:defRPr>
                <a:latin typeface="+mj-lt"/>
              </a:defRPr>
            </a:lvl3pPr>
            <a:lvl4pPr>
              <a:defRPr>
                <a:latin typeface="+mj-lt"/>
              </a:defRPr>
            </a:lvl4pPr>
            <a:lvl5pPr marL="1543012" indent="-171446">
              <a:buFont typeface="Wingdings" panose="05000000000000000000" pitchFamily="2" charset="2"/>
              <a:buChar char="ü"/>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7647F8E-ADDF-4FC6-A381-978C6C2E91F8}"/>
              </a:ext>
            </a:extLst>
          </p:cNvPr>
          <p:cNvSpPr/>
          <p:nvPr/>
        </p:nvSpPr>
        <p:spPr>
          <a:xfrm>
            <a:off x="0" y="-4254"/>
            <a:ext cx="170688" cy="894331"/>
          </a:xfrm>
          <a:prstGeom prst="rect">
            <a:avLst/>
          </a:prstGeom>
          <a:solidFill>
            <a:srgbClr val="12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B6C174DF-FFE2-4945-A99D-3444E1F077F4}"/>
              </a:ext>
            </a:extLst>
          </p:cNvPr>
          <p:cNvSpPr txBox="1"/>
          <p:nvPr/>
        </p:nvSpPr>
        <p:spPr>
          <a:xfrm>
            <a:off x="566227" y="6632217"/>
            <a:ext cx="6043407" cy="167418"/>
          </a:xfrm>
          <a:prstGeom prst="rect">
            <a:avLst/>
          </a:prstGeom>
          <a:noFill/>
        </p:spPr>
        <p:txBody>
          <a:bodyPr wrap="square" bIns="0" rtlCol="0" anchor="ctr">
            <a:spAutoFit/>
          </a:bodyPr>
          <a:lstStyle/>
          <a:p>
            <a:pPr marL="0" marR="0" lvl="0" indent="0" algn="l" defTabSz="342892" rtl="0" eaLnBrk="1" fontAlgn="auto" latinLnBrk="0" hangingPunct="1">
              <a:lnSpc>
                <a:spcPct val="100000"/>
              </a:lnSpc>
              <a:spcBef>
                <a:spcPts val="0"/>
              </a:spcBef>
              <a:spcAft>
                <a:spcPts val="0"/>
              </a:spcAft>
              <a:buClrTx/>
              <a:buSzTx/>
              <a:buFontTx/>
              <a:buNone/>
              <a:tabLst/>
              <a:defRPr/>
            </a:pPr>
            <a:r>
              <a:rPr kumimoji="0" lang="en-US" sz="788" b="0" i="0" u="none" strike="noStrike" kern="1200" cap="none" spc="0" normalizeH="0" baseline="0" noProof="0" dirty="0">
                <a:ln>
                  <a:noFill/>
                </a:ln>
                <a:solidFill>
                  <a:srgbClr val="FFFFFF">
                    <a:lumMod val="75000"/>
                  </a:srgbClr>
                </a:solidFill>
                <a:effectLst/>
                <a:uLnTx/>
                <a:uFillTx/>
                <a:latin typeface="Calibri Light"/>
                <a:ea typeface="+mn-ea"/>
                <a:cs typeface="+mn-cs"/>
              </a:rPr>
              <a:t>© All Rights Reserved. Enterprise Products Partners L.P.</a:t>
            </a:r>
          </a:p>
        </p:txBody>
      </p:sp>
      <p:sp>
        <p:nvSpPr>
          <p:cNvPr id="11" name="TextBox 10">
            <a:extLst>
              <a:ext uri="{FF2B5EF4-FFF2-40B4-BE49-F238E27FC236}">
                <a16:creationId xmlns:a16="http://schemas.microsoft.com/office/drawing/2014/main" id="{91D504AB-849E-41A6-AFF1-059E71BE3545}"/>
              </a:ext>
            </a:extLst>
          </p:cNvPr>
          <p:cNvSpPr txBox="1"/>
          <p:nvPr/>
        </p:nvSpPr>
        <p:spPr>
          <a:xfrm>
            <a:off x="5022468" y="6632217"/>
            <a:ext cx="2710688" cy="167418"/>
          </a:xfrm>
          <a:prstGeom prst="rect">
            <a:avLst/>
          </a:prstGeom>
          <a:noFill/>
        </p:spPr>
        <p:txBody>
          <a:bodyPr wrap="square" bIns="0" rtlCol="0" anchor="ctr">
            <a:spAutoFit/>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kumimoji="0" lang="en-US" sz="788" b="0" i="0" u="none" strike="noStrike" kern="1200" cap="none" spc="0" normalizeH="0" baseline="0" noProof="0" dirty="0">
                <a:ln>
                  <a:noFill/>
                </a:ln>
                <a:solidFill>
                  <a:srgbClr val="FFFFFF">
                    <a:lumMod val="75000"/>
                  </a:srgbClr>
                </a:solidFill>
                <a:effectLst/>
                <a:uLnTx/>
                <a:uFillTx/>
                <a:latin typeface="Calibri Light"/>
                <a:ea typeface="+mn-ea"/>
                <a:cs typeface="+mn-cs"/>
              </a:rPr>
              <a:t>enterpriseproducts.com</a:t>
            </a:r>
          </a:p>
        </p:txBody>
      </p:sp>
      <p:pic>
        <p:nvPicPr>
          <p:cNvPr id="12" name="Picture 11" descr="Logo&#10;&#10;Description automatically generated">
            <a:extLst>
              <a:ext uri="{FF2B5EF4-FFF2-40B4-BE49-F238E27FC236}">
                <a16:creationId xmlns:a16="http://schemas.microsoft.com/office/drawing/2014/main" id="{82C6FC79-B392-4303-AD72-E82E452775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40" t="9110" r="11577" b="12413"/>
          <a:stretch/>
        </p:blipFill>
        <p:spPr>
          <a:xfrm>
            <a:off x="108321" y="6425745"/>
            <a:ext cx="464195" cy="387880"/>
          </a:xfrm>
          <a:prstGeom prst="rect">
            <a:avLst/>
          </a:prstGeom>
        </p:spPr>
      </p:pic>
      <p:sp>
        <p:nvSpPr>
          <p:cNvPr id="15" name="Text Placeholder 14">
            <a:extLst>
              <a:ext uri="{FF2B5EF4-FFF2-40B4-BE49-F238E27FC236}">
                <a16:creationId xmlns:a16="http://schemas.microsoft.com/office/drawing/2014/main" id="{6A7CD741-1C73-4CA1-8196-B86659CA0FF5}"/>
              </a:ext>
            </a:extLst>
          </p:cNvPr>
          <p:cNvSpPr>
            <a:spLocks noGrp="1"/>
          </p:cNvSpPr>
          <p:nvPr>
            <p:ph type="body" sz="quarter" idx="10" hasCustomPrompt="1"/>
          </p:nvPr>
        </p:nvSpPr>
        <p:spPr>
          <a:xfrm>
            <a:off x="185795" y="527944"/>
            <a:ext cx="10801348" cy="341632"/>
          </a:xfrm>
          <a:noFill/>
        </p:spPr>
        <p:txBody>
          <a:bodyPr wrap="square" rtlCol="0">
            <a:spAutoFit/>
          </a:bodyPr>
          <a:lstStyle>
            <a:lvl1pPr marL="0" indent="0">
              <a:buNone/>
              <a:defRPr lang="en-US" sz="1800" dirty="0" smtClean="0">
                <a:solidFill>
                  <a:srgbClr val="12517C"/>
                </a:solidFill>
                <a:latin typeface="+mj-lt"/>
              </a:defRPr>
            </a:lvl1pPr>
          </a:lstStyle>
          <a:p>
            <a:pPr marL="0" lvl="0" defTabSz="342892"/>
            <a:r>
              <a:rPr lang="en-US"/>
              <a:t>Click to edit Subtitle</a:t>
            </a:r>
          </a:p>
        </p:txBody>
      </p:sp>
      <p:sp>
        <p:nvSpPr>
          <p:cNvPr id="17" name="Slide Number Placeholder 16">
            <a:extLst>
              <a:ext uri="{FF2B5EF4-FFF2-40B4-BE49-F238E27FC236}">
                <a16:creationId xmlns:a16="http://schemas.microsoft.com/office/drawing/2014/main" id="{63705D3A-1401-951C-8678-A3DA27F1A17E}"/>
              </a:ext>
            </a:extLst>
          </p:cNvPr>
          <p:cNvSpPr>
            <a:spLocks noGrp="1"/>
          </p:cNvSpPr>
          <p:nvPr>
            <p:ph type="sldNum" sz="quarter" idx="13"/>
          </p:nvPr>
        </p:nvSpPr>
        <p:spPr>
          <a:xfrm>
            <a:off x="8953500" y="6492877"/>
            <a:ext cx="2743200" cy="365125"/>
          </a:xfrm>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8050563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5699" y="73086"/>
            <a:ext cx="10821447" cy="466281"/>
          </a:xfrm>
          <a:prstGeom prst="rect">
            <a:avLst/>
          </a:prstGeom>
          <a:noFill/>
        </p:spPr>
        <p:txBody>
          <a:bodyPr wrap="square" rtlCol="0">
            <a:spAutoFit/>
          </a:bodyPr>
          <a:lstStyle>
            <a:lvl1pPr>
              <a:defRPr lang="en-US" sz="2700" dirty="0">
                <a:ea typeface="+mn-ea"/>
                <a:cs typeface="+mn-cs"/>
              </a:defRPr>
            </a:lvl1pPr>
          </a:lstStyle>
          <a:p>
            <a:pPr marL="0" lvl="0" defTabSz="342892"/>
            <a:r>
              <a:rPr lang="en-US"/>
              <a:t>Click to edit Slide Title</a:t>
            </a:r>
          </a:p>
        </p:txBody>
      </p:sp>
      <p:sp>
        <p:nvSpPr>
          <p:cNvPr id="3" name="Content Placeholder 2"/>
          <p:cNvSpPr>
            <a:spLocks noGrp="1"/>
          </p:cNvSpPr>
          <p:nvPr>
            <p:ph idx="1"/>
          </p:nvPr>
        </p:nvSpPr>
        <p:spPr>
          <a:xfrm>
            <a:off x="566225" y="1333948"/>
            <a:ext cx="10787576" cy="4931560"/>
          </a:xfrm>
          <a:prstGeom prst="rect">
            <a:avLst/>
          </a:prstGeom>
        </p:spPr>
        <p:txBody>
          <a:bodyPr/>
          <a:lstStyle>
            <a:lvl1pPr marL="171446" indent="-171446">
              <a:buFont typeface="Arial" panose="020B0604020202020204" pitchFamily="34" charset="0"/>
              <a:buChar char="•"/>
              <a:defRPr>
                <a:latin typeface="+mj-lt"/>
              </a:defRPr>
            </a:lvl1pPr>
            <a:lvl2pPr marL="514337" indent="-171446">
              <a:buFont typeface="Calibri Light" panose="020F0302020204030204" pitchFamily="34" charset="0"/>
              <a:buChar char="‐"/>
              <a:defRPr>
                <a:latin typeface="+mj-lt"/>
              </a:defRPr>
            </a:lvl2pPr>
            <a:lvl3pPr marL="857228" indent="-171446">
              <a:buFont typeface="Arial" panose="020B0604020202020204" pitchFamily="34" charset="0"/>
              <a:buChar char="•"/>
              <a:defRPr>
                <a:latin typeface="+mj-lt"/>
              </a:defRPr>
            </a:lvl3pPr>
            <a:lvl4pPr>
              <a:defRPr>
                <a:latin typeface="+mj-lt"/>
              </a:defRPr>
            </a:lvl4pPr>
            <a:lvl5pPr marL="1543012" indent="-171446">
              <a:buFont typeface="Wingdings" panose="05000000000000000000" pitchFamily="2" charset="2"/>
              <a:buChar char="ü"/>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B7647F8E-ADDF-4FC6-A381-978C6C2E91F8}"/>
              </a:ext>
            </a:extLst>
          </p:cNvPr>
          <p:cNvSpPr/>
          <p:nvPr/>
        </p:nvSpPr>
        <p:spPr>
          <a:xfrm>
            <a:off x="0" y="-4254"/>
            <a:ext cx="170688" cy="894331"/>
          </a:xfrm>
          <a:prstGeom prst="rect">
            <a:avLst/>
          </a:prstGeom>
          <a:solidFill>
            <a:srgbClr val="1251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892"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dirty="0">
              <a:ln>
                <a:noFill/>
              </a:ln>
              <a:solidFill>
                <a:srgbClr val="FFFFFF"/>
              </a:solidFill>
              <a:effectLst/>
              <a:uLnTx/>
              <a:uFillTx/>
              <a:latin typeface="Calibri Light"/>
              <a:ea typeface="+mn-ea"/>
              <a:cs typeface="+mn-cs"/>
            </a:endParaRPr>
          </a:p>
        </p:txBody>
      </p:sp>
      <p:sp>
        <p:nvSpPr>
          <p:cNvPr id="10" name="TextBox 9">
            <a:extLst>
              <a:ext uri="{FF2B5EF4-FFF2-40B4-BE49-F238E27FC236}">
                <a16:creationId xmlns:a16="http://schemas.microsoft.com/office/drawing/2014/main" id="{B6C174DF-FFE2-4945-A99D-3444E1F077F4}"/>
              </a:ext>
            </a:extLst>
          </p:cNvPr>
          <p:cNvSpPr txBox="1"/>
          <p:nvPr/>
        </p:nvSpPr>
        <p:spPr>
          <a:xfrm>
            <a:off x="566227" y="6632217"/>
            <a:ext cx="6043407" cy="167418"/>
          </a:xfrm>
          <a:prstGeom prst="rect">
            <a:avLst/>
          </a:prstGeom>
          <a:noFill/>
        </p:spPr>
        <p:txBody>
          <a:bodyPr wrap="square" bIns="0" rtlCol="0" anchor="ctr">
            <a:spAutoFit/>
          </a:bodyPr>
          <a:lstStyle/>
          <a:p>
            <a:pPr marL="0" marR="0" lvl="0" indent="0" algn="l" defTabSz="342892" rtl="0" eaLnBrk="1" fontAlgn="auto" latinLnBrk="0" hangingPunct="1">
              <a:lnSpc>
                <a:spcPct val="100000"/>
              </a:lnSpc>
              <a:spcBef>
                <a:spcPts val="0"/>
              </a:spcBef>
              <a:spcAft>
                <a:spcPts val="0"/>
              </a:spcAft>
              <a:buClrTx/>
              <a:buSzTx/>
              <a:buFontTx/>
              <a:buNone/>
              <a:tabLst/>
              <a:defRPr/>
            </a:pPr>
            <a:r>
              <a:rPr kumimoji="0" lang="en-US" sz="788" b="0" i="0" u="none" strike="noStrike" kern="1200" cap="none" spc="0" normalizeH="0" baseline="0" noProof="0" dirty="0">
                <a:ln>
                  <a:noFill/>
                </a:ln>
                <a:solidFill>
                  <a:srgbClr val="FFFFFF">
                    <a:lumMod val="75000"/>
                  </a:srgbClr>
                </a:solidFill>
                <a:effectLst/>
                <a:uLnTx/>
                <a:uFillTx/>
                <a:latin typeface="Calibri Light"/>
                <a:ea typeface="+mn-ea"/>
                <a:cs typeface="+mn-cs"/>
              </a:rPr>
              <a:t>© All Rights Reserved. Enterprise Products Partners L.P.</a:t>
            </a:r>
          </a:p>
        </p:txBody>
      </p:sp>
      <p:sp>
        <p:nvSpPr>
          <p:cNvPr id="11" name="TextBox 10">
            <a:extLst>
              <a:ext uri="{FF2B5EF4-FFF2-40B4-BE49-F238E27FC236}">
                <a16:creationId xmlns:a16="http://schemas.microsoft.com/office/drawing/2014/main" id="{91D504AB-849E-41A6-AFF1-059E71BE3545}"/>
              </a:ext>
            </a:extLst>
          </p:cNvPr>
          <p:cNvSpPr txBox="1"/>
          <p:nvPr/>
        </p:nvSpPr>
        <p:spPr>
          <a:xfrm>
            <a:off x="5022468" y="6632217"/>
            <a:ext cx="2710688" cy="167418"/>
          </a:xfrm>
          <a:prstGeom prst="rect">
            <a:avLst/>
          </a:prstGeom>
          <a:noFill/>
        </p:spPr>
        <p:txBody>
          <a:bodyPr wrap="square" bIns="0" rtlCol="0" anchor="ctr">
            <a:spAutoFit/>
          </a:bodyPr>
          <a:lstStyle/>
          <a:p>
            <a:pPr marL="0" marR="0" lvl="0" indent="0" algn="ctr" defTabSz="342892" rtl="0" eaLnBrk="1" fontAlgn="auto" latinLnBrk="0" hangingPunct="1">
              <a:lnSpc>
                <a:spcPct val="100000"/>
              </a:lnSpc>
              <a:spcBef>
                <a:spcPts val="0"/>
              </a:spcBef>
              <a:spcAft>
                <a:spcPts val="0"/>
              </a:spcAft>
              <a:buClrTx/>
              <a:buSzTx/>
              <a:buFontTx/>
              <a:buNone/>
              <a:tabLst/>
              <a:defRPr/>
            </a:pPr>
            <a:r>
              <a:rPr kumimoji="0" lang="en-US" sz="788" b="0" i="0" u="none" strike="noStrike" kern="1200" cap="none" spc="0" normalizeH="0" baseline="0" noProof="0" dirty="0">
                <a:ln>
                  <a:noFill/>
                </a:ln>
                <a:solidFill>
                  <a:srgbClr val="FFFFFF">
                    <a:lumMod val="75000"/>
                  </a:srgbClr>
                </a:solidFill>
                <a:effectLst/>
                <a:uLnTx/>
                <a:uFillTx/>
                <a:latin typeface="Calibri Light"/>
                <a:ea typeface="+mn-ea"/>
                <a:cs typeface="+mn-cs"/>
              </a:rPr>
              <a:t>enterpriseproducts.com</a:t>
            </a:r>
          </a:p>
        </p:txBody>
      </p:sp>
      <p:pic>
        <p:nvPicPr>
          <p:cNvPr id="12" name="Picture 11" descr="Logo&#10;&#10;Description automatically generated">
            <a:extLst>
              <a:ext uri="{FF2B5EF4-FFF2-40B4-BE49-F238E27FC236}">
                <a16:creationId xmlns:a16="http://schemas.microsoft.com/office/drawing/2014/main" id="{82C6FC79-B392-4303-AD72-E82E4527758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0940" t="9110" r="11577" b="12413"/>
          <a:stretch/>
        </p:blipFill>
        <p:spPr>
          <a:xfrm>
            <a:off x="108321" y="6425745"/>
            <a:ext cx="464195" cy="387880"/>
          </a:xfrm>
          <a:prstGeom prst="rect">
            <a:avLst/>
          </a:prstGeom>
        </p:spPr>
      </p:pic>
      <p:sp>
        <p:nvSpPr>
          <p:cNvPr id="15" name="Text Placeholder 14">
            <a:extLst>
              <a:ext uri="{FF2B5EF4-FFF2-40B4-BE49-F238E27FC236}">
                <a16:creationId xmlns:a16="http://schemas.microsoft.com/office/drawing/2014/main" id="{6A7CD741-1C73-4CA1-8196-B86659CA0FF5}"/>
              </a:ext>
            </a:extLst>
          </p:cNvPr>
          <p:cNvSpPr>
            <a:spLocks noGrp="1"/>
          </p:cNvSpPr>
          <p:nvPr>
            <p:ph type="body" sz="quarter" idx="10" hasCustomPrompt="1"/>
          </p:nvPr>
        </p:nvSpPr>
        <p:spPr>
          <a:xfrm>
            <a:off x="185795" y="527944"/>
            <a:ext cx="10801348" cy="341632"/>
          </a:xfrm>
          <a:noFill/>
        </p:spPr>
        <p:txBody>
          <a:bodyPr wrap="square" rtlCol="0">
            <a:spAutoFit/>
          </a:bodyPr>
          <a:lstStyle>
            <a:lvl1pPr marL="0" indent="0">
              <a:buNone/>
              <a:defRPr lang="en-US" sz="1800" dirty="0" smtClean="0">
                <a:solidFill>
                  <a:srgbClr val="12517C"/>
                </a:solidFill>
                <a:latin typeface="+mj-lt"/>
              </a:defRPr>
            </a:lvl1pPr>
          </a:lstStyle>
          <a:p>
            <a:pPr marL="0" lvl="0" defTabSz="342892"/>
            <a:r>
              <a:rPr lang="en-US"/>
              <a:t>Click to edit Subtitle</a:t>
            </a:r>
          </a:p>
        </p:txBody>
      </p:sp>
      <p:sp>
        <p:nvSpPr>
          <p:cNvPr id="17" name="Slide Number Placeholder 16">
            <a:extLst>
              <a:ext uri="{FF2B5EF4-FFF2-40B4-BE49-F238E27FC236}">
                <a16:creationId xmlns:a16="http://schemas.microsoft.com/office/drawing/2014/main" id="{63705D3A-1401-951C-8678-A3DA27F1A17E}"/>
              </a:ext>
            </a:extLst>
          </p:cNvPr>
          <p:cNvSpPr>
            <a:spLocks noGrp="1"/>
          </p:cNvSpPr>
          <p:nvPr>
            <p:ph type="sldNum" sz="quarter" idx="13"/>
          </p:nvPr>
        </p:nvSpPr>
        <p:spPr>
          <a:xfrm>
            <a:off x="8953500" y="6492877"/>
            <a:ext cx="2743200" cy="365125"/>
          </a:xfrm>
        </p:spPr>
        <p:txBody>
          <a:bodyPr/>
          <a:lstStyle/>
          <a:p>
            <a:fld id="{330EA680-D336-4FF7-8B7A-9848BB0A1C32}" type="slidenum">
              <a:rPr lang="en-US" smtClean="0"/>
              <a:t>‹#›</a:t>
            </a:fld>
            <a:endParaRPr lang="en-US" dirty="0"/>
          </a:p>
        </p:txBody>
      </p:sp>
    </p:spTree>
    <p:extLst>
      <p:ext uri="{BB962C8B-B14F-4D97-AF65-F5344CB8AC3E}">
        <p14:creationId xmlns:p14="http://schemas.microsoft.com/office/powerpoint/2010/main" val="3008049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0B6D197-BC15-442E-BD58-13A6D080A061}" type="datetimeFigureOut">
              <a:rPr lang="en-US" smtClean="0"/>
              <a:t>7/2/2025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B189CC2-3DA4-4310-B2FE-D57F05276D93}" type="slidenum">
              <a:rPr lang="en-US" smtClean="0"/>
              <a:t>‹#›</a:t>
            </a:fld>
            <a:endParaRPr lang="en-US" dirty="0"/>
          </a:p>
        </p:txBody>
      </p:sp>
    </p:spTree>
    <p:extLst>
      <p:ext uri="{BB962C8B-B14F-4D97-AF65-F5344CB8AC3E}">
        <p14:creationId xmlns:p14="http://schemas.microsoft.com/office/powerpoint/2010/main" val="14854979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image" Target="../media/image1.emf"/><Relationship Id="rId2" Type="http://schemas.openxmlformats.org/officeDocument/2006/relationships/slideLayout" Target="../slideLayouts/slideLayout12.xml"/><Relationship Id="rId16" Type="http://schemas.openxmlformats.org/officeDocument/2006/relationships/oleObject" Target="../embeddings/oleObject1.bin"/><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5" Type="http://schemas.openxmlformats.org/officeDocument/2006/relationships/tags" Target="../tags/tag3.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2EB77CE-9119-E2F3-07CE-3DE75CBD7F53}"/>
              </a:ext>
            </a:extLst>
          </p:cNvPr>
          <p:cNvGraphicFramePr>
            <a:graphicFrameLocks noChangeAspect="1"/>
          </p:cNvGraphicFramePr>
          <p:nvPr userDrawn="1">
            <p:custDataLst>
              <p:tags r:id="rId12"/>
            </p:custDataLst>
            <p:extLst>
              <p:ext uri="{D42A27DB-BD31-4B8C-83A1-F6EECF244321}">
                <p14:modId xmlns:p14="http://schemas.microsoft.com/office/powerpoint/2010/main" val="2357108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503" imgH="503" progId="TCLayout.ActiveDocument.1">
                  <p:embed/>
                </p:oleObj>
              </mc:Choice>
              <mc:Fallback>
                <p:oleObj name="think-cell Slide" r:id="rId13" imgW="503" imgH="503" progId="TCLayout.ActiveDocument.1">
                  <p:embed/>
                  <p:pic>
                    <p:nvPicPr>
                      <p:cNvPr id="8" name="think-cell data - do not delete" hidden="1">
                        <a:extLst>
                          <a:ext uri="{FF2B5EF4-FFF2-40B4-BE49-F238E27FC236}">
                            <a16:creationId xmlns:a16="http://schemas.microsoft.com/office/drawing/2014/main" id="{52EB77CE-9119-E2F3-07CE-3DE75CBD7F53}"/>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189"/>
            <a:endParaRPr lang="en-US" dirty="0">
              <a:solidFill>
                <a:srgbClr val="000000">
                  <a:tint val="75000"/>
                </a:srgbClr>
              </a:solidFill>
              <a:cs typeface="Arial"/>
              <a:sym typeface="Aria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189"/>
            <a:endParaRPr lang="en-US" dirty="0">
              <a:solidFill>
                <a:srgbClr val="000000">
                  <a:tint val="75000"/>
                </a:srgbClr>
              </a:solidFill>
              <a:cs typeface="Arial"/>
              <a:sym typeface="Aria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189"/>
            <a:fld id="{3A9B7876-5BD9-4D83-8BFD-52DE9887E74B}" type="slidenum">
              <a:rPr lang="en-US" smtClean="0">
                <a:solidFill>
                  <a:srgbClr val="000000">
                    <a:tint val="75000"/>
                  </a:srgbClr>
                </a:solidFill>
                <a:cs typeface="Arial"/>
                <a:sym typeface="Arial"/>
              </a:rPr>
              <a:pPr defTabSz="457189"/>
              <a:t>‹#›</a:t>
            </a:fld>
            <a:endParaRPr lang="en-US" dirty="0">
              <a:solidFill>
                <a:srgbClr val="000000">
                  <a:tint val="75000"/>
                </a:srgbClr>
              </a:solidFill>
              <a:cs typeface="Arial"/>
              <a:sym typeface="Arial"/>
            </a:endParaRPr>
          </a:p>
        </p:txBody>
      </p:sp>
    </p:spTree>
    <p:extLst>
      <p:ext uri="{BB962C8B-B14F-4D97-AF65-F5344CB8AC3E}">
        <p14:creationId xmlns:p14="http://schemas.microsoft.com/office/powerpoint/2010/main" val="280840120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9" r:id="rId3"/>
    <p:sldLayoutId id="2147483672" r:id="rId4"/>
    <p:sldLayoutId id="2147483696" r:id="rId5"/>
    <p:sldLayoutId id="2147483742" r:id="rId6"/>
    <p:sldLayoutId id="2147483743" r:id="rId7"/>
    <p:sldLayoutId id="2147483744" r:id="rId8"/>
    <p:sldLayoutId id="2147483745" r:id="rId9"/>
    <p:sldLayoutId id="2147483746" r:id="rId10"/>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lang="en-US" sz="2800" kern="1200" smtClean="0">
          <a:solidFill>
            <a:schemeClr val="tx1"/>
          </a:solidFill>
          <a:latin typeface="+mj-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mj-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lang="en-US" sz="2000" kern="1200" smtClean="0">
          <a:solidFill>
            <a:schemeClr val="tx1"/>
          </a:solidFill>
          <a:latin typeface="+mj-lt"/>
          <a:ea typeface="+mn-ea"/>
          <a:cs typeface="+mn-cs"/>
        </a:defRPr>
      </a:lvl3pPr>
      <a:lvl4pPr marL="1600160" indent="-228594" algn="l" defTabSz="914377" rtl="0" eaLnBrk="1" latinLnBrk="0" hangingPunct="1">
        <a:lnSpc>
          <a:spcPct val="90000"/>
        </a:lnSpc>
        <a:spcBef>
          <a:spcPts val="500"/>
        </a:spcBef>
        <a:buFont typeface="Calibri Light" panose="020F0302020204030204" pitchFamily="34" charset="0"/>
        <a:buChar char="‐"/>
        <a:defRPr lang="en-US" sz="1800" kern="1200" smtClean="0">
          <a:solidFill>
            <a:schemeClr val="tx1"/>
          </a:solidFill>
          <a:latin typeface="+mj-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lang="en-US" sz="1800" kern="1200" dirty="0">
          <a:solidFill>
            <a:schemeClr val="tx1"/>
          </a:solidFill>
          <a:latin typeface="+mj-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52EB77CE-9119-E2F3-07CE-3DE75CBD7F53}"/>
              </a:ext>
            </a:extLst>
          </p:cNvPr>
          <p:cNvGraphicFramePr>
            <a:graphicFrameLocks noChangeAspect="1"/>
          </p:cNvGraphicFramePr>
          <p:nvPr userDrawn="1">
            <p:custDataLst>
              <p:tags r:id="rId15"/>
            </p:custDataLst>
            <p:extLst>
              <p:ext uri="{D42A27DB-BD31-4B8C-83A1-F6EECF244321}">
                <p14:modId xmlns:p14="http://schemas.microsoft.com/office/powerpoint/2010/main" val="2357108237"/>
              </p:ext>
            </p:ext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16" imgW="503" imgH="503" progId="TCLayout.ActiveDocument.1">
                  <p:embed/>
                </p:oleObj>
              </mc:Choice>
              <mc:Fallback>
                <p:oleObj name="think-cell Slide" r:id="rId16" imgW="503" imgH="503" progId="TCLayout.ActiveDocument.1">
                  <p:embed/>
                  <p:pic>
                    <p:nvPicPr>
                      <p:cNvPr id="8" name="think-cell data - do not delete" hidden="1">
                        <a:extLst>
                          <a:ext uri="{FF2B5EF4-FFF2-40B4-BE49-F238E27FC236}">
                            <a16:creationId xmlns:a16="http://schemas.microsoft.com/office/drawing/2014/main" id="{52EB77CE-9119-E2F3-07CE-3DE75CBD7F53}"/>
                          </a:ext>
                        </a:extLst>
                      </p:cNvPr>
                      <p:cNvPicPr/>
                      <p:nvPr/>
                    </p:nvPicPr>
                    <p:blipFill>
                      <a:blip r:embed="rId17"/>
                      <a:stretch>
                        <a:fillRect/>
                      </a:stretch>
                    </p:blipFill>
                    <p:spPr>
                      <a:xfrm>
                        <a:off x="1589"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342892"/>
            <a:endParaRPr lang="en-US" dirty="0">
              <a:solidFill>
                <a:srgbClr val="000000">
                  <a:tint val="75000"/>
                </a:srgbClr>
              </a:solidFill>
              <a:cs typeface="Arial"/>
              <a:sym typeface="Arial"/>
            </a:endParaRPr>
          </a:p>
        </p:txBody>
      </p:sp>
      <p:sp>
        <p:nvSpPr>
          <p:cNvPr id="5" name="Footer Placeholder 4"/>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342892"/>
            <a:endParaRPr lang="en-US" dirty="0">
              <a:solidFill>
                <a:srgbClr val="000000">
                  <a:tint val="75000"/>
                </a:srgbClr>
              </a:solidFill>
              <a:cs typeface="Arial"/>
              <a:sym typeface="Arial"/>
            </a:endParaRPr>
          </a:p>
        </p:txBody>
      </p:sp>
      <p:sp>
        <p:nvSpPr>
          <p:cNvPr id="6" name="Slide Number Placeholder 5"/>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342892"/>
            <a:fld id="{3A9B7876-5BD9-4D83-8BFD-52DE9887E74B}" type="slidenum">
              <a:rPr lang="en-US" smtClean="0">
                <a:solidFill>
                  <a:srgbClr val="000000">
                    <a:tint val="75000"/>
                  </a:srgbClr>
                </a:solidFill>
                <a:cs typeface="Arial"/>
                <a:sym typeface="Arial"/>
              </a:rPr>
              <a:pPr defTabSz="342892"/>
              <a:t>‹#›</a:t>
            </a:fld>
            <a:endParaRPr lang="en-US" dirty="0">
              <a:solidFill>
                <a:srgbClr val="000000">
                  <a:tint val="75000"/>
                </a:srgbClr>
              </a:solidFill>
              <a:cs typeface="Arial"/>
              <a:sym typeface="Arial"/>
            </a:endParaRPr>
          </a:p>
        </p:txBody>
      </p:sp>
    </p:spTree>
    <p:extLst>
      <p:ext uri="{BB962C8B-B14F-4D97-AF65-F5344CB8AC3E}">
        <p14:creationId xmlns:p14="http://schemas.microsoft.com/office/powerpoint/2010/main" val="226583606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hf hdr="0" ftr="0" dt="0"/>
  <p:txStyles>
    <p:titleStyle>
      <a:lvl1pPr algn="l" defTabSz="685783"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lang="en-US" sz="2100" kern="1200" smtClean="0">
          <a:solidFill>
            <a:schemeClr val="tx1"/>
          </a:solidFill>
          <a:latin typeface="+mj-lt"/>
          <a:ea typeface="+mn-ea"/>
          <a:cs typeface="+mn-cs"/>
        </a:defRPr>
      </a:lvl1pPr>
      <a:lvl2pPr marL="514337" indent="-171446" algn="l" defTabSz="685783" rtl="0" eaLnBrk="1" latinLnBrk="0" hangingPunct="1">
        <a:lnSpc>
          <a:spcPct val="90000"/>
        </a:lnSpc>
        <a:spcBef>
          <a:spcPts val="375"/>
        </a:spcBef>
        <a:buFont typeface="Arial" panose="020B0604020202020204" pitchFamily="34" charset="0"/>
        <a:buChar char="•"/>
        <a:defRPr lang="en-US" sz="1800" kern="1200" smtClean="0">
          <a:solidFill>
            <a:schemeClr val="tx1"/>
          </a:solidFill>
          <a:latin typeface="+mj-lt"/>
          <a:ea typeface="+mn-ea"/>
          <a:cs typeface="+mn-cs"/>
        </a:defRPr>
      </a:lvl2pPr>
      <a:lvl3pPr marL="857228" indent="-171446" algn="l" defTabSz="685783" rtl="0" eaLnBrk="1" latinLnBrk="0" hangingPunct="1">
        <a:lnSpc>
          <a:spcPct val="90000"/>
        </a:lnSpc>
        <a:spcBef>
          <a:spcPts val="375"/>
        </a:spcBef>
        <a:buFont typeface="Arial" panose="020B0604020202020204" pitchFamily="34" charset="0"/>
        <a:buChar char="•"/>
        <a:defRPr lang="en-US" sz="1500" kern="1200" smtClean="0">
          <a:solidFill>
            <a:schemeClr val="tx1"/>
          </a:solidFill>
          <a:latin typeface="+mj-lt"/>
          <a:ea typeface="+mn-ea"/>
          <a:cs typeface="+mn-cs"/>
        </a:defRPr>
      </a:lvl3pPr>
      <a:lvl4pPr marL="1200120" indent="-171446" algn="l" defTabSz="685783" rtl="0" eaLnBrk="1" latinLnBrk="0" hangingPunct="1">
        <a:lnSpc>
          <a:spcPct val="90000"/>
        </a:lnSpc>
        <a:spcBef>
          <a:spcPts val="375"/>
        </a:spcBef>
        <a:buFont typeface="Calibri Light" panose="020F0302020204030204" pitchFamily="34" charset="0"/>
        <a:buChar char="‐"/>
        <a:defRPr lang="en-US" sz="1350" kern="1200" smtClean="0">
          <a:solidFill>
            <a:schemeClr val="tx1"/>
          </a:solidFill>
          <a:latin typeface="+mj-lt"/>
          <a:ea typeface="+mn-ea"/>
          <a:cs typeface="+mn-cs"/>
        </a:defRPr>
      </a:lvl4pPr>
      <a:lvl5pPr marL="1543012" indent="-171446" algn="l" defTabSz="685783" rtl="0" eaLnBrk="1" latinLnBrk="0" hangingPunct="1">
        <a:lnSpc>
          <a:spcPct val="90000"/>
        </a:lnSpc>
        <a:spcBef>
          <a:spcPts val="375"/>
        </a:spcBef>
        <a:buFont typeface="Arial" panose="020B0604020202020204" pitchFamily="34" charset="0"/>
        <a:buChar char="•"/>
        <a:defRPr lang="en-US" sz="1350" kern="1200" dirty="0">
          <a:solidFill>
            <a:schemeClr val="tx1"/>
          </a:solidFill>
          <a:latin typeface="+mj-lt"/>
          <a:ea typeface="+mn-ea"/>
          <a:cs typeface="+mn-cs"/>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hyperlink" Target="https://github.com/ericburcham/prompt-engineering"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141E813-1545-853C-8E02-584A0C678926}"/>
              </a:ext>
            </a:extLst>
          </p:cNvPr>
          <p:cNvSpPr>
            <a:spLocks noGrp="1"/>
          </p:cNvSpPr>
          <p:nvPr>
            <p:ph type="ctrTitle"/>
          </p:nvPr>
        </p:nvSpPr>
        <p:spPr>
          <a:xfrm>
            <a:off x="320750" y="4435832"/>
            <a:ext cx="6993601" cy="595869"/>
          </a:xfrm>
        </p:spPr>
        <p:txBody>
          <a:bodyPr/>
          <a:lstStyle/>
          <a:p>
            <a:r>
              <a:rPr lang="en-US" dirty="0"/>
              <a:t>Mission: Reliable</a:t>
            </a:r>
          </a:p>
        </p:txBody>
      </p:sp>
      <p:sp>
        <p:nvSpPr>
          <p:cNvPr id="7" name="Subtitle 6">
            <a:extLst>
              <a:ext uri="{FF2B5EF4-FFF2-40B4-BE49-F238E27FC236}">
                <a16:creationId xmlns:a16="http://schemas.microsoft.com/office/drawing/2014/main" id="{0E1DA765-24E4-B224-5959-1BF5CE5C6640}"/>
              </a:ext>
            </a:extLst>
          </p:cNvPr>
          <p:cNvSpPr>
            <a:spLocks noGrp="1"/>
          </p:cNvSpPr>
          <p:nvPr>
            <p:ph type="subTitle" idx="1"/>
          </p:nvPr>
        </p:nvSpPr>
        <p:spPr>
          <a:xfrm>
            <a:off x="320749" y="5383678"/>
            <a:ext cx="6993603" cy="369332"/>
          </a:xfrm>
        </p:spPr>
        <p:txBody>
          <a:bodyPr/>
          <a:lstStyle/>
          <a:p>
            <a:r>
              <a:rPr lang="en-US" b="1" dirty="0"/>
              <a:t>Lunch &amp; Learn Topic– 7/2/25</a:t>
            </a:r>
          </a:p>
        </p:txBody>
      </p:sp>
      <p:sp>
        <p:nvSpPr>
          <p:cNvPr id="8" name="Text Placeholder 7">
            <a:extLst>
              <a:ext uri="{FF2B5EF4-FFF2-40B4-BE49-F238E27FC236}">
                <a16:creationId xmlns:a16="http://schemas.microsoft.com/office/drawing/2014/main" id="{F5BDABF2-9388-52A6-7C22-2D51B077CBA4}"/>
              </a:ext>
            </a:extLst>
          </p:cNvPr>
          <p:cNvSpPr>
            <a:spLocks noGrp="1"/>
          </p:cNvSpPr>
          <p:nvPr>
            <p:ph type="body" sz="quarter" idx="10"/>
          </p:nvPr>
        </p:nvSpPr>
        <p:spPr>
          <a:xfrm>
            <a:off x="320884" y="5961871"/>
            <a:ext cx="6993467" cy="286232"/>
          </a:xfrm>
        </p:spPr>
        <p:txBody>
          <a:bodyPr/>
          <a:lstStyle/>
          <a:p>
            <a:r>
              <a:rPr lang="en-US" b="1" dirty="0"/>
              <a:t>Copilot Prompt Engineering – Going from “Um, What!?” to “Wow, Perfect!”</a:t>
            </a:r>
          </a:p>
        </p:txBody>
      </p:sp>
      <p:pic>
        <p:nvPicPr>
          <p:cNvPr id="10" name="Picture 9" descr="A black background with blue text">
            <a:extLst>
              <a:ext uri="{FF2B5EF4-FFF2-40B4-BE49-F238E27FC236}">
                <a16:creationId xmlns:a16="http://schemas.microsoft.com/office/drawing/2014/main" id="{BB9E98EB-8972-A9F7-2698-5E7B43CB14F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34008" y="72503"/>
            <a:ext cx="3593957" cy="2246492"/>
          </a:xfrm>
          <a:prstGeom prst="rect">
            <a:avLst/>
          </a:prstGeom>
        </p:spPr>
      </p:pic>
    </p:spTree>
    <p:extLst>
      <p:ext uri="{BB962C8B-B14F-4D97-AF65-F5344CB8AC3E}">
        <p14:creationId xmlns:p14="http://schemas.microsoft.com/office/powerpoint/2010/main" val="2330209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1081-F13F-95A5-2C30-C96302A23199}"/>
              </a:ext>
            </a:extLst>
          </p:cNvPr>
          <p:cNvSpPr>
            <a:spLocks noGrp="1"/>
          </p:cNvSpPr>
          <p:nvPr>
            <p:ph type="title"/>
          </p:nvPr>
        </p:nvSpPr>
        <p:spPr>
          <a:xfrm>
            <a:off x="171899" y="27700"/>
            <a:ext cx="8116085" cy="535531"/>
          </a:xfrm>
        </p:spPr>
        <p:txBody>
          <a:bodyPr/>
          <a:lstStyle/>
          <a:p>
            <a:r>
              <a:rPr lang="en-US" sz="3200" b="1" dirty="0"/>
              <a:t>Safety Moment</a:t>
            </a:r>
            <a:endParaRPr lang="en-US" dirty="0"/>
          </a:p>
        </p:txBody>
      </p:sp>
      <p:sp>
        <p:nvSpPr>
          <p:cNvPr id="3" name="Content Placeholder 2">
            <a:extLst>
              <a:ext uri="{FF2B5EF4-FFF2-40B4-BE49-F238E27FC236}">
                <a16:creationId xmlns:a16="http://schemas.microsoft.com/office/drawing/2014/main" id="{F2AA585D-C526-D12D-E79F-132EB8F71A9D}"/>
              </a:ext>
            </a:extLst>
          </p:cNvPr>
          <p:cNvSpPr>
            <a:spLocks noGrp="1"/>
          </p:cNvSpPr>
          <p:nvPr>
            <p:ph idx="1"/>
          </p:nvPr>
        </p:nvSpPr>
        <p:spPr>
          <a:xfrm>
            <a:off x="170084" y="921995"/>
            <a:ext cx="11734369" cy="5596757"/>
          </a:xfrm>
        </p:spPr>
        <p:txBody>
          <a:bodyPr>
            <a:noAutofit/>
          </a:bodyPr>
          <a:lstStyle/>
          <a:p>
            <a:pPr marL="0" marR="0" indent="0">
              <a:buNone/>
            </a:pPr>
            <a:r>
              <a:rPr lang="en-US" sz="1600" dirty="0">
                <a:effectLst/>
                <a:latin typeface="Aptos" panose="020B0004020202020204" pitchFamily="34" charset="0"/>
                <a:ea typeface="Aptos" panose="020B0004020202020204" pitchFamily="34" charset="0"/>
                <a:cs typeface="Aptos" panose="020B0004020202020204" pitchFamily="34" charset="0"/>
              </a:rPr>
              <a:t>Every year, our work environment begins heating up around May and June, but the official start of Summer begins on June 20. Now that it is here, we must be aware of the increased temperatures of some of our already hot work tasks, such as performing first line breaks, wearing slicker suits, working in enclosed spaces, or on hot oil lines, just to name a few. These tasks and others tend to make your day even hotter than it already is, so be sure to discuss the following during your job walks and group discussions:</a:t>
            </a: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Hydrate, even when you’re not thirsty.</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Take breaks as needed.</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Limit your time in elevated PPE, such as flash suits, Level 2 or 3 PPE, switch out personnel more frequently than usual, OR</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Schedule high risk jobs early in the morning or evening to limit the sun exposure for employees wearing elevated PPE.</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When confined spaces reach 105 degrees F or greater, the temperature hazard must be mitigated. (AC units, fans, cooling vests, etc.)</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342900" marR="0" lvl="0" indent="-342900">
              <a:spcBef>
                <a:spcPts val="0"/>
              </a:spcBef>
              <a:spcAft>
                <a:spcPts val="0"/>
              </a:spcAft>
              <a:buSzPts val="1000"/>
              <a:buFont typeface="Symbol" panose="05050102010706020507" pitchFamily="18" charset="2"/>
              <a:buChar char=""/>
              <a:tabLst>
                <a:tab pos="457200" algn="l"/>
              </a:tabLst>
            </a:pPr>
            <a:r>
              <a:rPr lang="en-US" sz="1600" dirty="0">
                <a:effectLst/>
                <a:latin typeface="Aptos" panose="020B0004020202020204" pitchFamily="34" charset="0"/>
                <a:ea typeface="Times New Roman" panose="02020603050405020304" pitchFamily="18" charset="0"/>
                <a:cs typeface="Aptos" panose="020B0004020202020204" pitchFamily="34" charset="0"/>
              </a:rPr>
              <a:t>Move your water totes/coolers closer to the locations of large groups of personnel working.</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0" marR="0"/>
            <a:r>
              <a:rPr lang="en-US" sz="1600" dirty="0">
                <a:effectLst/>
                <a:latin typeface="Aptos" panose="020B0004020202020204" pitchFamily="34" charset="0"/>
                <a:ea typeface="Aptos" panose="020B0004020202020204" pitchFamily="34" charset="0"/>
                <a:cs typeface="Aptos" panose="020B0004020202020204" pitchFamily="34" charset="0"/>
              </a:rPr>
              <a:t>If you experience a heat illness scenario in your area, remember the symptoms and treat them accordingly.</a:t>
            </a:r>
          </a:p>
          <a:p>
            <a:pPr marL="0" indent="0">
              <a:buNone/>
            </a:pPr>
            <a:endParaRPr lang="en-US" sz="1600" dirty="0">
              <a:ea typeface="Calibri Light"/>
              <a:cs typeface="Calibri Light"/>
            </a:endParaRPr>
          </a:p>
          <a:p>
            <a:pPr marL="0" indent="0">
              <a:buNone/>
            </a:pPr>
            <a:endParaRPr lang="en-US" sz="1600" dirty="0">
              <a:ea typeface="Calibri Light"/>
              <a:cs typeface="Calibri Light"/>
            </a:endParaRPr>
          </a:p>
        </p:txBody>
      </p:sp>
      <p:sp>
        <p:nvSpPr>
          <p:cNvPr id="4" name="Text Placeholder 3">
            <a:extLst>
              <a:ext uri="{FF2B5EF4-FFF2-40B4-BE49-F238E27FC236}">
                <a16:creationId xmlns:a16="http://schemas.microsoft.com/office/drawing/2014/main" id="{4F3593D7-73D6-FA01-F72E-62D6A0351A84}"/>
              </a:ext>
            </a:extLst>
          </p:cNvPr>
          <p:cNvSpPr>
            <a:spLocks noGrp="1"/>
          </p:cNvSpPr>
          <p:nvPr>
            <p:ph type="body" sz="quarter" idx="10"/>
          </p:nvPr>
        </p:nvSpPr>
        <p:spPr>
          <a:xfrm>
            <a:off x="178710" y="526786"/>
            <a:ext cx="8101011" cy="369332"/>
          </a:xfrm>
        </p:spPr>
        <p:txBody>
          <a:bodyPr/>
          <a:lstStyle/>
          <a:p>
            <a:r>
              <a:rPr lang="en-US" sz="2000" b="1" dirty="0"/>
              <a:t>Summer is Here!</a:t>
            </a:r>
          </a:p>
        </p:txBody>
      </p:sp>
      <p:sp>
        <p:nvSpPr>
          <p:cNvPr id="5" name="Slide Number Placeholder 4">
            <a:extLst>
              <a:ext uri="{FF2B5EF4-FFF2-40B4-BE49-F238E27FC236}">
                <a16:creationId xmlns:a16="http://schemas.microsoft.com/office/drawing/2014/main" id="{8A1DE241-01B3-9923-9D10-4E062E110EE6}"/>
              </a:ext>
            </a:extLst>
          </p:cNvPr>
          <p:cNvSpPr>
            <a:spLocks noGrp="1"/>
          </p:cNvSpPr>
          <p:nvPr>
            <p:ph type="sldNum" sz="quarter" idx="13"/>
          </p:nvPr>
        </p:nvSpPr>
        <p:spPr>
          <a:xfrm>
            <a:off x="9278716" y="6475412"/>
            <a:ext cx="2743200" cy="365125"/>
          </a:xfrm>
        </p:spPr>
        <p:txBody>
          <a:bodyPr anchor="ctr">
            <a:normAutofit/>
          </a:bodyPr>
          <a:lstStyle/>
          <a:p>
            <a:pPr>
              <a:spcAft>
                <a:spcPts val="600"/>
              </a:spcAft>
            </a:pPr>
            <a:fld id="{330EA680-D336-4FF7-8B7A-9848BB0A1C32}" type="slidenum">
              <a:rPr lang="en-US" smtClean="0"/>
              <a:pPr>
                <a:spcAft>
                  <a:spcPts val="600"/>
                </a:spcAft>
              </a:pPr>
              <a:t>2</a:t>
            </a:fld>
            <a:endParaRPr lang="en-US" dirty="0"/>
          </a:p>
        </p:txBody>
      </p:sp>
      <p:pic>
        <p:nvPicPr>
          <p:cNvPr id="6" name="Picture 5">
            <a:extLst>
              <a:ext uri="{FF2B5EF4-FFF2-40B4-BE49-F238E27FC236}">
                <a16:creationId xmlns:a16="http://schemas.microsoft.com/office/drawing/2014/main" id="{FC9C328C-2EFF-536F-03C4-AAC918D36554}"/>
              </a:ext>
            </a:extLst>
          </p:cNvPr>
          <p:cNvPicPr>
            <a:picLocks noChangeAspect="1"/>
          </p:cNvPicPr>
          <p:nvPr/>
        </p:nvPicPr>
        <p:blipFill>
          <a:blip r:embed="rId3"/>
          <a:stretch>
            <a:fillRect/>
          </a:stretch>
        </p:blipFill>
        <p:spPr>
          <a:xfrm>
            <a:off x="5114925" y="6275387"/>
            <a:ext cx="1104900" cy="400050"/>
          </a:xfrm>
          <a:prstGeom prst="rect">
            <a:avLst/>
          </a:prstGeom>
        </p:spPr>
      </p:pic>
      <p:pic>
        <p:nvPicPr>
          <p:cNvPr id="10" name="Picture 9">
            <a:extLst>
              <a:ext uri="{FF2B5EF4-FFF2-40B4-BE49-F238E27FC236}">
                <a16:creationId xmlns:a16="http://schemas.microsoft.com/office/drawing/2014/main" id="{2F56D019-A651-9A7A-40A8-DF9725D6D6DF}"/>
              </a:ext>
            </a:extLst>
          </p:cNvPr>
          <p:cNvPicPr>
            <a:picLocks noChangeAspect="1"/>
          </p:cNvPicPr>
          <p:nvPr/>
        </p:nvPicPr>
        <p:blipFill>
          <a:blip r:embed="rId4"/>
          <a:stretch>
            <a:fillRect/>
          </a:stretch>
        </p:blipFill>
        <p:spPr>
          <a:xfrm>
            <a:off x="5072551" y="3829345"/>
            <a:ext cx="2046897" cy="2446042"/>
          </a:xfrm>
          <a:prstGeom prst="rect">
            <a:avLst/>
          </a:prstGeom>
        </p:spPr>
      </p:pic>
    </p:spTree>
    <p:extLst>
      <p:ext uri="{BB962C8B-B14F-4D97-AF65-F5344CB8AC3E}">
        <p14:creationId xmlns:p14="http://schemas.microsoft.com/office/powerpoint/2010/main" val="1368506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81081-F13F-95A5-2C30-C96302A23199}"/>
              </a:ext>
            </a:extLst>
          </p:cNvPr>
          <p:cNvSpPr>
            <a:spLocks noGrp="1"/>
          </p:cNvSpPr>
          <p:nvPr>
            <p:ph type="title"/>
          </p:nvPr>
        </p:nvSpPr>
        <p:spPr>
          <a:xfrm>
            <a:off x="171899" y="27700"/>
            <a:ext cx="8116085" cy="535531"/>
          </a:xfrm>
        </p:spPr>
        <p:txBody>
          <a:bodyPr/>
          <a:lstStyle/>
          <a:p>
            <a:r>
              <a:rPr lang="en-US" sz="3200" b="1" dirty="0"/>
              <a:t>Mission: Reliable</a:t>
            </a:r>
            <a:endParaRPr lang="en-US" dirty="0"/>
          </a:p>
        </p:txBody>
      </p:sp>
      <p:sp>
        <p:nvSpPr>
          <p:cNvPr id="3" name="Content Placeholder 2">
            <a:extLst>
              <a:ext uri="{FF2B5EF4-FFF2-40B4-BE49-F238E27FC236}">
                <a16:creationId xmlns:a16="http://schemas.microsoft.com/office/drawing/2014/main" id="{F2AA585D-C526-D12D-E79F-132EB8F71A9D}"/>
              </a:ext>
            </a:extLst>
          </p:cNvPr>
          <p:cNvSpPr>
            <a:spLocks noGrp="1"/>
          </p:cNvSpPr>
          <p:nvPr>
            <p:ph idx="1"/>
          </p:nvPr>
        </p:nvSpPr>
        <p:spPr>
          <a:xfrm>
            <a:off x="170084" y="1004291"/>
            <a:ext cx="11734369" cy="5596757"/>
          </a:xfrm>
        </p:spPr>
        <p:txBody>
          <a:bodyPr>
            <a:noAutofit/>
          </a:bodyPr>
          <a:lstStyle/>
          <a:p>
            <a:pPr marL="0" indent="0">
              <a:buNone/>
            </a:pPr>
            <a:r>
              <a:rPr lang="en-US" sz="2400" b="1" dirty="0">
                <a:ea typeface="Calibri Light"/>
                <a:cs typeface="Calibri Light"/>
              </a:rPr>
              <a:t>Objective</a:t>
            </a:r>
          </a:p>
          <a:p>
            <a:pPr marL="0" indent="0">
              <a:buNone/>
            </a:pPr>
            <a:r>
              <a:rPr lang="en-US" sz="2400" dirty="0">
                <a:ea typeface="Calibri Light"/>
                <a:cs typeface="Calibri Light"/>
              </a:rPr>
              <a:t>Strengthen Operational Reliability across assets critical to our financial success and customer commitments by leveraging Enterprise IT and Data capabilities with representatives from our Operations, Maintenance and Engineering groups. </a:t>
            </a:r>
          </a:p>
          <a:p>
            <a:pPr marL="0" indent="0">
              <a:buNone/>
            </a:pPr>
            <a:r>
              <a:rPr lang="en-US" sz="2400" dirty="0">
                <a:ea typeface="Calibri Light"/>
                <a:cs typeface="Calibri Light"/>
              </a:rPr>
              <a:t>The team will leverage new and existing tools and processes that enable Enterprise to deliver best in class reliability at critical assets, laying the groundwork for deployment of these tools and processes to the entire Enterprise operating base.</a:t>
            </a:r>
            <a:endParaRPr lang="en-US" sz="2400" b="1" dirty="0">
              <a:ea typeface="Calibri Light"/>
              <a:cs typeface="Calibri Light"/>
            </a:endParaRPr>
          </a:p>
          <a:p>
            <a:pPr marL="0" indent="0">
              <a:buNone/>
            </a:pPr>
            <a:r>
              <a:rPr lang="en-US" sz="2400" b="1" dirty="0">
                <a:ea typeface="Calibri Light"/>
                <a:cs typeface="Calibri Light"/>
              </a:rPr>
              <a:t>Major Focus Areas </a:t>
            </a:r>
          </a:p>
          <a:p>
            <a:r>
              <a:rPr lang="en-US" sz="2000" dirty="0">
                <a:ea typeface="Calibri Light"/>
                <a:cs typeface="Calibri Light"/>
              </a:rPr>
              <a:t>Operating Availability Metrics</a:t>
            </a:r>
          </a:p>
          <a:p>
            <a:r>
              <a:rPr lang="en-US" sz="2000" dirty="0">
                <a:ea typeface="Calibri Light"/>
                <a:cs typeface="Calibri Light"/>
              </a:rPr>
              <a:t>Issue identification (Equipment/Mechanical/Power Infrastructure/etc.)</a:t>
            </a:r>
          </a:p>
          <a:p>
            <a:r>
              <a:rPr lang="en-US" sz="2000" dirty="0">
                <a:ea typeface="Calibri Light"/>
                <a:cs typeface="Calibri Light"/>
              </a:rPr>
              <a:t>Process Improvements</a:t>
            </a:r>
          </a:p>
          <a:p>
            <a:r>
              <a:rPr lang="en-US" sz="2000" dirty="0">
                <a:ea typeface="Calibri Light"/>
                <a:cs typeface="Calibri Light"/>
              </a:rPr>
              <a:t>Training &amp; Resources Development</a:t>
            </a:r>
          </a:p>
          <a:p>
            <a:r>
              <a:rPr lang="en-US" sz="2000" dirty="0">
                <a:ea typeface="Calibri Light"/>
                <a:cs typeface="Calibri Light"/>
              </a:rPr>
              <a:t>AI Enablement</a:t>
            </a:r>
          </a:p>
          <a:p>
            <a:endParaRPr lang="en-US" sz="2400" dirty="0">
              <a:ea typeface="Calibri Light"/>
              <a:cs typeface="Calibri Light"/>
            </a:endParaRPr>
          </a:p>
        </p:txBody>
      </p:sp>
      <p:sp>
        <p:nvSpPr>
          <p:cNvPr id="4" name="Text Placeholder 3">
            <a:extLst>
              <a:ext uri="{FF2B5EF4-FFF2-40B4-BE49-F238E27FC236}">
                <a16:creationId xmlns:a16="http://schemas.microsoft.com/office/drawing/2014/main" id="{4F3593D7-73D6-FA01-F72E-62D6A0351A84}"/>
              </a:ext>
            </a:extLst>
          </p:cNvPr>
          <p:cNvSpPr>
            <a:spLocks noGrp="1"/>
          </p:cNvSpPr>
          <p:nvPr>
            <p:ph type="body" sz="quarter" idx="10"/>
          </p:nvPr>
        </p:nvSpPr>
        <p:spPr>
          <a:xfrm>
            <a:off x="178710" y="517642"/>
            <a:ext cx="8101011" cy="369332"/>
          </a:xfrm>
        </p:spPr>
        <p:txBody>
          <a:bodyPr/>
          <a:lstStyle/>
          <a:p>
            <a:r>
              <a:rPr lang="en-US" sz="2000" b="1" dirty="0"/>
              <a:t>Program Goals</a:t>
            </a:r>
          </a:p>
        </p:txBody>
      </p:sp>
      <p:sp>
        <p:nvSpPr>
          <p:cNvPr id="5" name="Slide Number Placeholder 4">
            <a:extLst>
              <a:ext uri="{FF2B5EF4-FFF2-40B4-BE49-F238E27FC236}">
                <a16:creationId xmlns:a16="http://schemas.microsoft.com/office/drawing/2014/main" id="{8A1DE241-01B3-9923-9D10-4E062E110EE6}"/>
              </a:ext>
            </a:extLst>
          </p:cNvPr>
          <p:cNvSpPr>
            <a:spLocks noGrp="1"/>
          </p:cNvSpPr>
          <p:nvPr>
            <p:ph type="sldNum" sz="quarter" idx="13"/>
          </p:nvPr>
        </p:nvSpPr>
        <p:spPr>
          <a:xfrm>
            <a:off x="9372600" y="6492875"/>
            <a:ext cx="2743200" cy="365125"/>
          </a:xfrm>
        </p:spPr>
        <p:txBody>
          <a:bodyPr anchor="ctr">
            <a:normAutofit/>
          </a:bodyPr>
          <a:lstStyle/>
          <a:p>
            <a:pPr>
              <a:spcAft>
                <a:spcPts val="600"/>
              </a:spcAft>
            </a:pPr>
            <a:fld id="{330EA680-D336-4FF7-8B7A-9848BB0A1C32}" type="slidenum">
              <a:rPr lang="en-US" smtClean="0"/>
              <a:pPr>
                <a:spcAft>
                  <a:spcPts val="600"/>
                </a:spcAft>
              </a:pPr>
              <a:t>3</a:t>
            </a:fld>
            <a:endParaRPr lang="en-US" dirty="0"/>
          </a:p>
        </p:txBody>
      </p:sp>
    </p:spTree>
    <p:extLst>
      <p:ext uri="{BB962C8B-B14F-4D97-AF65-F5344CB8AC3E}">
        <p14:creationId xmlns:p14="http://schemas.microsoft.com/office/powerpoint/2010/main" val="330041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32E14-3212-6A5E-FE80-9588665CD458}"/>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a:t>Introduction</a:t>
            </a:r>
          </a:p>
        </p:txBody>
      </p:sp>
      <p:sp>
        <p:nvSpPr>
          <p:cNvPr id="3" name="Text Placeholder 2">
            <a:extLst>
              <a:ext uri="{FF2B5EF4-FFF2-40B4-BE49-F238E27FC236}">
                <a16:creationId xmlns:a16="http://schemas.microsoft.com/office/drawing/2014/main" id="{D55CA1D2-6D38-042D-5526-C49F2BF91596}"/>
              </a:ext>
            </a:extLst>
          </p:cNvPr>
          <p:cNvSpPr>
            <a:spLocks noGrp="1"/>
          </p:cNvSpPr>
          <p:nvPr>
            <p:ph type="body" idx="1"/>
          </p:nvPr>
        </p:nvSpPr>
        <p:spPr>
          <a:xfrm>
            <a:off x="1197060" y="4027211"/>
            <a:ext cx="7538405" cy="1014107"/>
          </a:xfrm>
        </p:spPr>
        <p:txBody>
          <a:bodyPr vert="horz" lIns="91440" tIns="45720" rIns="91440" bIns="45720" rtlCol="0">
            <a:normAutofit/>
          </a:bodyPr>
          <a:lstStyle/>
          <a:p>
            <a:pPr>
              <a:lnSpc>
                <a:spcPct val="120000"/>
              </a:lnSpc>
            </a:pPr>
            <a:r>
              <a:rPr lang="en-US" sz="2200" dirty="0">
                <a:solidFill>
                  <a:schemeClr val="tx1"/>
                </a:solidFill>
              </a:rPr>
              <a:t>Wherein I tell you what I’m going to tell you…</a:t>
            </a:r>
          </a:p>
          <a:p>
            <a:pPr>
              <a:lnSpc>
                <a:spcPct val="120000"/>
              </a:lnSpc>
            </a:pPr>
            <a:r>
              <a:rPr lang="en-US" sz="1800" u="sng" dirty="0">
                <a:solidFill>
                  <a:srgbClr val="467886"/>
                </a:solidFill>
                <a:effectLst/>
                <a:latin typeface="Aptos" panose="020B0004020202020204" pitchFamily="34" charset="0"/>
                <a:ea typeface="Aptos" panose="020B0004020202020204" pitchFamily="34" charset="0"/>
                <a:cs typeface="Aptos" panose="020B0004020202020204" pitchFamily="34" charset="0"/>
                <a:hlinkClick r:id="rId2"/>
              </a:rPr>
              <a:t>https://github.com/ericburcham/prompt-engineering</a:t>
            </a:r>
            <a:endParaRPr lang="en-US" sz="1800" u="sng" dirty="0">
              <a:solidFill>
                <a:srgbClr val="467886"/>
              </a:solidFill>
              <a:effectLst/>
              <a:latin typeface="Aptos" panose="020B0004020202020204" pitchFamily="34" charset="0"/>
              <a:ea typeface="Aptos" panose="020B0004020202020204" pitchFamily="34" charset="0"/>
              <a:cs typeface="Aptos" panose="020B0004020202020204" pitchFamily="34" charset="0"/>
            </a:endParaRPr>
          </a:p>
        </p:txBody>
      </p:sp>
    </p:spTree>
    <p:extLst>
      <p:ext uri="{BB962C8B-B14F-4D97-AF65-F5344CB8AC3E}">
        <p14:creationId xmlns:p14="http://schemas.microsoft.com/office/powerpoint/2010/main" val="225588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C7317-E4DC-A435-9637-2A291E10CF29}"/>
              </a:ext>
            </a:extLst>
          </p:cNvPr>
          <p:cNvSpPr>
            <a:spLocks noGrp="1"/>
          </p:cNvSpPr>
          <p:nvPr>
            <p:ph type="title"/>
          </p:nvPr>
        </p:nvSpPr>
        <p:spPr>
          <a:xfrm>
            <a:off x="612649" y="548639"/>
            <a:ext cx="3494314" cy="5786638"/>
          </a:xfrm>
        </p:spPr>
        <p:txBody>
          <a:bodyPr anchor="t">
            <a:normAutofit/>
          </a:bodyPr>
          <a:lstStyle/>
          <a:p>
            <a:r>
              <a:rPr lang="en-US" dirty="0"/>
              <a:t>Your Presenter</a:t>
            </a:r>
          </a:p>
        </p:txBody>
      </p:sp>
      <p:graphicFrame>
        <p:nvGraphicFramePr>
          <p:cNvPr id="5" name="Content Placeholder 2">
            <a:extLst>
              <a:ext uri="{FF2B5EF4-FFF2-40B4-BE49-F238E27FC236}">
                <a16:creationId xmlns:a16="http://schemas.microsoft.com/office/drawing/2014/main" id="{B622989A-D5AC-F19E-2016-7393A87696B2}"/>
              </a:ext>
            </a:extLst>
          </p:cNvPr>
          <p:cNvGraphicFramePr>
            <a:graphicFrameLocks noGrp="1"/>
          </p:cNvGraphicFramePr>
          <p:nvPr>
            <p:ph idx="1"/>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278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E6C553-8F7C-DB06-3E34-BB7B5C25BDD0}"/>
              </a:ext>
            </a:extLst>
          </p:cNvPr>
          <p:cNvPicPr>
            <a:picLocks noChangeAspect="1"/>
          </p:cNvPicPr>
          <p:nvPr/>
        </p:nvPicPr>
        <p:blipFill>
          <a:blip r:embed="rId3">
            <a:extLst>
              <a:ext uri="{28A0092B-C50C-407E-A947-70E740481C1C}">
                <a14:useLocalDpi xmlns:a14="http://schemas.microsoft.com/office/drawing/2010/main" val="0"/>
              </a:ext>
            </a:extLst>
          </a:blip>
          <a:srcRect t="2588" b="19483"/>
          <a:stretch>
            <a:fillRect/>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p:nvSpPr>
          <p:cNvPr id="4" name="Title 3">
            <a:extLst>
              <a:ext uri="{FF2B5EF4-FFF2-40B4-BE49-F238E27FC236}">
                <a16:creationId xmlns:a16="http://schemas.microsoft.com/office/drawing/2014/main" id="{AA6268F4-3CB6-2C9D-30DA-4448B4A711FF}"/>
              </a:ext>
            </a:extLst>
          </p:cNvPr>
          <p:cNvSpPr>
            <a:spLocks noGrp="1"/>
          </p:cNvSpPr>
          <p:nvPr>
            <p:ph type="title"/>
          </p:nvPr>
        </p:nvSpPr>
        <p:spPr>
          <a:xfrm>
            <a:off x="589556" y="5746071"/>
            <a:ext cx="7015499" cy="852260"/>
          </a:xfrm>
        </p:spPr>
        <p:txBody>
          <a:bodyPr vert="horz" lIns="91440" tIns="45720" rIns="91440" bIns="45720" rtlCol="0" anchor="ctr">
            <a:normAutofit/>
          </a:bodyPr>
          <a:lstStyle/>
          <a:p>
            <a:r>
              <a:rPr lang="en-US" sz="3600"/>
              <a:t>Copilot is </a:t>
            </a:r>
            <a:r>
              <a:rPr lang="en-US" sz="3600" b="1" i="1"/>
              <a:t>NOT</a:t>
            </a:r>
            <a:r>
              <a:rPr lang="en-US" sz="3600"/>
              <a:t> Optimistic</a:t>
            </a:r>
            <a:endParaRPr lang="en-US" sz="3600" dirty="0"/>
          </a:p>
        </p:txBody>
      </p:sp>
    </p:spTree>
    <p:extLst>
      <p:ext uri="{BB962C8B-B14F-4D97-AF65-F5344CB8AC3E}">
        <p14:creationId xmlns:p14="http://schemas.microsoft.com/office/powerpoint/2010/main" val="375083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0639D2-040D-861C-3E23-3B3460DD38DF}"/>
              </a:ext>
            </a:extLst>
          </p:cNvPr>
          <p:cNvSpPr>
            <a:spLocks noGrp="1"/>
          </p:cNvSpPr>
          <p:nvPr>
            <p:ph type="title"/>
          </p:nvPr>
        </p:nvSpPr>
        <p:spPr>
          <a:xfrm>
            <a:off x="838200" y="668377"/>
            <a:ext cx="10515600" cy="1325563"/>
          </a:xfrm>
        </p:spPr>
        <p:txBody>
          <a:bodyPr>
            <a:normAutofit/>
          </a:bodyPr>
          <a:lstStyle/>
          <a:p>
            <a:r>
              <a:rPr lang="en-US" dirty="0"/>
              <a:t>Acceptable Use Policy (General)</a:t>
            </a:r>
          </a:p>
        </p:txBody>
      </p:sp>
      <p:sp>
        <p:nvSpPr>
          <p:cNvPr id="6" name="Content Placeholder 5">
            <a:extLst>
              <a:ext uri="{FF2B5EF4-FFF2-40B4-BE49-F238E27FC236}">
                <a16:creationId xmlns:a16="http://schemas.microsoft.com/office/drawing/2014/main" id="{6B0AA201-010D-387C-9DA0-21C3B2AEA770}"/>
              </a:ext>
            </a:extLst>
          </p:cNvPr>
          <p:cNvSpPr>
            <a:spLocks noGrp="1"/>
          </p:cNvSpPr>
          <p:nvPr>
            <p:ph sz="half" idx="1"/>
          </p:nvPr>
        </p:nvSpPr>
        <p:spPr>
          <a:xfrm>
            <a:off x="838200" y="2177456"/>
            <a:ext cx="5097780" cy="3795748"/>
          </a:xfrm>
        </p:spPr>
        <p:txBody>
          <a:bodyPr>
            <a:normAutofit/>
          </a:bodyPr>
          <a:lstStyle/>
          <a:p>
            <a:r>
              <a:rPr lang="en-US" sz="2400"/>
              <a:t>Get IT approval before using any AI/LLM service</a:t>
            </a:r>
          </a:p>
          <a:p>
            <a:r>
              <a:rPr lang="en-US" sz="2400"/>
              <a:t>Use only Enterprise-approved AI tools</a:t>
            </a:r>
          </a:p>
          <a:p>
            <a:r>
              <a:rPr lang="en-US" sz="2400"/>
              <a:t>Protect company information</a:t>
            </a:r>
          </a:p>
          <a:p>
            <a:r>
              <a:rPr lang="en-US" sz="2400"/>
              <a:t>Follow security best practices</a:t>
            </a:r>
          </a:p>
        </p:txBody>
      </p:sp>
      <p:sp>
        <p:nvSpPr>
          <p:cNvPr id="8" name="Content Placeholder 7">
            <a:extLst>
              <a:ext uri="{FF2B5EF4-FFF2-40B4-BE49-F238E27FC236}">
                <a16:creationId xmlns:a16="http://schemas.microsoft.com/office/drawing/2014/main" id="{58283C61-92BC-82E2-24CC-23478D68DE08}"/>
              </a:ext>
            </a:extLst>
          </p:cNvPr>
          <p:cNvSpPr>
            <a:spLocks noGrp="1"/>
          </p:cNvSpPr>
          <p:nvPr>
            <p:ph sz="half" idx="2"/>
          </p:nvPr>
        </p:nvSpPr>
        <p:spPr>
          <a:xfrm>
            <a:off x="6256020" y="2177456"/>
            <a:ext cx="5097780" cy="3795748"/>
          </a:xfrm>
        </p:spPr>
        <p:txBody>
          <a:bodyPr>
            <a:normAutofit/>
          </a:bodyPr>
          <a:lstStyle/>
          <a:p>
            <a:r>
              <a:rPr lang="en-US" sz="2400" dirty="0"/>
              <a:t>Don’t use unapproved AI services (ChatGPT, Claude, Gemini, etc.)</a:t>
            </a:r>
          </a:p>
          <a:p>
            <a:r>
              <a:rPr lang="en-US" sz="2400" dirty="0"/>
              <a:t>Don’t share sensitive information</a:t>
            </a:r>
          </a:p>
          <a:p>
            <a:r>
              <a:rPr lang="en-US" sz="2400" dirty="0"/>
              <a:t>Don’t bypass security controls</a:t>
            </a:r>
          </a:p>
          <a:p>
            <a:r>
              <a:rPr lang="en-US" sz="2400" dirty="0"/>
              <a:t>Don’t create unauthorized content</a:t>
            </a:r>
          </a:p>
          <a:p>
            <a:r>
              <a:rPr lang="en-US" sz="2400" dirty="0"/>
              <a:t>If you need an exception…</a:t>
            </a:r>
          </a:p>
        </p:txBody>
      </p:sp>
    </p:spTree>
    <p:extLst>
      <p:ext uri="{BB962C8B-B14F-4D97-AF65-F5344CB8AC3E}">
        <p14:creationId xmlns:p14="http://schemas.microsoft.com/office/powerpoint/2010/main" val="172206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animEffect transition="in" filter="fade">
                                      <p:cBhvr>
                                        <p:cTn id="4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90DB7-0456-2F40-6E08-29C2017EB7E0}"/>
              </a:ext>
            </a:extLst>
          </p:cNvPr>
          <p:cNvSpPr>
            <a:spLocks noGrp="1"/>
          </p:cNvSpPr>
          <p:nvPr>
            <p:ph type="title"/>
          </p:nvPr>
        </p:nvSpPr>
        <p:spPr/>
        <p:txBody>
          <a:bodyPr/>
          <a:lstStyle/>
          <a:p>
            <a:r>
              <a:rPr lang="en-US" dirty="0"/>
              <a:t>Mission: Reliable Guidelines</a:t>
            </a:r>
          </a:p>
        </p:txBody>
      </p:sp>
      <p:sp>
        <p:nvSpPr>
          <p:cNvPr id="3" name="Content Placeholder 2">
            <a:extLst>
              <a:ext uri="{FF2B5EF4-FFF2-40B4-BE49-F238E27FC236}">
                <a16:creationId xmlns:a16="http://schemas.microsoft.com/office/drawing/2014/main" id="{0E402EED-CC9C-A02F-7BFE-EFB6F9D6AE17}"/>
              </a:ext>
            </a:extLst>
          </p:cNvPr>
          <p:cNvSpPr>
            <a:spLocks noGrp="1"/>
          </p:cNvSpPr>
          <p:nvPr>
            <p:ph idx="1"/>
          </p:nvPr>
        </p:nvSpPr>
        <p:spPr/>
        <p:txBody>
          <a:bodyPr>
            <a:normAutofit/>
          </a:bodyPr>
          <a:lstStyle/>
          <a:p>
            <a:r>
              <a:rPr lang="en-US" dirty="0"/>
              <a:t>Acceptable Use Policy</a:t>
            </a:r>
          </a:p>
          <a:p>
            <a:r>
              <a:rPr lang="en-US" dirty="0"/>
              <a:t>Copilot for web</a:t>
            </a:r>
          </a:p>
          <a:p>
            <a:r>
              <a:rPr lang="en-US" dirty="0"/>
              <a:t>Copilot for Office</a:t>
            </a:r>
          </a:p>
          <a:p>
            <a:r>
              <a:rPr lang="en-US" dirty="0"/>
              <a:t>Confidential company information</a:t>
            </a:r>
          </a:p>
          <a:p>
            <a:r>
              <a:rPr lang="en-US" dirty="0"/>
              <a:t>If you have an additional use case</a:t>
            </a:r>
          </a:p>
          <a:p>
            <a:r>
              <a:rPr lang="en-US" dirty="0"/>
              <a:t>Use of other cloud-based AI tools</a:t>
            </a:r>
          </a:p>
        </p:txBody>
      </p:sp>
    </p:spTree>
    <p:extLst>
      <p:ext uri="{BB962C8B-B14F-4D97-AF65-F5344CB8AC3E}">
        <p14:creationId xmlns:p14="http://schemas.microsoft.com/office/powerpoint/2010/main" val="65922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2D0554-BC01-6840-6795-9CE23069A3C0}"/>
              </a:ext>
            </a:extLst>
          </p:cNvPr>
          <p:cNvSpPr>
            <a:spLocks noGrp="1"/>
          </p:cNvSpPr>
          <p:nvPr>
            <p:ph type="title"/>
          </p:nvPr>
        </p:nvSpPr>
        <p:spPr>
          <a:xfrm>
            <a:off x="838200" y="668377"/>
            <a:ext cx="10515600" cy="1325563"/>
          </a:xfrm>
        </p:spPr>
        <p:txBody>
          <a:bodyPr>
            <a:normAutofit/>
          </a:bodyPr>
          <a:lstStyle/>
          <a:p>
            <a:r>
              <a:rPr lang="en-US" dirty="0"/>
              <a:t>Copilot Privacy and Terms of Use</a:t>
            </a:r>
          </a:p>
        </p:txBody>
      </p:sp>
      <p:sp>
        <p:nvSpPr>
          <p:cNvPr id="8" name="Content Placeholder 7">
            <a:extLst>
              <a:ext uri="{FF2B5EF4-FFF2-40B4-BE49-F238E27FC236}">
                <a16:creationId xmlns:a16="http://schemas.microsoft.com/office/drawing/2014/main" id="{11D27E34-B87C-BE68-3376-AF8723FD8DAD}"/>
              </a:ext>
            </a:extLst>
          </p:cNvPr>
          <p:cNvSpPr>
            <a:spLocks noGrp="1"/>
          </p:cNvSpPr>
          <p:nvPr>
            <p:ph sz="half" idx="1"/>
          </p:nvPr>
        </p:nvSpPr>
        <p:spPr>
          <a:xfrm>
            <a:off x="838200" y="2177455"/>
            <a:ext cx="5097780" cy="4530771"/>
          </a:xfrm>
        </p:spPr>
        <p:txBody>
          <a:bodyPr>
            <a:normAutofit/>
          </a:bodyPr>
          <a:lstStyle/>
          <a:p>
            <a:r>
              <a:rPr lang="en-US" sz="2200" b="1" dirty="0"/>
              <a:t>Prompt &amp; Response Retention</a:t>
            </a:r>
            <a:r>
              <a:rPr lang="en-US" sz="2200" dirty="0"/>
              <a:t> - All interactions are logged, retained, and subject to audit requirements</a:t>
            </a:r>
          </a:p>
          <a:p>
            <a:r>
              <a:rPr lang="en-US" sz="2200" b="1" dirty="0"/>
              <a:t>No Model Training on Your Data</a:t>
            </a:r>
            <a:r>
              <a:rPr lang="en-US" sz="2200" dirty="0"/>
              <a:t> - Microsoft commits not to use customer prompts/responses for AI training</a:t>
            </a:r>
          </a:p>
          <a:p>
            <a:r>
              <a:rPr lang="en-US" sz="2200" b="1" dirty="0"/>
              <a:t>FERC CEII &amp; Market Data Risks</a:t>
            </a:r>
            <a:r>
              <a:rPr lang="en-US" sz="2200" dirty="0"/>
              <a:t> - No specific protections for Critical Energy Infrastructure Information or non-public market data in web searches</a:t>
            </a:r>
          </a:p>
        </p:txBody>
      </p:sp>
      <p:sp>
        <p:nvSpPr>
          <p:cNvPr id="9" name="Content Placeholder 8">
            <a:extLst>
              <a:ext uri="{FF2B5EF4-FFF2-40B4-BE49-F238E27FC236}">
                <a16:creationId xmlns:a16="http://schemas.microsoft.com/office/drawing/2014/main" id="{BBA61DB2-3BC2-69FA-0311-D11238903920}"/>
              </a:ext>
            </a:extLst>
          </p:cNvPr>
          <p:cNvSpPr>
            <a:spLocks noGrp="1"/>
          </p:cNvSpPr>
          <p:nvPr>
            <p:ph sz="half" idx="2"/>
          </p:nvPr>
        </p:nvSpPr>
        <p:spPr>
          <a:xfrm>
            <a:off x="6256020" y="2177456"/>
            <a:ext cx="5097780" cy="4530772"/>
          </a:xfrm>
        </p:spPr>
        <p:txBody>
          <a:bodyPr>
            <a:noAutofit/>
          </a:bodyPr>
          <a:lstStyle/>
          <a:p>
            <a:r>
              <a:rPr lang="en-US" sz="2200" b="1" dirty="0"/>
              <a:t>File Upload Storage</a:t>
            </a:r>
            <a:r>
              <a:rPr lang="en-US" sz="2200" dirty="0"/>
              <a:t> - Uploaded documents automatically stored in user's OneDrive for Business</a:t>
            </a:r>
          </a:p>
          <a:p>
            <a:r>
              <a:rPr lang="en-US" sz="2200" b="1" dirty="0"/>
              <a:t>Sensitive Data Exposure Risk</a:t>
            </a:r>
            <a:r>
              <a:rPr lang="en-US" sz="2200" dirty="0"/>
              <a:t> - Users may inadvertently share confidential information through prompts</a:t>
            </a:r>
          </a:p>
          <a:p>
            <a:r>
              <a:rPr lang="en-US" sz="2200" b="1" dirty="0"/>
              <a:t>Copyright Indemnification</a:t>
            </a:r>
            <a:r>
              <a:rPr lang="en-US" sz="2200" dirty="0"/>
              <a:t> - Microsoft's Copyright Commitment covers customer use of generated content</a:t>
            </a:r>
          </a:p>
          <a:p>
            <a:r>
              <a:rPr lang="en-US" sz="2200" b="1" dirty="0"/>
              <a:t>Data Protection Addendum (DPA) Coverage</a:t>
            </a:r>
            <a:r>
              <a:rPr lang="en-US" sz="2200" dirty="0"/>
              <a:t> - Copilot falls under Microsoft's DPA for enterprise accounts, but </a:t>
            </a:r>
            <a:r>
              <a:rPr lang="en-US" sz="2200" b="1" dirty="0">
                <a:solidFill>
                  <a:srgbClr val="FF0000"/>
                </a:solidFill>
              </a:rPr>
              <a:t>web searches do not</a:t>
            </a:r>
          </a:p>
          <a:p>
            <a:endParaRPr lang="en-US" sz="2200" dirty="0"/>
          </a:p>
        </p:txBody>
      </p:sp>
    </p:spTree>
    <p:extLst>
      <p:ext uri="{BB962C8B-B14F-4D97-AF65-F5344CB8AC3E}">
        <p14:creationId xmlns:p14="http://schemas.microsoft.com/office/powerpoint/2010/main" val="239846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fade">
                                      <p:cBhvr>
                                        <p:cTn id="22" dur="500"/>
                                        <p:tgtEl>
                                          <p:spTgt spid="9">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animEffect transition="in" filter="fade">
                                      <p:cBhvr>
                                        <p:cTn id="27" dur="500"/>
                                        <p:tgtEl>
                                          <p:spTgt spid="9">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2" end="2"/>
                                            </p:txEl>
                                          </p:spTgt>
                                        </p:tgtEl>
                                        <p:attrNameLst>
                                          <p:attrName>style.visibility</p:attrName>
                                        </p:attrNameLst>
                                      </p:cBhvr>
                                      <p:to>
                                        <p:strVal val="visible"/>
                                      </p:to>
                                    </p:set>
                                    <p:animEffect transition="in" filter="fade">
                                      <p:cBhvr>
                                        <p:cTn id="32" dur="500"/>
                                        <p:tgtEl>
                                          <p:spTgt spid="9">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3" end="3"/>
                                            </p:txEl>
                                          </p:spTgt>
                                        </p:tgtEl>
                                        <p:attrNameLst>
                                          <p:attrName>style.visibility</p:attrName>
                                        </p:attrNameLst>
                                      </p:cBhvr>
                                      <p:to>
                                        <p:strVal val="visible"/>
                                      </p:to>
                                    </p:set>
                                    <p:animEffect transition="in" filter="fade">
                                      <p:cBhvr>
                                        <p:cTn id="37" dur="500"/>
                                        <p:tgtEl>
                                          <p:spTgt spid="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9AF28-A56A-FADD-92C5-EAF90529A55A}"/>
              </a:ext>
            </a:extLst>
          </p:cNvPr>
          <p:cNvSpPr>
            <a:spLocks noGrp="1"/>
          </p:cNvSpPr>
          <p:nvPr>
            <p:ph type="title"/>
          </p:nvPr>
        </p:nvSpPr>
        <p:spPr>
          <a:xfrm>
            <a:off x="838200" y="365125"/>
            <a:ext cx="10515600" cy="1325563"/>
          </a:xfrm>
        </p:spPr>
        <p:txBody>
          <a:bodyPr>
            <a:normAutofit/>
          </a:bodyPr>
          <a:lstStyle/>
          <a:p>
            <a:r>
              <a:rPr lang="en-US" dirty="0"/>
              <a:t>DPA – Example Prompts</a:t>
            </a:r>
            <a:br>
              <a:rPr lang="en-US" dirty="0"/>
            </a:br>
            <a:r>
              <a:rPr lang="en-US" dirty="0"/>
              <a:t>(</a:t>
            </a:r>
            <a:r>
              <a:rPr lang="en-US" b="1" i="1"/>
              <a:t>When in doubt, DON’T)</a:t>
            </a:r>
          </a:p>
        </p:txBody>
      </p:sp>
      <p:sp>
        <p:nvSpPr>
          <p:cNvPr id="4" name="Content Placeholder 3">
            <a:extLst>
              <a:ext uri="{FF2B5EF4-FFF2-40B4-BE49-F238E27FC236}">
                <a16:creationId xmlns:a16="http://schemas.microsoft.com/office/drawing/2014/main" id="{9500CD04-6074-8DE4-A9A8-F8130BC2D90D}"/>
              </a:ext>
            </a:extLst>
          </p:cNvPr>
          <p:cNvSpPr>
            <a:spLocks noGrp="1"/>
          </p:cNvSpPr>
          <p:nvPr>
            <p:ph sz="half" idx="1"/>
          </p:nvPr>
        </p:nvSpPr>
        <p:spPr>
          <a:xfrm>
            <a:off x="838200" y="2010833"/>
            <a:ext cx="5096934" cy="4166130"/>
          </a:xfrm>
        </p:spPr>
        <p:txBody>
          <a:bodyPr>
            <a:normAutofit/>
          </a:bodyPr>
          <a:lstStyle/>
          <a:p>
            <a:pPr marL="0" indent="0">
              <a:buNone/>
            </a:pPr>
            <a:r>
              <a:rPr lang="en-US" sz="2000" b="1" dirty="0"/>
              <a:t>Copilot Chat (Protected)</a:t>
            </a:r>
          </a:p>
          <a:p>
            <a:pPr marL="0" indent="0">
              <a:buNone/>
            </a:pPr>
            <a:br>
              <a:rPr lang="en-US" sz="2000" i="1" dirty="0"/>
            </a:br>
            <a:r>
              <a:rPr lang="en-US" sz="2000" i="1" dirty="0">
                <a:solidFill>
                  <a:srgbClr val="FF0000"/>
                </a:solidFill>
              </a:rPr>
              <a:t>Summarize the presentation</a:t>
            </a:r>
            <a:r>
              <a:rPr lang="en-US" sz="2000" i="1" dirty="0"/>
              <a:t> about how </a:t>
            </a:r>
            <a:r>
              <a:rPr lang="en-US" sz="2000" b="1" i="1" dirty="0"/>
              <a:t>our new Houston to Redmond pipeline has a bajillion barrel per day capacity</a:t>
            </a:r>
            <a:r>
              <a:rPr lang="en-US" sz="2000" i="1" dirty="0"/>
              <a:t>.</a:t>
            </a:r>
            <a:endParaRPr lang="en-US" sz="2000" b="1" i="1" dirty="0"/>
          </a:p>
          <a:p>
            <a:pPr marL="0" indent="0">
              <a:buNone/>
            </a:pPr>
            <a:endParaRPr lang="en-US" sz="2000" dirty="0"/>
          </a:p>
          <a:p>
            <a:pPr marL="0" indent="0">
              <a:buNone/>
            </a:pPr>
            <a:r>
              <a:rPr lang="en-US" sz="2000" dirty="0"/>
              <a:t>This is protected because Copilot is only accessing your internal SharePoint/OneDrive files</a:t>
            </a:r>
          </a:p>
        </p:txBody>
      </p:sp>
      <p:sp>
        <p:nvSpPr>
          <p:cNvPr id="6" name="Content Placeholder 5">
            <a:extLst>
              <a:ext uri="{FF2B5EF4-FFF2-40B4-BE49-F238E27FC236}">
                <a16:creationId xmlns:a16="http://schemas.microsoft.com/office/drawing/2014/main" id="{773A6659-4617-2805-FCCC-6AAA88D5A2C8}"/>
              </a:ext>
            </a:extLst>
          </p:cNvPr>
          <p:cNvSpPr>
            <a:spLocks noGrp="1"/>
          </p:cNvSpPr>
          <p:nvPr>
            <p:ph sz="half" idx="2"/>
          </p:nvPr>
        </p:nvSpPr>
        <p:spPr>
          <a:xfrm>
            <a:off x="6256866" y="2010833"/>
            <a:ext cx="5096933" cy="4166130"/>
          </a:xfrm>
        </p:spPr>
        <p:txBody>
          <a:bodyPr>
            <a:normAutofit/>
          </a:bodyPr>
          <a:lstStyle/>
          <a:p>
            <a:pPr marL="0" indent="0">
              <a:buNone/>
            </a:pPr>
            <a:r>
              <a:rPr lang="en-US" sz="2000" b="1" dirty="0"/>
              <a:t>Copilot Search (NOT Protected)</a:t>
            </a:r>
          </a:p>
          <a:p>
            <a:pPr marL="0" indent="0">
              <a:buNone/>
            </a:pPr>
            <a:endParaRPr lang="en-US" sz="2000" i="1" dirty="0"/>
          </a:p>
          <a:p>
            <a:pPr marL="0" indent="0">
              <a:buNone/>
            </a:pPr>
            <a:r>
              <a:rPr lang="en-US" sz="2000" i="1" dirty="0">
                <a:solidFill>
                  <a:srgbClr val="FF0000"/>
                </a:solidFill>
              </a:rPr>
              <a:t>Search online</a:t>
            </a:r>
            <a:r>
              <a:rPr lang="en-US" sz="2000" i="1" dirty="0"/>
              <a:t> regulatory requirements for pipelines with capacities like </a:t>
            </a:r>
            <a:r>
              <a:rPr lang="en-US" sz="2000" b="1" i="1" dirty="0"/>
              <a:t>our new Houston to Redmond line, which will handle a bajillion barrels per day.</a:t>
            </a:r>
          </a:p>
          <a:p>
            <a:pPr marL="0" indent="0">
              <a:buNone/>
            </a:pPr>
            <a:endParaRPr lang="en-US" sz="2000" dirty="0"/>
          </a:p>
          <a:p>
            <a:pPr marL="0" indent="0">
              <a:buNone/>
            </a:pPr>
            <a:r>
              <a:rPr lang="en-US" sz="2000" dirty="0"/>
              <a:t>This is NOT protected because your sensitive capacity data is sent to Bing as part of the search query</a:t>
            </a:r>
          </a:p>
        </p:txBody>
      </p:sp>
    </p:spTree>
    <p:extLst>
      <p:ext uri="{BB962C8B-B14F-4D97-AF65-F5344CB8AC3E}">
        <p14:creationId xmlns:p14="http://schemas.microsoft.com/office/powerpoint/2010/main" val="4190921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80A50A-A0DC-96C6-664D-C34EDBFE8674}"/>
              </a:ext>
            </a:extLst>
          </p:cNvPr>
          <p:cNvSpPr>
            <a:spLocks noGrp="1"/>
          </p:cNvSpPr>
          <p:nvPr>
            <p:ph type="title"/>
          </p:nvPr>
        </p:nvSpPr>
        <p:spPr/>
        <p:txBody>
          <a:bodyPr/>
          <a:lstStyle/>
          <a:p>
            <a:r>
              <a:rPr lang="en-US" dirty="0"/>
              <a:t>AI Essentials</a:t>
            </a:r>
          </a:p>
        </p:txBody>
      </p:sp>
      <p:sp>
        <p:nvSpPr>
          <p:cNvPr id="8" name="Text Placeholder 7">
            <a:extLst>
              <a:ext uri="{FF2B5EF4-FFF2-40B4-BE49-F238E27FC236}">
                <a16:creationId xmlns:a16="http://schemas.microsoft.com/office/drawing/2014/main" id="{601D1729-4180-971A-099B-458A903831EC}"/>
              </a:ext>
            </a:extLst>
          </p:cNvPr>
          <p:cNvSpPr>
            <a:spLocks noGrp="1"/>
          </p:cNvSpPr>
          <p:nvPr>
            <p:ph type="body" idx="1"/>
          </p:nvPr>
        </p:nvSpPr>
        <p:spPr/>
        <p:txBody>
          <a:bodyPr/>
          <a:lstStyle/>
          <a:p>
            <a:r>
              <a:rPr lang="en-US" dirty="0"/>
              <a:t>Wherein we breeze through the least you need to know…</a:t>
            </a:r>
          </a:p>
        </p:txBody>
      </p:sp>
    </p:spTree>
    <p:extLst>
      <p:ext uri="{BB962C8B-B14F-4D97-AF65-F5344CB8AC3E}">
        <p14:creationId xmlns:p14="http://schemas.microsoft.com/office/powerpoint/2010/main" val="1694493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DFC-1350-2E28-EA25-82521585E71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Introduction to AI</a:t>
            </a:r>
          </a:p>
        </p:txBody>
      </p:sp>
      <p:pic>
        <p:nvPicPr>
          <p:cNvPr id="5" name="Content Placeholder 4" descr="AI Artificial intelligence innovation internet computer technology">
            <a:extLst>
              <a:ext uri="{FF2B5EF4-FFF2-40B4-BE49-F238E27FC236}">
                <a16:creationId xmlns:a16="http://schemas.microsoft.com/office/drawing/2014/main" id="{E480ADAD-0BCF-4166-B1AD-FAEE87421493}"/>
              </a:ext>
            </a:extLst>
          </p:cNvPr>
          <p:cNvPicPr>
            <a:picLocks noGrp="1" noChangeAspect="1"/>
          </p:cNvPicPr>
          <p:nvPr>
            <p:ph sz="half" idx="1"/>
          </p:nvPr>
        </p:nvPicPr>
        <p:blipFill>
          <a:blip r:embed="rId3"/>
          <a:srcRect l="26604" r="25603"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CE134A9F-AD64-5E39-8AFC-C120D134B31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dirty="0"/>
              <a:t>Artificial Intelligence (AI)</a:t>
            </a:r>
          </a:p>
          <a:p>
            <a:pPr marL="0" lvl="1" indent="0">
              <a:buNone/>
            </a:pPr>
            <a:r>
              <a:rPr lang="en-US" sz="1400" dirty="0"/>
              <a:t>Computer systems able to perform tasks that historically required human intelligence.</a:t>
            </a:r>
          </a:p>
          <a:p>
            <a:pPr marL="0" indent="0">
              <a:spcBef>
                <a:spcPts val="2500"/>
              </a:spcBef>
              <a:buNone/>
            </a:pPr>
            <a:r>
              <a:rPr lang="en-US" sz="1400" b="1" dirty="0"/>
              <a:t>Machine Learning (ML)</a:t>
            </a:r>
          </a:p>
          <a:p>
            <a:pPr marL="0" lvl="1" indent="0">
              <a:buNone/>
            </a:pPr>
            <a:r>
              <a:rPr lang="en-US" sz="1400" dirty="0"/>
              <a:t>A subset of AI where systems learn from data to improve their performance over time, enhancing decision-making and predictions.</a:t>
            </a:r>
          </a:p>
          <a:p>
            <a:pPr marL="0" indent="0">
              <a:spcBef>
                <a:spcPts val="2500"/>
              </a:spcBef>
              <a:buNone/>
            </a:pPr>
            <a:r>
              <a:rPr lang="en-US" sz="1400" b="1" dirty="0"/>
              <a:t>Generative AI</a:t>
            </a:r>
          </a:p>
          <a:p>
            <a:pPr marL="0" lvl="1" indent="0">
              <a:buNone/>
            </a:pPr>
            <a:r>
              <a:rPr lang="en-US" sz="1400" dirty="0"/>
              <a:t>A type of AI that can create new, original content like text, images, music, and code, based on the patterns it learns from existing data.</a:t>
            </a:r>
          </a:p>
          <a:p>
            <a:pPr marL="0" indent="0">
              <a:spcBef>
                <a:spcPts val="2500"/>
              </a:spcBef>
              <a:buNone/>
            </a:pPr>
            <a:r>
              <a:rPr lang="en-US" sz="1400" b="1" dirty="0"/>
              <a:t>Why do You Care?</a:t>
            </a:r>
          </a:p>
          <a:p>
            <a:pPr marL="0" lvl="1" indent="0">
              <a:buNone/>
            </a:pPr>
            <a:r>
              <a:rPr lang="en-US" sz="1400" dirty="0"/>
              <a:t>Generative AI can and will be trained using company data.  Start thinking about it now.</a:t>
            </a:r>
          </a:p>
        </p:txBody>
      </p:sp>
    </p:spTree>
    <p:extLst>
      <p:ext uri="{BB962C8B-B14F-4D97-AF65-F5344CB8AC3E}">
        <p14:creationId xmlns:p14="http://schemas.microsoft.com/office/powerpoint/2010/main" val="1515755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9EF22-E552-75D1-2A52-CCCC182EBB33}"/>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Using AI Responsibly</a:t>
            </a:r>
          </a:p>
        </p:txBody>
      </p:sp>
      <p:pic>
        <p:nvPicPr>
          <p:cNvPr id="5" name="Content Placeholder 4" descr="Man wearing a VR goggles viewing the night cityscape of Tokyo with long exposure.">
            <a:extLst>
              <a:ext uri="{FF2B5EF4-FFF2-40B4-BE49-F238E27FC236}">
                <a16:creationId xmlns:a16="http://schemas.microsoft.com/office/drawing/2014/main" id="{84EA708F-5C7A-4249-A9D7-CB2E0421321C}"/>
              </a:ext>
            </a:extLst>
          </p:cNvPr>
          <p:cNvPicPr>
            <a:picLocks noGrp="1" noChangeAspect="1"/>
          </p:cNvPicPr>
          <p:nvPr>
            <p:ph sz="half" idx="1"/>
          </p:nvPr>
        </p:nvPicPr>
        <p:blipFill>
          <a:blip r:embed="rId3"/>
          <a:srcRect l="30316" r="21890"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56933CBB-4C90-55FE-9B75-3018288FC4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2000" b="1" dirty="0"/>
              <a:t>Being Transparent</a:t>
            </a:r>
          </a:p>
          <a:p>
            <a:pPr marL="0" lvl="1" indent="0">
              <a:buNone/>
            </a:pPr>
            <a:r>
              <a:rPr lang="en-US" sz="2000" dirty="0"/>
              <a:t>Disclose AI use to others when affected.</a:t>
            </a:r>
          </a:p>
          <a:p>
            <a:pPr marL="0" indent="0">
              <a:spcBef>
                <a:spcPts val="2500"/>
              </a:spcBef>
              <a:buNone/>
            </a:pPr>
            <a:r>
              <a:rPr lang="en-US" sz="2000" b="1" dirty="0"/>
              <a:t>Configuring AI Agents</a:t>
            </a:r>
          </a:p>
          <a:p>
            <a:pPr marL="0" lvl="1" indent="0">
              <a:buNone/>
            </a:pPr>
            <a:r>
              <a:rPr lang="en-US" sz="2000" dirty="0"/>
              <a:t>Bake some common verbiage into your prompts!</a:t>
            </a:r>
          </a:p>
        </p:txBody>
      </p:sp>
    </p:spTree>
    <p:extLst>
      <p:ext uri="{BB962C8B-B14F-4D97-AF65-F5344CB8AC3E}">
        <p14:creationId xmlns:p14="http://schemas.microsoft.com/office/powerpoint/2010/main" val="2843310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E0E215-B433-8FCD-37CA-E31B67C09B0E}"/>
              </a:ext>
            </a:extLst>
          </p:cNvPr>
          <p:cNvSpPr>
            <a:spLocks noGrp="1"/>
          </p:cNvSpPr>
          <p:nvPr>
            <p:ph type="title"/>
          </p:nvPr>
        </p:nvSpPr>
        <p:spPr/>
        <p:txBody>
          <a:bodyPr/>
          <a:lstStyle/>
          <a:p>
            <a:r>
              <a:rPr lang="en-US" dirty="0"/>
              <a:t>Prompt Engineering</a:t>
            </a:r>
          </a:p>
        </p:txBody>
      </p:sp>
      <p:sp>
        <p:nvSpPr>
          <p:cNvPr id="6" name="Text Placeholder 5">
            <a:extLst>
              <a:ext uri="{FF2B5EF4-FFF2-40B4-BE49-F238E27FC236}">
                <a16:creationId xmlns:a16="http://schemas.microsoft.com/office/drawing/2014/main" id="{477B167A-8EFB-CDA5-90F5-12B4B2B533B7}"/>
              </a:ext>
            </a:extLst>
          </p:cNvPr>
          <p:cNvSpPr>
            <a:spLocks noGrp="1"/>
          </p:cNvSpPr>
          <p:nvPr>
            <p:ph type="body" idx="1"/>
          </p:nvPr>
        </p:nvSpPr>
        <p:spPr/>
        <p:txBody>
          <a:bodyPr/>
          <a:lstStyle/>
          <a:p>
            <a:r>
              <a:rPr lang="en-US" dirty="0"/>
              <a:t>Wherein I get to the point…</a:t>
            </a:r>
          </a:p>
        </p:txBody>
      </p:sp>
    </p:spTree>
    <p:extLst>
      <p:ext uri="{BB962C8B-B14F-4D97-AF65-F5344CB8AC3E}">
        <p14:creationId xmlns:p14="http://schemas.microsoft.com/office/powerpoint/2010/main" val="1381277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FAB3-B451-3089-A575-08C64A9A10B1}"/>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sz="3600" b="1" kern="1200" dirty="0">
                <a:solidFill>
                  <a:schemeClr val="tx1"/>
                </a:solidFill>
                <a:latin typeface="+mj-lt"/>
                <a:ea typeface="+mj-ea"/>
                <a:cs typeface="+mj-cs"/>
              </a:rPr>
              <a:t>Confusion Around LLMs</a:t>
            </a:r>
          </a:p>
        </p:txBody>
      </p:sp>
      <p:pic>
        <p:nvPicPr>
          <p:cNvPr id="5" name="Content Placeholder 4" descr="Flag of the Federated States of Micronesia on a computer binary codes falling from the top and fading away.">
            <a:extLst>
              <a:ext uri="{FF2B5EF4-FFF2-40B4-BE49-F238E27FC236}">
                <a16:creationId xmlns:a16="http://schemas.microsoft.com/office/drawing/2014/main" id="{009AA233-E858-4F6E-9E11-B3FF88CD9BF1}"/>
              </a:ext>
            </a:extLst>
          </p:cNvPr>
          <p:cNvPicPr>
            <a:picLocks noGrp="1" noChangeAspect="1"/>
          </p:cNvPicPr>
          <p:nvPr>
            <p:ph sz="half" idx="1"/>
          </p:nvPr>
        </p:nvPicPr>
        <p:blipFill>
          <a:blip r:embed="rId3"/>
          <a:srcRect l="6354" r="13206" b="3"/>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A91D1343-D8B2-2191-F747-49AAD028AE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None/>
            </a:pPr>
            <a:r>
              <a:rPr lang="en-US" sz="1300" b="1"/>
              <a:t>Illusion of Reasoning</a:t>
            </a:r>
          </a:p>
          <a:p>
            <a:pPr marL="0" lvl="1" indent="0">
              <a:buNone/>
            </a:pPr>
            <a:r>
              <a:rPr lang="en-US" sz="1300"/>
              <a:t>LLMs generate responses that seem intelligent but do not reflect true understanding.</a:t>
            </a:r>
          </a:p>
          <a:p>
            <a:pPr marL="0" indent="0">
              <a:spcBef>
                <a:spcPts val="2500"/>
              </a:spcBef>
              <a:buNone/>
            </a:pPr>
            <a:r>
              <a:rPr lang="en-US" sz="1300" b="1"/>
              <a:t>Hallucination with Authority</a:t>
            </a:r>
          </a:p>
          <a:p>
            <a:pPr marL="0" lvl="1" indent="0">
              <a:buNone/>
            </a:pPr>
            <a:r>
              <a:rPr lang="en-US" sz="1300"/>
              <a:t>LLMs can and do present invented facts, citations, and data with confidence.  They do not internally distinguish between accurate and fabricated information.</a:t>
            </a:r>
          </a:p>
          <a:p>
            <a:pPr marL="0" indent="0">
              <a:spcBef>
                <a:spcPts val="2500"/>
              </a:spcBef>
              <a:buNone/>
            </a:pPr>
            <a:r>
              <a:rPr lang="en-US" sz="1300" b="1"/>
              <a:t>Contextual Amnesia</a:t>
            </a:r>
          </a:p>
          <a:p>
            <a:pPr marL="0" lvl="1" indent="0">
              <a:buNone/>
            </a:pPr>
            <a:r>
              <a:rPr lang="en-US" sz="1300"/>
              <a:t>LLMs, with some exceptions, cannot learn from previous conversations.  Limited context windows create “forgetting” mid-conversation.</a:t>
            </a:r>
          </a:p>
          <a:p>
            <a:pPr marL="0" indent="0">
              <a:spcBef>
                <a:spcPts val="2500"/>
              </a:spcBef>
              <a:buNone/>
            </a:pPr>
            <a:r>
              <a:rPr lang="en-US" sz="1300" b="1"/>
              <a:t>Inconsistent Expertise</a:t>
            </a:r>
          </a:p>
          <a:p>
            <a:pPr marL="0" lvl="1" indent="0">
              <a:buNone/>
            </a:pPr>
            <a:r>
              <a:rPr lang="en-US" sz="1300"/>
              <a:t>LLMs sometimes excel at complex tasks while failing hilariously at simple ones.  They also provide different responses to identical questions asked differently.</a:t>
            </a:r>
          </a:p>
          <a:p>
            <a:pPr marL="0" indent="0">
              <a:spcBef>
                <a:spcPts val="2500"/>
              </a:spcBef>
              <a:buNone/>
            </a:pPr>
            <a:r>
              <a:rPr lang="en-US" sz="1300" b="1"/>
              <a:t>The Anthropomorphism Trap</a:t>
            </a:r>
          </a:p>
          <a:p>
            <a:pPr marL="0" lvl="1" indent="0">
              <a:buNone/>
            </a:pPr>
            <a:r>
              <a:rPr lang="en-US" sz="1300"/>
              <a:t>Human-like conversations can trigger emotional attribution.  Users assume intent, feelings, or preferences that don’t exist.</a:t>
            </a:r>
          </a:p>
          <a:p>
            <a:pPr marL="0" indent="0">
              <a:spcBef>
                <a:spcPts val="2500"/>
              </a:spcBef>
              <a:buNone/>
            </a:pPr>
            <a:r>
              <a:rPr lang="en-US" sz="1300" b="1"/>
              <a:t>Probabilistic vs. Deterministic Thinking</a:t>
            </a:r>
          </a:p>
          <a:p>
            <a:pPr marL="0" lvl="1" indent="0">
              <a:buNone/>
            </a:pPr>
            <a:r>
              <a:rPr lang="en-US" sz="1300"/>
              <a:t>Models generate “likely” responses, not calculated answers.  Each response is a statistical prediction, not a logical deduction.</a:t>
            </a:r>
          </a:p>
        </p:txBody>
      </p:sp>
    </p:spTree>
    <p:extLst>
      <p:ext uri="{BB962C8B-B14F-4D97-AF65-F5344CB8AC3E}">
        <p14:creationId xmlns:p14="http://schemas.microsoft.com/office/powerpoint/2010/main" val="425475658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F9C45C-A613-C0FA-F5D6-95A96600D017}"/>
              </a:ext>
            </a:extLst>
          </p:cNvPr>
          <p:cNvSpPr>
            <a:spLocks noGrp="1"/>
          </p:cNvSpPr>
          <p:nvPr>
            <p:ph type="title"/>
          </p:nvPr>
        </p:nvSpPr>
        <p:spPr>
          <a:xfrm>
            <a:off x="838200" y="140399"/>
            <a:ext cx="10515600" cy="1325563"/>
          </a:xfrm>
        </p:spPr>
        <p:txBody>
          <a:bodyPr/>
          <a:lstStyle/>
          <a:p>
            <a:r>
              <a:rPr lang="en-US" dirty="0"/>
              <a:t>Copilot Interface Tour</a:t>
            </a:r>
          </a:p>
        </p:txBody>
      </p:sp>
      <p:pic>
        <p:nvPicPr>
          <p:cNvPr id="7" name="Content Placeholder 6">
            <a:extLst>
              <a:ext uri="{FF2B5EF4-FFF2-40B4-BE49-F238E27FC236}">
                <a16:creationId xmlns:a16="http://schemas.microsoft.com/office/drawing/2014/main" id="{6051C00A-DC48-397C-547C-F82E9C14E072}"/>
              </a:ext>
            </a:extLst>
          </p:cNvPr>
          <p:cNvPicPr>
            <a:picLocks noGrp="1" noChangeAspect="1"/>
          </p:cNvPicPr>
          <p:nvPr>
            <p:ph idx="1"/>
          </p:nvPr>
        </p:nvPicPr>
        <p:blipFill>
          <a:blip r:embed="rId2"/>
          <a:srcRect b="10188"/>
          <a:stretch/>
        </p:blipFill>
        <p:spPr>
          <a:xfrm>
            <a:off x="-54518" y="1542081"/>
            <a:ext cx="12246518" cy="5315919"/>
          </a:xfrm>
        </p:spPr>
      </p:pic>
    </p:spTree>
    <p:extLst>
      <p:ext uri="{BB962C8B-B14F-4D97-AF65-F5344CB8AC3E}">
        <p14:creationId xmlns:p14="http://schemas.microsoft.com/office/powerpoint/2010/main" val="58667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descr="Pipes over the sea">
            <a:extLst>
              <a:ext uri="{FF2B5EF4-FFF2-40B4-BE49-F238E27FC236}">
                <a16:creationId xmlns:a16="http://schemas.microsoft.com/office/drawing/2014/main" id="{D0109197-A1FF-E4A2-1B42-3EB838B4CD63}"/>
              </a:ext>
            </a:extLst>
          </p:cNvPr>
          <p:cNvPicPr>
            <a:picLocks noChangeAspect="1"/>
          </p:cNvPicPr>
          <p:nvPr/>
        </p:nvPicPr>
        <p:blipFill>
          <a:blip r:embed="rId3"/>
          <a:srcRect t="20192" b="4808"/>
          <a:stretch>
            <a:fillRect/>
          </a:stretch>
        </p:blipFill>
        <p:spPr>
          <a:xfrm>
            <a:off x="20" y="10"/>
            <a:ext cx="12191980" cy="6857990"/>
          </a:xfrm>
          <a:prstGeom prst="rect">
            <a:avLst/>
          </a:prstGeom>
        </p:spPr>
      </p:pic>
      <p:sp>
        <p:nvSpPr>
          <p:cNvPr id="4" name="Title 3">
            <a:extLst>
              <a:ext uri="{FF2B5EF4-FFF2-40B4-BE49-F238E27FC236}">
                <a16:creationId xmlns:a16="http://schemas.microsoft.com/office/drawing/2014/main" id="{2F38BBA3-5239-73BB-8103-8D2D5E362D84}"/>
              </a:ext>
            </a:extLst>
          </p:cNvPr>
          <p:cNvSpPr>
            <a:spLocks noGrp="1"/>
          </p:cNvSpPr>
          <p:nvPr>
            <p:ph type="title"/>
          </p:nvPr>
        </p:nvSpPr>
        <p:spPr>
          <a:xfrm>
            <a:off x="286506" y="603315"/>
            <a:ext cx="5649211" cy="3685731"/>
          </a:xfrm>
        </p:spPr>
        <p:txBody>
          <a:bodyPr vert="horz" lIns="91440" tIns="45720" rIns="91440" bIns="45720" rtlCol="0" anchor="t">
            <a:normAutofit/>
          </a:bodyPr>
          <a:lstStyle/>
          <a:p>
            <a:r>
              <a:rPr lang="en-US" sz="6600" b="1" dirty="0"/>
              <a:t>A Prompt to Work With</a:t>
            </a:r>
          </a:p>
        </p:txBody>
      </p:sp>
      <p:sp>
        <p:nvSpPr>
          <p:cNvPr id="5" name="Content Placeholder 4">
            <a:extLst>
              <a:ext uri="{FF2B5EF4-FFF2-40B4-BE49-F238E27FC236}">
                <a16:creationId xmlns:a16="http://schemas.microsoft.com/office/drawing/2014/main" id="{B8C4B523-8C22-7860-6CBE-34D2433C5686}"/>
              </a:ext>
            </a:extLst>
          </p:cNvPr>
          <p:cNvSpPr>
            <a:spLocks noGrp="1"/>
          </p:cNvSpPr>
          <p:nvPr>
            <p:ph idx="1"/>
          </p:nvPr>
        </p:nvSpPr>
        <p:spPr>
          <a:xfrm>
            <a:off x="286507" y="4437176"/>
            <a:ext cx="4007587" cy="1290807"/>
          </a:xfrm>
        </p:spPr>
        <p:txBody>
          <a:bodyPr vert="horz" lIns="91440" tIns="45720" rIns="91440" bIns="45720" rtlCol="0" anchor="ctr">
            <a:normAutofit/>
          </a:bodyPr>
          <a:lstStyle/>
          <a:p>
            <a:pPr marL="0" indent="0">
              <a:lnSpc>
                <a:spcPct val="120000"/>
              </a:lnSpc>
              <a:buNone/>
            </a:pPr>
            <a:r>
              <a:rPr lang="en-US" sz="2200" b="1" dirty="0">
                <a:solidFill>
                  <a:schemeClr val="bg1"/>
                </a:solidFill>
              </a:rPr>
              <a:t>Teach me about the oil and gas business.</a:t>
            </a:r>
          </a:p>
        </p:txBody>
      </p:sp>
    </p:spTree>
    <p:extLst>
      <p:ext uri="{BB962C8B-B14F-4D97-AF65-F5344CB8AC3E}">
        <p14:creationId xmlns:p14="http://schemas.microsoft.com/office/powerpoint/2010/main" val="106881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50F7E-3BDD-7143-7293-EB4D1F37D68B}"/>
              </a:ext>
            </a:extLst>
          </p:cNvPr>
          <p:cNvSpPr>
            <a:spLocks noGrp="1"/>
          </p:cNvSpPr>
          <p:nvPr>
            <p:ph type="title"/>
          </p:nvPr>
        </p:nvSpPr>
        <p:spPr>
          <a:xfrm>
            <a:off x="5568532" y="270290"/>
            <a:ext cx="5916169" cy="729351"/>
          </a:xfrm>
        </p:spPr>
        <p:txBody>
          <a:bodyPr vert="horz" lIns="91440" tIns="45720" rIns="91440" bIns="45720" rtlCol="0" anchor="b">
            <a:normAutofit/>
          </a:bodyPr>
          <a:lstStyle/>
          <a:p>
            <a:r>
              <a:rPr lang="en-US" sz="3600" b="1" kern="1200" dirty="0">
                <a:solidFill>
                  <a:schemeClr val="tx1"/>
                </a:solidFill>
                <a:latin typeface="+mj-lt"/>
                <a:ea typeface="+mj-ea"/>
                <a:cs typeface="+mj-cs"/>
              </a:rPr>
              <a:t>Prompt Engineering Basics</a:t>
            </a:r>
          </a:p>
        </p:txBody>
      </p:sp>
      <p:pic>
        <p:nvPicPr>
          <p:cNvPr id="5" name="Content Placeholder 4" descr="Gear concept">
            <a:extLst>
              <a:ext uri="{FF2B5EF4-FFF2-40B4-BE49-F238E27FC236}">
                <a16:creationId xmlns:a16="http://schemas.microsoft.com/office/drawing/2014/main" id="{A83CBC7A-C96B-4D1C-9848-369BFB5D098A}"/>
              </a:ext>
            </a:extLst>
          </p:cNvPr>
          <p:cNvPicPr>
            <a:picLocks noGrp="1" noChangeAspect="1"/>
          </p:cNvPicPr>
          <p:nvPr>
            <p:ph sz="half" idx="1"/>
          </p:nvPr>
        </p:nvPicPr>
        <p:blipFill>
          <a:blip r:embed="rId3"/>
          <a:srcRect l="13045" r="15355"/>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BBD79E02-8FFE-06FB-A4F6-67BCF5D6784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1269931"/>
            <a:ext cx="5916169" cy="5039429"/>
          </a:xfrm>
        </p:spPr>
        <p:txBody>
          <a:bodyPr>
            <a:normAutofit/>
          </a:bodyPr>
          <a:lstStyle/>
          <a:p>
            <a:pPr marL="0" indent="0">
              <a:spcBef>
                <a:spcPts val="2500"/>
              </a:spcBef>
              <a:buNone/>
            </a:pPr>
            <a:r>
              <a:rPr lang="en-US" sz="1600" b="1" dirty="0"/>
              <a:t>Task</a:t>
            </a:r>
          </a:p>
          <a:p>
            <a:pPr marL="0" lvl="1" indent="0">
              <a:buNone/>
            </a:pPr>
            <a:r>
              <a:rPr lang="en-US" sz="1600" dirty="0"/>
              <a:t>What you want the AI to do.</a:t>
            </a:r>
          </a:p>
          <a:p>
            <a:pPr marL="0" indent="0">
              <a:spcBef>
                <a:spcPts val="2500"/>
              </a:spcBef>
              <a:buNone/>
            </a:pPr>
            <a:r>
              <a:rPr lang="en-US" sz="1600" b="1" dirty="0"/>
              <a:t>Context</a:t>
            </a:r>
          </a:p>
          <a:p>
            <a:pPr marL="0" lvl="1" indent="0">
              <a:buNone/>
            </a:pPr>
            <a:r>
              <a:rPr lang="en-US" sz="1600" dirty="0"/>
              <a:t>The more context you can provide, the better your output will be.</a:t>
            </a:r>
          </a:p>
          <a:p>
            <a:pPr marL="0" indent="0">
              <a:spcBef>
                <a:spcPts val="2500"/>
              </a:spcBef>
              <a:buNone/>
            </a:pPr>
            <a:r>
              <a:rPr lang="en-US" sz="1600" b="1" dirty="0"/>
              <a:t>References</a:t>
            </a:r>
          </a:p>
          <a:p>
            <a:pPr marL="0" lvl="1" indent="0">
              <a:buNone/>
            </a:pPr>
            <a:r>
              <a:rPr lang="en-US" sz="1600" dirty="0"/>
              <a:t>Provide examples or additional input to the AI.</a:t>
            </a:r>
          </a:p>
          <a:p>
            <a:pPr marL="0" indent="0">
              <a:spcBef>
                <a:spcPts val="2500"/>
              </a:spcBef>
              <a:buNone/>
            </a:pPr>
            <a:r>
              <a:rPr lang="en-US" sz="1600" b="1" dirty="0"/>
              <a:t>Evaluate</a:t>
            </a:r>
          </a:p>
          <a:p>
            <a:pPr marL="0" lvl="1" indent="0">
              <a:buNone/>
            </a:pPr>
            <a:r>
              <a:rPr lang="en-US" sz="1600" dirty="0"/>
              <a:t>Ask yourself if the output is what you need it to be.</a:t>
            </a:r>
          </a:p>
          <a:p>
            <a:pPr marL="0" indent="0">
              <a:spcBef>
                <a:spcPts val="2500"/>
              </a:spcBef>
              <a:buNone/>
            </a:pPr>
            <a:r>
              <a:rPr lang="en-US" sz="1600" b="1" dirty="0"/>
              <a:t>Iterate</a:t>
            </a:r>
          </a:p>
          <a:p>
            <a:pPr marL="0" lvl="1" indent="0">
              <a:buNone/>
            </a:pPr>
            <a:r>
              <a:rPr lang="en-US" sz="1600" dirty="0"/>
              <a:t>The circular process of refining the prompt to get the results you really want.</a:t>
            </a:r>
          </a:p>
          <a:p>
            <a:pPr marL="0" indent="0">
              <a:spcBef>
                <a:spcPts val="2500"/>
              </a:spcBef>
              <a:buNone/>
            </a:pPr>
            <a:r>
              <a:rPr lang="en-US" sz="1600" b="1" dirty="0"/>
              <a:t>Mnemonic</a:t>
            </a:r>
          </a:p>
          <a:p>
            <a:pPr marL="0" lvl="1" indent="0">
              <a:buNone/>
            </a:pPr>
            <a:r>
              <a:rPr lang="en-US" sz="1600" b="1" i="1" dirty="0">
                <a:solidFill>
                  <a:srgbClr val="FF0000"/>
                </a:solidFill>
              </a:rPr>
              <a:t>T</a:t>
            </a:r>
            <a:r>
              <a:rPr lang="en-US" sz="1600" dirty="0"/>
              <a:t>hinking </a:t>
            </a:r>
            <a:r>
              <a:rPr lang="en-US" sz="1600" b="1" i="1" dirty="0">
                <a:solidFill>
                  <a:srgbClr val="FF0000"/>
                </a:solidFill>
              </a:rPr>
              <a:t>C</a:t>
            </a:r>
            <a:r>
              <a:rPr lang="en-US" sz="1600" dirty="0"/>
              <a:t>learly </a:t>
            </a:r>
            <a:r>
              <a:rPr lang="en-US" sz="1600" b="1" i="1" dirty="0">
                <a:solidFill>
                  <a:srgbClr val="FF0000"/>
                </a:solidFill>
              </a:rPr>
              <a:t>R</a:t>
            </a:r>
            <a:r>
              <a:rPr lang="en-US" sz="1600" dirty="0"/>
              <a:t>educes </a:t>
            </a:r>
            <a:r>
              <a:rPr lang="en-US" sz="1600" b="1" i="1" dirty="0">
                <a:solidFill>
                  <a:srgbClr val="FF0000"/>
                </a:solidFill>
              </a:rPr>
              <a:t>E</a:t>
            </a:r>
            <a:r>
              <a:rPr lang="en-US" sz="1600" dirty="0"/>
              <a:t>rrors </a:t>
            </a:r>
            <a:r>
              <a:rPr lang="en-US" sz="1600" b="1" i="1" dirty="0">
                <a:solidFill>
                  <a:srgbClr val="FF0000"/>
                </a:solidFill>
              </a:rPr>
              <a:t>I</a:t>
            </a:r>
            <a:r>
              <a:rPr lang="en-US" sz="1600" dirty="0"/>
              <a:t>mmediately</a:t>
            </a:r>
          </a:p>
        </p:txBody>
      </p:sp>
    </p:spTree>
    <p:extLst>
      <p:ext uri="{BB962C8B-B14F-4D97-AF65-F5344CB8AC3E}">
        <p14:creationId xmlns:p14="http://schemas.microsoft.com/office/powerpoint/2010/main" val="423327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500"/>
                                        <p:tgtEl>
                                          <p:spTgt spid="4">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xEl>
                                              <p:pRg st="11" end="11"/>
                                            </p:txEl>
                                          </p:spTgt>
                                        </p:tgtEl>
                                        <p:attrNameLst>
                                          <p:attrName>style.visibility</p:attrName>
                                        </p:attrNameLst>
                                      </p:cBhvr>
                                      <p:to>
                                        <p:strVal val="visible"/>
                                      </p:to>
                                    </p:set>
                                    <p:animEffect transition="in" filter="fade">
                                      <p:cBhvr>
                                        <p:cTn id="5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56A25-4BB0-9ADA-25DF-06C9822E8A0A}"/>
              </a:ext>
            </a:extLst>
          </p:cNvPr>
          <p:cNvSpPr>
            <a:spLocks noGrp="1"/>
          </p:cNvSpPr>
          <p:nvPr>
            <p:ph type="title"/>
          </p:nvPr>
        </p:nvSpPr>
        <p:spPr>
          <a:xfrm>
            <a:off x="612648" y="548640"/>
            <a:ext cx="10945037" cy="1133856"/>
          </a:xfrm>
        </p:spPr>
        <p:txBody>
          <a:bodyPr anchor="t">
            <a:normAutofit/>
          </a:bodyPr>
          <a:lstStyle/>
          <a:p>
            <a:r>
              <a:rPr lang="en-US" dirty="0"/>
              <a:t>Evaluate and Iterate</a:t>
            </a:r>
          </a:p>
        </p:txBody>
      </p:sp>
      <p:graphicFrame>
        <p:nvGraphicFramePr>
          <p:cNvPr id="12" name="Content Placeholder 2">
            <a:extLst>
              <a:ext uri="{FF2B5EF4-FFF2-40B4-BE49-F238E27FC236}">
                <a16:creationId xmlns:a16="http://schemas.microsoft.com/office/drawing/2014/main" id="{2739F363-6A4D-3425-9D55-7E4881C92860}"/>
              </a:ext>
            </a:extLst>
          </p:cNvPr>
          <p:cNvGraphicFramePr>
            <a:graphicFrameLocks noGrp="1"/>
          </p:cNvGraphicFramePr>
          <p:nvPr>
            <p:ph idx="1"/>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60831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9F6EE-D5C6-0C1A-B14E-4B9B4ED95074}"/>
              </a:ext>
            </a:extLst>
          </p:cNvPr>
          <p:cNvSpPr>
            <a:spLocks noGrp="1"/>
          </p:cNvSpPr>
          <p:nvPr>
            <p:ph type="title"/>
          </p:nvPr>
        </p:nvSpPr>
        <p:spPr/>
        <p:txBody>
          <a:bodyPr/>
          <a:lstStyle/>
          <a:p>
            <a:r>
              <a:rPr lang="en-US" dirty="0"/>
              <a:t>Introducing Enterprise Products Partners!</a:t>
            </a:r>
          </a:p>
        </p:txBody>
      </p:sp>
      <p:sp>
        <p:nvSpPr>
          <p:cNvPr id="3" name="Content Placeholder 2">
            <a:extLst>
              <a:ext uri="{FF2B5EF4-FFF2-40B4-BE49-F238E27FC236}">
                <a16:creationId xmlns:a16="http://schemas.microsoft.com/office/drawing/2014/main" id="{4793145B-80B8-E6AA-C0F9-14F164502CB1}"/>
              </a:ext>
            </a:extLst>
          </p:cNvPr>
          <p:cNvSpPr>
            <a:spLocks noGrp="1"/>
          </p:cNvSpPr>
          <p:nvPr>
            <p:ph idx="1"/>
          </p:nvPr>
        </p:nvSpPr>
        <p:spPr/>
        <p:txBody>
          <a:bodyPr/>
          <a:lstStyle/>
          <a:p>
            <a:r>
              <a:rPr lang="en-US" b="1" dirty="0"/>
              <a:t>Task</a:t>
            </a:r>
            <a:r>
              <a:rPr lang="en-US" dirty="0"/>
              <a:t>: Summarize information about Enterprise Products</a:t>
            </a:r>
            <a:endParaRPr lang="en-US" b="1" dirty="0"/>
          </a:p>
          <a:p>
            <a:r>
              <a:rPr lang="en-US" b="1" dirty="0"/>
              <a:t>Context</a:t>
            </a:r>
            <a:r>
              <a:rPr lang="en-US" dirty="0"/>
              <a:t>: New job in liquids risk – your first out of college</a:t>
            </a:r>
            <a:endParaRPr lang="en-US" b="1" dirty="0"/>
          </a:p>
          <a:p>
            <a:r>
              <a:rPr lang="en-US" b="1" dirty="0"/>
              <a:t>References</a:t>
            </a:r>
            <a:r>
              <a:rPr lang="en-US" dirty="0"/>
              <a:t>: The 10-K, all press releases you have, and the internet</a:t>
            </a:r>
          </a:p>
          <a:p>
            <a:r>
              <a:rPr lang="en-US" b="1" dirty="0"/>
              <a:t>Expectations</a:t>
            </a:r>
            <a:r>
              <a:rPr lang="en-US" dirty="0"/>
              <a:t>: Summaries, tables, analysis, and recent news</a:t>
            </a:r>
            <a:endParaRPr lang="en-US" b="1" dirty="0"/>
          </a:p>
        </p:txBody>
      </p:sp>
    </p:spTree>
    <p:extLst>
      <p:ext uri="{BB962C8B-B14F-4D97-AF65-F5344CB8AC3E}">
        <p14:creationId xmlns:p14="http://schemas.microsoft.com/office/powerpoint/2010/main" val="40831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ADEC-7151-3366-4B75-D2ED505FCF17}"/>
              </a:ext>
            </a:extLst>
          </p:cNvPr>
          <p:cNvSpPr>
            <a:spLocks noGrp="1"/>
          </p:cNvSpPr>
          <p:nvPr>
            <p:ph type="title"/>
          </p:nvPr>
        </p:nvSpPr>
        <p:spPr/>
        <p:txBody>
          <a:bodyPr/>
          <a:lstStyle/>
          <a:p>
            <a:r>
              <a:rPr lang="en-US" dirty="0"/>
              <a:t>Prompts for Common Work Tasks</a:t>
            </a:r>
          </a:p>
        </p:txBody>
      </p:sp>
      <p:sp>
        <p:nvSpPr>
          <p:cNvPr id="3" name="Content Placeholder 2">
            <a:extLst>
              <a:ext uri="{FF2B5EF4-FFF2-40B4-BE49-F238E27FC236}">
                <a16:creationId xmlns:a16="http://schemas.microsoft.com/office/drawing/2014/main" id="{30269B08-8535-78A7-9EE6-24A5769880F1}"/>
              </a:ext>
            </a:extLst>
          </p:cNvPr>
          <p:cNvSpPr>
            <a:spLocks noGrp="1"/>
          </p:cNvSpPr>
          <p:nvPr>
            <p:ph idx="1"/>
          </p:nvPr>
        </p:nvSpPr>
        <p:spPr/>
        <p:txBody>
          <a:bodyPr/>
          <a:lstStyle/>
          <a:p>
            <a:r>
              <a:rPr lang="en-US" dirty="0"/>
              <a:t>Doing research</a:t>
            </a:r>
          </a:p>
          <a:p>
            <a:r>
              <a:rPr lang="en-US" dirty="0"/>
              <a:t>Drafting emails</a:t>
            </a:r>
          </a:p>
          <a:p>
            <a:r>
              <a:rPr lang="en-US" dirty="0"/>
              <a:t>Outlining proposals</a:t>
            </a:r>
          </a:p>
          <a:p>
            <a:r>
              <a:rPr lang="en-US" dirty="0"/>
              <a:t>Checking your thinking</a:t>
            </a:r>
          </a:p>
          <a:p>
            <a:r>
              <a:rPr lang="en-US" dirty="0"/>
              <a:t>Data analysis</a:t>
            </a:r>
          </a:p>
          <a:p>
            <a:r>
              <a:rPr lang="en-US" dirty="0"/>
              <a:t>Building presentations</a:t>
            </a:r>
          </a:p>
          <a:p>
            <a:endParaRPr lang="en-US" dirty="0"/>
          </a:p>
          <a:p>
            <a:endParaRPr lang="en-US" dirty="0"/>
          </a:p>
        </p:txBody>
      </p:sp>
    </p:spTree>
    <p:extLst>
      <p:ext uri="{BB962C8B-B14F-4D97-AF65-F5344CB8AC3E}">
        <p14:creationId xmlns:p14="http://schemas.microsoft.com/office/powerpoint/2010/main" val="871961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C1BD-40A2-6835-9984-6B7AECA40A3B}"/>
              </a:ext>
            </a:extLst>
          </p:cNvPr>
          <p:cNvSpPr>
            <a:spLocks noGrp="1"/>
          </p:cNvSpPr>
          <p:nvPr>
            <p:ph type="title"/>
          </p:nvPr>
        </p:nvSpPr>
        <p:spPr/>
        <p:txBody>
          <a:bodyPr/>
          <a:lstStyle/>
          <a:p>
            <a:r>
              <a:rPr lang="en-US" dirty="0"/>
              <a:t>Advanced Gen AI Prompting Techniques</a:t>
            </a:r>
          </a:p>
        </p:txBody>
      </p:sp>
      <p:sp>
        <p:nvSpPr>
          <p:cNvPr id="3" name="Content Placeholder 2">
            <a:extLst>
              <a:ext uri="{FF2B5EF4-FFF2-40B4-BE49-F238E27FC236}">
                <a16:creationId xmlns:a16="http://schemas.microsoft.com/office/drawing/2014/main" id="{A978E300-B0C7-C22E-164D-80D4FA52A3FF}"/>
              </a:ext>
            </a:extLst>
          </p:cNvPr>
          <p:cNvSpPr>
            <a:spLocks noGrp="1"/>
          </p:cNvSpPr>
          <p:nvPr>
            <p:ph idx="1"/>
          </p:nvPr>
        </p:nvSpPr>
        <p:spPr/>
        <p:txBody>
          <a:bodyPr/>
          <a:lstStyle/>
          <a:p>
            <a:r>
              <a:rPr lang="en-US" dirty="0"/>
              <a:t>Presentations and Visualizations</a:t>
            </a:r>
          </a:p>
          <a:p>
            <a:r>
              <a:rPr lang="en-US" dirty="0"/>
              <a:t>Prompt Chaining</a:t>
            </a:r>
          </a:p>
          <a:p>
            <a:r>
              <a:rPr lang="en-US" dirty="0"/>
              <a:t>Chain of Thought Prompting</a:t>
            </a:r>
          </a:p>
          <a:p>
            <a:r>
              <a:rPr lang="en-US" dirty="0"/>
              <a:t>Tree of Thought Prompting</a:t>
            </a:r>
          </a:p>
          <a:p>
            <a:r>
              <a:rPr lang="en-US" dirty="0"/>
              <a:t>Combined Chain of Thought and Tree of Thought Prompting</a:t>
            </a:r>
          </a:p>
          <a:p>
            <a:r>
              <a:rPr lang="en-US" dirty="0"/>
              <a:t>One-Shot Prompting</a:t>
            </a:r>
          </a:p>
          <a:p>
            <a:r>
              <a:rPr lang="en-US" dirty="0"/>
              <a:t>Multi-Shot Prompting</a:t>
            </a:r>
          </a:p>
          <a:p>
            <a:r>
              <a:rPr lang="en-US" dirty="0"/>
              <a:t>Meta-Prompting</a:t>
            </a:r>
          </a:p>
        </p:txBody>
      </p:sp>
    </p:spTree>
    <p:extLst>
      <p:ext uri="{BB962C8B-B14F-4D97-AF65-F5344CB8AC3E}">
        <p14:creationId xmlns:p14="http://schemas.microsoft.com/office/powerpoint/2010/main" val="3201887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ACEDE-4AD9-EB57-0D4D-2759DCF4F0D4}"/>
              </a:ext>
            </a:extLst>
          </p:cNvPr>
          <p:cNvSpPr>
            <a:spLocks noGrp="1"/>
          </p:cNvSpPr>
          <p:nvPr>
            <p:ph type="title"/>
          </p:nvPr>
        </p:nvSpPr>
        <p:spPr>
          <a:xfrm>
            <a:off x="612648" y="1114923"/>
            <a:ext cx="4621553" cy="1360728"/>
          </a:xfrm>
        </p:spPr>
        <p:txBody>
          <a:bodyPr anchor="b">
            <a:normAutofit/>
          </a:bodyPr>
          <a:lstStyle/>
          <a:p>
            <a:r>
              <a:rPr lang="en-US" dirty="0"/>
              <a:t>Creating Copilot Agents</a:t>
            </a:r>
          </a:p>
        </p:txBody>
      </p:sp>
      <p:sp>
        <p:nvSpPr>
          <p:cNvPr id="3" name="Content Placeholder 2">
            <a:extLst>
              <a:ext uri="{FF2B5EF4-FFF2-40B4-BE49-F238E27FC236}">
                <a16:creationId xmlns:a16="http://schemas.microsoft.com/office/drawing/2014/main" id="{BF482F2F-329B-1872-3857-FD0A847F5590}"/>
              </a:ext>
            </a:extLst>
          </p:cNvPr>
          <p:cNvSpPr>
            <a:spLocks noGrp="1"/>
          </p:cNvSpPr>
          <p:nvPr>
            <p:ph idx="1"/>
          </p:nvPr>
        </p:nvSpPr>
        <p:spPr>
          <a:xfrm>
            <a:off x="612648" y="2584058"/>
            <a:ext cx="4621553" cy="3950092"/>
          </a:xfrm>
        </p:spPr>
        <p:txBody>
          <a:bodyPr>
            <a:normAutofit/>
          </a:bodyPr>
          <a:lstStyle/>
          <a:p>
            <a:pPr marL="0" indent="0">
              <a:buNone/>
            </a:pPr>
            <a:r>
              <a:rPr lang="en-US" sz="2400" b="1" dirty="0"/>
              <a:t>An expert designed to help with tasks and answer questions</a:t>
            </a:r>
          </a:p>
          <a:p>
            <a:r>
              <a:rPr lang="en-US" sz="2400" dirty="0"/>
              <a:t>Simulation</a:t>
            </a:r>
          </a:p>
          <a:p>
            <a:r>
              <a:rPr lang="en-US" sz="2400" dirty="0"/>
              <a:t>Coding</a:t>
            </a:r>
          </a:p>
          <a:p>
            <a:r>
              <a:rPr lang="en-US" sz="2400" dirty="0"/>
              <a:t>Marketing</a:t>
            </a:r>
          </a:p>
          <a:p>
            <a:r>
              <a:rPr lang="en-US" sz="2400" dirty="0"/>
              <a:t>Legal</a:t>
            </a:r>
          </a:p>
          <a:p>
            <a:r>
              <a:rPr lang="en-US" sz="2400" dirty="0"/>
              <a:t>Learning</a:t>
            </a:r>
          </a:p>
          <a:p>
            <a:r>
              <a:rPr lang="en-US" sz="2400" dirty="0"/>
              <a:t>Or just a friend, but don’t get attached</a:t>
            </a:r>
          </a:p>
        </p:txBody>
      </p:sp>
      <p:pic>
        <p:nvPicPr>
          <p:cNvPr id="13" name="Graphic 12" descr="Head with Gears">
            <a:extLst>
              <a:ext uri="{FF2B5EF4-FFF2-40B4-BE49-F238E27FC236}">
                <a16:creationId xmlns:a16="http://schemas.microsoft.com/office/drawing/2014/main" id="{D519FE71-9531-AD56-12FE-15A13AFC23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382880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73051-31BA-3067-FBB1-947C434FFA7E}"/>
              </a:ext>
            </a:extLst>
          </p:cNvPr>
          <p:cNvSpPr>
            <a:spLocks noGrp="1"/>
          </p:cNvSpPr>
          <p:nvPr>
            <p:ph type="title"/>
          </p:nvPr>
        </p:nvSpPr>
        <p:spPr/>
        <p:txBody>
          <a:bodyPr/>
          <a:lstStyle/>
          <a:p>
            <a:r>
              <a:rPr lang="en-US" dirty="0"/>
              <a:t>Copilot Update – Business Solutions</a:t>
            </a:r>
          </a:p>
        </p:txBody>
      </p:sp>
      <p:sp>
        <p:nvSpPr>
          <p:cNvPr id="3" name="Content Placeholder 2">
            <a:extLst>
              <a:ext uri="{FF2B5EF4-FFF2-40B4-BE49-F238E27FC236}">
                <a16:creationId xmlns:a16="http://schemas.microsoft.com/office/drawing/2014/main" id="{043D1C04-2B0B-BADB-D2F2-3F68346E8380}"/>
              </a:ext>
            </a:extLst>
          </p:cNvPr>
          <p:cNvSpPr>
            <a:spLocks noGrp="1"/>
          </p:cNvSpPr>
          <p:nvPr>
            <p:ph idx="1"/>
          </p:nvPr>
        </p:nvSpPr>
        <p:spPr/>
        <p:txBody>
          <a:bodyPr>
            <a:normAutofit/>
          </a:bodyPr>
          <a:lstStyle/>
          <a:p>
            <a:pPr marL="0" indent="0">
              <a:buNone/>
            </a:pPr>
            <a:r>
              <a:rPr lang="en-US" sz="2800" b="1" u="sng" dirty="0">
                <a:latin typeface="Cambria" panose="02040503050406030204" pitchFamily="18" charset="0"/>
                <a:ea typeface="Cambria" panose="02040503050406030204" pitchFamily="18" charset="0"/>
              </a:rPr>
              <a:t>Cloud Data approval:</a:t>
            </a:r>
          </a:p>
          <a:p>
            <a:pPr marL="0" indent="0">
              <a:buNone/>
            </a:pPr>
            <a:r>
              <a:rPr lang="en-US" sz="2800" b="1" dirty="0">
                <a:latin typeface="Cambria" panose="02040503050406030204" pitchFamily="18" charset="0"/>
                <a:ea typeface="Cambria" panose="02040503050406030204" pitchFamily="18" charset="0"/>
              </a:rPr>
              <a:t>Pending cloud data approval(cloud strategy), any solution needing to be operationalized for data in the cloud, needs approval from Security/Compliance and EVP’s</a:t>
            </a:r>
          </a:p>
          <a:p>
            <a:pPr marL="0" indent="0">
              <a:buNone/>
            </a:pPr>
            <a:r>
              <a:rPr lang="en-US" sz="2800" b="1" dirty="0">
                <a:latin typeface="Cambria" panose="02040503050406030204" pitchFamily="18" charset="0"/>
                <a:ea typeface="Cambria" panose="02040503050406030204" pitchFamily="18" charset="0"/>
              </a:rPr>
              <a:t> (This includes AWS, SAAS, Copilot, any AI solutions).</a:t>
            </a:r>
          </a:p>
        </p:txBody>
      </p:sp>
    </p:spTree>
    <p:extLst>
      <p:ext uri="{BB962C8B-B14F-4D97-AF65-F5344CB8AC3E}">
        <p14:creationId xmlns:p14="http://schemas.microsoft.com/office/powerpoint/2010/main" val="5110331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C31E-F98F-816A-4133-9C592CF8233A}"/>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B034F16E-EB38-ADDC-C865-155C7A1F9F8A}"/>
              </a:ext>
            </a:extLst>
          </p:cNvPr>
          <p:cNvSpPr>
            <a:spLocks noGrp="1"/>
          </p:cNvSpPr>
          <p:nvPr>
            <p:ph idx="1"/>
          </p:nvPr>
        </p:nvSpPr>
        <p:spPr/>
        <p:txBody>
          <a:bodyPr/>
          <a:lstStyle/>
          <a:p>
            <a:r>
              <a:rPr lang="en-US" dirty="0"/>
              <a:t>Eric’s Prompt Library</a:t>
            </a:r>
          </a:p>
          <a:p>
            <a:r>
              <a:rPr lang="en-US" dirty="0"/>
              <a:t>Online courses</a:t>
            </a:r>
          </a:p>
          <a:p>
            <a:r>
              <a:rPr lang="en-US" dirty="0"/>
              <a:t>Google Book on Prompt Engineering</a:t>
            </a:r>
          </a:p>
        </p:txBody>
      </p:sp>
    </p:spTree>
    <p:extLst>
      <p:ext uri="{BB962C8B-B14F-4D97-AF65-F5344CB8AC3E}">
        <p14:creationId xmlns:p14="http://schemas.microsoft.com/office/powerpoint/2010/main" val="1748999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B496F4-4D1A-F34B-E96D-1E40503598CB}"/>
              </a:ext>
            </a:extLst>
          </p:cNvPr>
          <p:cNvSpPr>
            <a:spLocks noGrp="1"/>
          </p:cNvSpPr>
          <p:nvPr>
            <p:ph idx="1"/>
          </p:nvPr>
        </p:nvSpPr>
        <p:spPr>
          <a:xfrm>
            <a:off x="3559712" y="1447455"/>
            <a:ext cx="3614086" cy="3479447"/>
          </a:xfrm>
        </p:spPr>
        <p:txBody>
          <a:bodyPr vert="horz" lIns="91440" tIns="45720" rIns="91440" bIns="45720" rtlCol="0" anchor="t">
            <a:normAutofit/>
          </a:bodyPr>
          <a:lstStyle/>
          <a:p>
            <a:pPr marL="0" indent="0">
              <a:buNone/>
            </a:pPr>
            <a:r>
              <a:rPr lang="en-US" sz="6000" dirty="0"/>
              <a:t>Thank you</a:t>
            </a:r>
          </a:p>
        </p:txBody>
      </p:sp>
      <p:sp>
        <p:nvSpPr>
          <p:cNvPr id="5" name="Slide Number Placeholder 4">
            <a:extLst>
              <a:ext uri="{FF2B5EF4-FFF2-40B4-BE49-F238E27FC236}">
                <a16:creationId xmlns:a16="http://schemas.microsoft.com/office/drawing/2014/main" id="{DCFC4D73-FB26-F962-1CD9-E5783B06BC92}"/>
              </a:ext>
            </a:extLst>
          </p:cNvPr>
          <p:cNvSpPr>
            <a:spLocks noGrp="1"/>
          </p:cNvSpPr>
          <p:nvPr>
            <p:ph type="sldNum" sz="quarter" idx="13"/>
          </p:nvPr>
        </p:nvSpPr>
        <p:spPr/>
        <p:txBody>
          <a:bodyPr/>
          <a:lstStyle/>
          <a:p>
            <a:fld id="{330EA680-D336-4FF7-8B7A-9848BB0A1C32}" type="slidenum">
              <a:rPr lang="en-US" smtClean="0"/>
              <a:t>26</a:t>
            </a:fld>
            <a:endParaRPr lang="en-US" dirty="0"/>
          </a:p>
        </p:txBody>
      </p:sp>
    </p:spTree>
    <p:extLst>
      <p:ext uri="{BB962C8B-B14F-4D97-AF65-F5344CB8AC3E}">
        <p14:creationId xmlns:p14="http://schemas.microsoft.com/office/powerpoint/2010/main" val="11038255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ASTSLIDEVIEWED" val="2147480887,5,Key Engagement Highlights"/>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3 Theme Final">
  <a:themeElements>
    <a:clrScheme name="Theme Colors 2023">
      <a:dk1>
        <a:srgbClr val="000000"/>
      </a:dk1>
      <a:lt1>
        <a:srgbClr val="FFFFFF"/>
      </a:lt1>
      <a:dk2>
        <a:srgbClr val="575757"/>
      </a:dk2>
      <a:lt2>
        <a:srgbClr val="D3D3D3"/>
      </a:lt2>
      <a:accent1>
        <a:srgbClr val="8DC5E8"/>
      </a:accent1>
      <a:accent2>
        <a:srgbClr val="3576B1"/>
      </a:accent2>
      <a:accent3>
        <a:srgbClr val="12517C"/>
      </a:accent3>
      <a:accent4>
        <a:srgbClr val="042A4A"/>
      </a:accent4>
      <a:accent5>
        <a:srgbClr val="99C5C3"/>
      </a:accent5>
      <a:accent6>
        <a:srgbClr val="107E83"/>
      </a:accent6>
      <a:hlink>
        <a:srgbClr val="0C6E6D"/>
      </a:hlink>
      <a:folHlink>
        <a:srgbClr val="FF9933"/>
      </a:folHlink>
    </a:clrScheme>
    <a:fontScheme name="Slide Fonts">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836149C-D94E-4F32-AF07-3DF7E4A1923B}" vid="{59CFF72C-DF9B-401B-8A6F-2C367B12CE80}"/>
    </a:ext>
  </a:extLst>
</a:theme>
</file>

<file path=ppt/theme/theme2.xml><?xml version="1.0" encoding="utf-8"?>
<a:theme xmlns:a="http://schemas.openxmlformats.org/drawingml/2006/main" name="2_2023 Theme Final">
  <a:themeElements>
    <a:clrScheme name="Theme Colors 2023">
      <a:dk1>
        <a:srgbClr val="000000"/>
      </a:dk1>
      <a:lt1>
        <a:srgbClr val="FFFFFF"/>
      </a:lt1>
      <a:dk2>
        <a:srgbClr val="575757"/>
      </a:dk2>
      <a:lt2>
        <a:srgbClr val="D3D3D3"/>
      </a:lt2>
      <a:accent1>
        <a:srgbClr val="8DC5E8"/>
      </a:accent1>
      <a:accent2>
        <a:srgbClr val="3576B1"/>
      </a:accent2>
      <a:accent3>
        <a:srgbClr val="12517C"/>
      </a:accent3>
      <a:accent4>
        <a:srgbClr val="042A4A"/>
      </a:accent4>
      <a:accent5>
        <a:srgbClr val="99C5C3"/>
      </a:accent5>
      <a:accent6>
        <a:srgbClr val="107E83"/>
      </a:accent6>
      <a:hlink>
        <a:srgbClr val="0C6E6D"/>
      </a:hlink>
      <a:folHlink>
        <a:srgbClr val="FF9933"/>
      </a:folHlink>
    </a:clrScheme>
    <a:fontScheme name="Slide Fonts">
      <a:majorFont>
        <a:latin typeface="Calibri Light"/>
        <a:ea typeface=""/>
        <a:cs typeface=""/>
      </a:majorFont>
      <a:minorFont>
        <a:latin typeface="Calibri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836149C-D94E-4F32-AF07-3DF7E4A1923B}" vid="{59CFF72C-DF9B-401B-8A6F-2C367B12CE8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6965208-D4DC-467D-81CF-B91B7E68AF58}">
  <we:reference id="2cb3dfe7-199f-46bf-bb56-17a7fca0f469" version="12.1.0.1"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FAFB2ED7B04C4D9E15B4EBBFDB9673" ma:contentTypeVersion="2" ma:contentTypeDescription="Create a new document." ma:contentTypeScope="" ma:versionID="3067a74eae7e9c212d2fca3540ca2fed">
  <xsd:schema xmlns:xsd="http://www.w3.org/2001/XMLSchema" xmlns:xs="http://www.w3.org/2001/XMLSchema" xmlns:p="http://schemas.microsoft.com/office/2006/metadata/properties" xmlns:ns2="742c39be-8825-4af9-a029-56fb85a6c635" targetNamespace="http://schemas.microsoft.com/office/2006/metadata/properties" ma:root="true" ma:fieldsID="078fb6444c33ff7bc4def99f4cf79ee5" ns2:_="">
    <xsd:import namespace="742c39be-8825-4af9-a029-56fb85a6c635"/>
    <xsd:element name="properties">
      <xsd:complexType>
        <xsd:sequence>
          <xsd:element name="documentManagement">
            <xsd:complexType>
              <xsd:all>
                <xsd:element ref="ns2:_dlc_DocId" minOccurs="0"/>
                <xsd:element ref="ns2:_dlc_DocIdUrl" minOccurs="0"/>
                <xsd:element ref="ns2:_dlc_DocIdPersistId" minOccurs="0"/>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2c39be-8825-4af9-a029-56fb85a6c635"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742c39be-8825-4af9-a029-56fb85a6c635">2APR7F6UZKKN-1442393921-269</_dlc_DocId>
    <_dlc_DocIdUrl xmlns="742c39be-8825-4af9-a029-56fb85a6c635">
      <Url>http://informationtechnology/OpsReliabilityImprovements/_layouts/15/DocIdRedir.aspx?ID=2APR7F6UZKKN-1442393921-269</Url>
      <Description>2APR7F6UZKKN-1442393921-269</Description>
    </_dlc_DocIdUrl>
    <SharedWithUsers xmlns="742c39be-8825-4af9-a029-56fb85a6c635">
      <UserInfo>
        <DisplayName>Fernandes, Lavina</DisplayName>
        <AccountId>698</AccountId>
        <AccountType/>
      </UserInfo>
      <UserInfo>
        <DisplayName>Naiser, Clay</DisplayName>
        <AccountId>13247</AccountId>
        <AccountType/>
      </UserInfo>
      <UserInfo>
        <DisplayName>Bowman, Darryl</DisplayName>
        <AccountId>5082</AccountId>
        <AccountType/>
      </UserInfo>
      <UserInfo>
        <DisplayName>Boisen, Troy</DisplayName>
        <AccountId>2364</AccountId>
        <AccountType/>
      </UserInfo>
      <UserInfo>
        <DisplayName>Patin, Alexander</DisplayName>
        <AccountId>9605</AccountId>
        <AccountType/>
      </UserInfo>
      <UserInfo>
        <DisplayName>Dostal, Kevin</DisplayName>
        <AccountId>3431</AccountId>
        <AccountType/>
      </UserInfo>
    </SharedWithUsers>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C77FC3-5296-4F2F-B369-16CEE29ACD2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42c39be-8825-4af9-a029-56fb85a6c6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567FB7F-27A2-4C10-B692-732DF725060B}">
  <ds:schemaRefs>
    <ds:schemaRef ds:uri="http://schemas.microsoft.com/office/2006/metadata/properties"/>
    <ds:schemaRef ds:uri="http://schemas.openxmlformats.org/package/2006/metadata/core-properties"/>
    <ds:schemaRef ds:uri="http://schemas.microsoft.com/office/2006/documentManagement/types"/>
    <ds:schemaRef ds:uri="http://purl.org/dc/elements/1.1/"/>
    <ds:schemaRef ds:uri="http://www.w3.org/XML/1998/namespace"/>
    <ds:schemaRef ds:uri="742c39be-8825-4af9-a029-56fb85a6c635"/>
    <ds:schemaRef ds:uri="http://purl.org/dc/dcmitype/"/>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36031101-577C-49EE-B4AD-59AC5FA36225}">
  <ds:schemaRefs>
    <ds:schemaRef ds:uri="http://schemas.microsoft.com/sharepoint/events"/>
  </ds:schemaRefs>
</ds:datastoreItem>
</file>

<file path=customXml/itemProps4.xml><?xml version="1.0" encoding="utf-8"?>
<ds:datastoreItem xmlns:ds="http://schemas.openxmlformats.org/officeDocument/2006/customXml" ds:itemID="{12054177-35F8-49F6-A133-7A650152C0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3792</TotalTime>
  <Words>3514</Words>
  <Application>Microsoft Office PowerPoint</Application>
  <PresentationFormat>Widescreen</PresentationFormat>
  <Paragraphs>438</Paragraphs>
  <Slides>26</Slides>
  <Notes>18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6" baseType="lpstr">
      <vt:lpstr>Aptos</vt:lpstr>
      <vt:lpstr>Arial</vt:lpstr>
      <vt:lpstr>Calibri Light</vt:lpstr>
      <vt:lpstr>Cambria</vt:lpstr>
      <vt:lpstr>Garamond</vt:lpstr>
      <vt:lpstr>Symbol</vt:lpstr>
      <vt:lpstr>Wingdings</vt:lpstr>
      <vt:lpstr>2023 Theme Final</vt:lpstr>
      <vt:lpstr>2_2023 Theme Final</vt:lpstr>
      <vt:lpstr>think-cell Slide</vt:lpstr>
      <vt:lpstr>Mission: Reliable</vt:lpstr>
      <vt:lpstr>Safety Moment</vt:lpstr>
      <vt:lpstr>Mission: Reliable</vt:lpstr>
      <vt:lpstr>Introduction</vt:lpstr>
      <vt:lpstr>Your Presenter</vt:lpstr>
      <vt:lpstr>Copilot is NOT Optimistic</vt:lpstr>
      <vt:lpstr>Acceptable Use Policy (General)</vt:lpstr>
      <vt:lpstr>Mission: Reliable Guidelines</vt:lpstr>
      <vt:lpstr>Copilot Privacy and Terms of Use</vt:lpstr>
      <vt:lpstr>DPA – Example Prompts (When in doubt, DON’T)</vt:lpstr>
      <vt:lpstr>AI Essentials</vt:lpstr>
      <vt:lpstr>Introduction to AI</vt:lpstr>
      <vt:lpstr>Using AI Responsibly</vt:lpstr>
      <vt:lpstr>Prompt Engineering</vt:lpstr>
      <vt:lpstr>Confusion Around LLMs</vt:lpstr>
      <vt:lpstr>Copilot Interface Tour</vt:lpstr>
      <vt:lpstr>A Prompt to Work With</vt:lpstr>
      <vt:lpstr>Prompt Engineering Basics</vt:lpstr>
      <vt:lpstr>Evaluate and Iterate</vt:lpstr>
      <vt:lpstr>Introducing Enterprise Products Partners!</vt:lpstr>
      <vt:lpstr>Prompts for Common Work Tasks</vt:lpstr>
      <vt:lpstr>Advanced Gen AI Prompting Techniques</vt:lpstr>
      <vt:lpstr>Creating Copilot Agents</vt:lpstr>
      <vt:lpstr>Copilot Update – Business Solutions</vt:lpstr>
      <vt:lpstr>Resources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Inventory Meeting with MMB</dc:title>
  <dc:creator>Lingamaneni, Divya</dc:creator>
  <cp:lastModifiedBy>Burcham, Eric</cp:lastModifiedBy>
  <cp:revision>122</cp:revision>
  <cp:lastPrinted>2025-06-24T22:19:16Z</cp:lastPrinted>
  <dcterms:created xsi:type="dcterms:W3CDTF">2024-11-11T22:38:41Z</dcterms:created>
  <dcterms:modified xsi:type="dcterms:W3CDTF">2025-07-02T12:15:08Z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0x01010097FAFB2ED7B04C4D9E15B4EBBFDB9673</vt:lpwstr>
  </property>
  <property fmtid="{D5CDD505-2E9C-101B-9397-08002B2CF9AE}" pid="3" name="_dlc_DocIdItemGuid">
    <vt:lpwstr>05e3bd8a-7770-47d1-8762-83101c83fcc7</vt:lpwstr>
  </property>
</Properties>
</file>