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3"/>
  </p:notesMasterIdLst>
  <p:handoutMasterIdLst>
    <p:handoutMasterId r:id="rId34"/>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304" r:id="rId28"/>
    <p:sldId id="306" r:id="rId29"/>
    <p:sldId id="308" r:id="rId30"/>
    <p:sldId id="307" r:id="rId31"/>
    <p:sldId id="2147480815" r:id="rId32"/>
  </p:sldIdLst>
  <p:sldSz cx="12192000" cy="6858000"/>
  <p:notesSz cx="7010400" cy="9296400"/>
  <p:custDataLst>
    <p:tags r:id="rId3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247" autoAdjust="0"/>
  </p:normalViewPr>
  <p:slideViewPr>
    <p:cSldViewPr snapToGrid="0">
      <p:cViewPr varScale="1">
        <p:scale>
          <a:sx n="228" d="100"/>
          <a:sy n="228" d="100"/>
        </p:scale>
        <p:origin x="216" y="6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bleStyles" Target="tableStyles.xml"/><Relationship Id="rId21" Type="http://schemas.openxmlformats.org/officeDocument/2006/relationships/slide" Target="slides/slide15.xml"/><Relationship Id="rId34" Type="http://schemas.openxmlformats.org/officeDocument/2006/relationships/handoutMaster" Target="handoutMasters/handout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ags" Target="tags/tag1.xml"/><Relationship Id="rId8" Type="http://schemas.openxmlformats.org/officeDocument/2006/relationships/slide" Target="slides/slide2.xml"/><Relationship Id="rId3" Type="http://schemas.openxmlformats.org/officeDocument/2006/relationships/customXml" Target="../customXml/item3.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1" dirty="0"/>
          </a:p>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1"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1"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1"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1"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1"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1"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1"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we’ll cover some useful resources and work through more examples if we have time.</a:t>
            </a:r>
          </a:p>
          <a:p>
            <a:endParaRPr lang="en-US" dirty="0"/>
          </a:p>
          <a:p>
            <a:r>
              <a:rPr lang="en-US" b="1" dirty="0"/>
              <a:t>Eric’s Prompt Library</a:t>
            </a:r>
            <a:r>
              <a:rPr lang="en-US" b="0" dirty="0"/>
              <a:t> – I have built you an example prompt library that covers basic prompt examples.  People can copy-and-paste them to quickly get started.</a:t>
            </a:r>
          </a:p>
          <a:p>
            <a:endParaRPr lang="en-US" b="0" dirty="0"/>
          </a:p>
          <a:p>
            <a:r>
              <a:rPr lang="en-US" b="1" dirty="0"/>
              <a:t>References</a:t>
            </a:r>
            <a:r>
              <a:rPr lang="en-US" b="0" dirty="0"/>
              <a:t> – Google’s publication on prompt engineering, online courses, books, etc. will be shared with the group.</a:t>
            </a:r>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25</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a:t>Summer is Here!</a:t>
            </a:r>
            <a:endParaRPr lang="en-US" sz="2000" b="1" dirty="0"/>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2200">
              <a:solidFill>
                <a:schemeClr val="tx1"/>
              </a:solidFill>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fontScale="77500" lnSpcReduction="20000"/>
          </a:bodyPr>
          <a:lstStyle/>
          <a:p>
            <a:r>
              <a:rPr lang="en-US" dirty="0"/>
              <a:t>The Acceptable Use Policy applies to use of Copilot and other GenAI</a:t>
            </a:r>
          </a:p>
          <a:p>
            <a:r>
              <a:rPr lang="en-US" dirty="0"/>
              <a:t>Copilot for web has been authorized for company use</a:t>
            </a:r>
          </a:p>
          <a:p>
            <a:r>
              <a:rPr lang="en-US" dirty="0"/>
              <a:t>Copilot for Office is currently being evaluated and use of proofs-of-concept, including for specific Mission: Reliable use cases.</a:t>
            </a:r>
          </a:p>
          <a:p>
            <a:r>
              <a:rPr lang="en-US" dirty="0"/>
              <a:t>Confidential company information normally should not be uploaded to Copilot.  However, for Mission: Reliable, an exception has been granted to the Mission: Reliable team if the information is not highly sensitive (PII, commercial contracts, credentials, etc.).</a:t>
            </a:r>
          </a:p>
          <a:p>
            <a:r>
              <a:rPr lang="en-US" dirty="0"/>
              <a:t>If you have an additional use case for Copilot that extends outside of the exception that has been granted or have a need for Copilot for Office (e.g., to use it against a larger set of documents) contact Lavina Fernandes.</a:t>
            </a:r>
          </a:p>
          <a:p>
            <a:r>
              <a:rPr lang="en-US" dirty="0"/>
              <a:t>Use of other cloud-based AI tools that have not been specifically authorized by IT are not allowed.  You may request use through IT Compliance with a business case that cannot effectively be met with currently authorized cloud tools or other tools in our data center.</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a:t>Copilot Chat (Protected)</a:t>
            </a:r>
          </a:p>
          <a:p>
            <a:pPr marL="0" indent="0">
              <a:buNone/>
            </a:pPr>
            <a:br>
              <a:rPr lang="en-US" sz="2000" i="1"/>
            </a:br>
            <a:r>
              <a:rPr lang="en-US" sz="2000" i="1"/>
              <a:t>Summarize the presentation about how </a:t>
            </a:r>
            <a:r>
              <a:rPr lang="en-US" sz="2000" b="1" i="1"/>
              <a:t>our new Houston to Redmond pipeline has a bajillion barrel per day capacity</a:t>
            </a:r>
            <a:r>
              <a:rPr lang="en-US" sz="2000" i="1"/>
              <a:t>.</a:t>
            </a:r>
            <a:endParaRPr lang="en-US" sz="2000" b="1" i="1"/>
          </a:p>
          <a:p>
            <a:pPr marL="0" indent="0">
              <a:buNone/>
            </a:pPr>
            <a:endParaRPr lang="en-US" sz="2000"/>
          </a:p>
          <a:p>
            <a:pPr marL="0" indent="0">
              <a:buNone/>
            </a:pPr>
            <a:r>
              <a:rPr lang="en-US" sz="200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a:t>Copilot Search (NOT Protected)</a:t>
            </a:r>
          </a:p>
          <a:p>
            <a:pPr marL="0" indent="0">
              <a:buNone/>
            </a:pPr>
            <a:endParaRPr lang="en-US" sz="2000" i="1"/>
          </a:p>
          <a:p>
            <a:pPr marL="0" indent="0">
              <a:buNone/>
            </a:pPr>
            <a:r>
              <a:rPr lang="en-US" sz="2000" i="1"/>
              <a:t>Search online regulatory requirements for pipelines with capacities like </a:t>
            </a:r>
            <a:r>
              <a:rPr lang="en-US" sz="2000" b="1" i="1"/>
              <a:t>our new Houston to Redmond line, which will handle a bajillion barrels per day.</a:t>
            </a:r>
          </a:p>
          <a:p>
            <a:pPr marL="0" indent="0">
              <a:buNone/>
            </a:pPr>
            <a:endParaRPr lang="en-US" sz="2000"/>
          </a:p>
          <a:p>
            <a:pPr marL="0" indent="0">
              <a:buNone/>
            </a:pPr>
            <a:r>
              <a:rPr lang="en-US" sz="200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normally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lstStyle/>
          <a:p>
            <a:r>
              <a:rPr lang="en-US" dirty="0"/>
              <a:t>Eric’s Prompt Library</a:t>
            </a:r>
          </a:p>
          <a:p>
            <a:r>
              <a:rPr lang="en-US" dirty="0"/>
              <a:t>Online courses</a:t>
            </a:r>
          </a:p>
          <a:p>
            <a:r>
              <a:rPr lang="en-US" dirty="0"/>
              <a:t>Google Book on Prompt Engineering</a:t>
            </a:r>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26</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3782</TotalTime>
  <Words>3488</Words>
  <Application>Microsoft Office PowerPoint</Application>
  <PresentationFormat>Widescreen</PresentationFormat>
  <Paragraphs>426</Paragraphs>
  <Slides>26</Slides>
  <Notes>17</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26</vt:i4>
      </vt:variant>
    </vt:vector>
  </HeadingPairs>
  <TitlesOfParts>
    <vt:vector size="36"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115</cp:revision>
  <cp:lastPrinted>2025-06-24T22:19:16Z</cp:lastPrinted>
  <dcterms:created xsi:type="dcterms:W3CDTF">2024-11-11T22:38:41Z</dcterms:created>
  <dcterms:modified xsi:type="dcterms:W3CDTF">2025-07-02T12:04:37Z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